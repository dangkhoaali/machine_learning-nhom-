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8288000" cy="10287000"/>
  <p:notesSz cx="6858000" cy="9144000"/>
  <p:embeddedFontLst>
    <p:embeddedFont>
      <p:font typeface="Calibri (MS)" panose="020B0604020202020204" charset="0"/>
      <p:regular r:id="rId36"/>
    </p:embeddedFont>
    <p:embeddedFont>
      <p:font typeface="Calibri (MS) Bold" panose="020B0604020202020204" charset="0"/>
      <p:regular r:id="rId37"/>
    </p:embeddedFont>
    <p:embeddedFont>
      <p:font typeface="Public Sans" panose="020B0604020202020204" charset="0"/>
      <p:regular r:id="rId38"/>
    </p:embeddedFont>
    <p:embeddedFont>
      <p:font typeface="Public Sans Bold" panose="020B0604020202020204" charset="0"/>
      <p:regular r:id="rId39"/>
    </p:embeddedFont>
    <p:embeddedFont>
      <p:font typeface="Public Sans Italics" panose="020B0604020202020204" charset="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hyperlink" Target="http://titanic" TargetMode="Externa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oleObject" Target="../embeddings/oleObject3.bin"/><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oleObject" Target="../embeddings/oleObject5.bin"/><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oleObject" Target="../embeddings/oleObject7.bin"/><Relationship Id="rId5" Type="http://schemas.openxmlformats.org/officeDocument/2006/relationships/image" Target="../media/image37.png"/><Relationship Id="rId4" Type="http://schemas.openxmlformats.org/officeDocument/2006/relationships/oleObject" Target="../embeddings/oleObject6.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oleObject" Target="../embeddings/oleObject9.bin"/><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6.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a:grpSpLocks noChangeAspect="1"/>
          </p:cNvGrpSpPr>
          <p:nvPr/>
        </p:nvGrpSpPr>
        <p:grpSpPr>
          <a:xfrm>
            <a:off x="5254374" y="31153"/>
            <a:ext cx="13033626" cy="9198592"/>
            <a:chOff x="0" y="0"/>
            <a:chExt cx="17378168" cy="12264789"/>
          </a:xfrm>
        </p:grpSpPr>
        <p:sp>
          <p:nvSpPr>
            <p:cNvPr id="5" name="Freeform 5"/>
            <p:cNvSpPr/>
            <p:nvPr/>
          </p:nvSpPr>
          <p:spPr>
            <a:xfrm>
              <a:off x="0" y="0"/>
              <a:ext cx="17378172" cy="12264771"/>
            </a:xfrm>
            <a:custGeom>
              <a:avLst/>
              <a:gdLst/>
              <a:ahLst/>
              <a:cxnLst/>
              <a:rect l="l" t="t" r="r" b="b"/>
              <a:pathLst>
                <a:path w="17378172" h="12264771">
                  <a:moveTo>
                    <a:pt x="0" y="0"/>
                  </a:moveTo>
                  <a:lnTo>
                    <a:pt x="17378172" y="0"/>
                  </a:lnTo>
                  <a:lnTo>
                    <a:pt x="17378172" y="12264771"/>
                  </a:lnTo>
                  <a:lnTo>
                    <a:pt x="0" y="12264771"/>
                  </a:lnTo>
                  <a:lnTo>
                    <a:pt x="0" y="0"/>
                  </a:lnTo>
                  <a:close/>
                </a:path>
              </a:pathLst>
            </a:custGeom>
            <a:blipFill>
              <a:blip r:embed="rId3"/>
              <a:stretch>
                <a:fillRect l="-25467"/>
              </a:stretch>
            </a:blipFill>
          </p:spPr>
          <p:txBody>
            <a:bodyPr/>
            <a:lstStyle/>
            <a:p>
              <a:endParaRPr lang="en-US"/>
            </a:p>
          </p:txBody>
        </p:sp>
      </p:grpSp>
      <p:grpSp>
        <p:nvGrpSpPr>
          <p:cNvPr id="6" name="Group 6"/>
          <p:cNvGrpSpPr/>
          <p:nvPr/>
        </p:nvGrpSpPr>
        <p:grpSpPr>
          <a:xfrm>
            <a:off x="1028700" y="5732370"/>
            <a:ext cx="820776" cy="26200"/>
            <a:chOff x="0" y="0"/>
            <a:chExt cx="1060968" cy="33867"/>
          </a:xfrm>
        </p:grpSpPr>
        <p:sp>
          <p:nvSpPr>
            <p:cNvPr id="7" name="Freeform 7"/>
            <p:cNvSpPr/>
            <p:nvPr/>
          </p:nvSpPr>
          <p:spPr>
            <a:xfrm>
              <a:off x="16891" y="0"/>
              <a:ext cx="1027176" cy="33909"/>
            </a:xfrm>
            <a:custGeom>
              <a:avLst/>
              <a:gdLst/>
              <a:ahLst/>
              <a:cxnLst/>
              <a:rect l="l" t="t" r="r" b="b"/>
              <a:pathLst>
                <a:path w="1027176" h="33909">
                  <a:moveTo>
                    <a:pt x="0" y="0"/>
                  </a:moveTo>
                  <a:lnTo>
                    <a:pt x="1027176" y="0"/>
                  </a:lnTo>
                  <a:lnTo>
                    <a:pt x="1027176" y="33909"/>
                  </a:lnTo>
                  <a:lnTo>
                    <a:pt x="0" y="33909"/>
                  </a:lnTo>
                  <a:close/>
                </a:path>
              </a:pathLst>
            </a:custGeom>
            <a:solidFill>
              <a:srgbClr val="000000"/>
            </a:solidFill>
          </p:spPr>
          <p:txBody>
            <a:bodyPr/>
            <a:lstStyle/>
            <a:p>
              <a:endParaRPr lang="en-US"/>
            </a:p>
          </p:txBody>
        </p:sp>
      </p:grpSp>
      <p:sp>
        <p:nvSpPr>
          <p:cNvPr id="8" name="TextBox 8"/>
          <p:cNvSpPr txBox="1"/>
          <p:nvPr/>
        </p:nvSpPr>
        <p:spPr>
          <a:xfrm>
            <a:off x="1028700" y="2692775"/>
            <a:ext cx="9003411" cy="2638425"/>
          </a:xfrm>
          <a:prstGeom prst="rect">
            <a:avLst/>
          </a:prstGeom>
        </p:spPr>
        <p:txBody>
          <a:bodyPr lIns="0" tIns="0" rIns="0" bIns="0" rtlCol="0" anchor="t">
            <a:spAutoFit/>
          </a:bodyPr>
          <a:lstStyle/>
          <a:p>
            <a:pPr algn="l">
              <a:lnSpc>
                <a:spcPts val="6600"/>
              </a:lnSpc>
            </a:pPr>
            <a:r>
              <a:rPr lang="en-US" sz="5500" b="1" spc="-187">
                <a:solidFill>
                  <a:srgbClr val="1D6DC2"/>
                </a:solidFill>
                <a:latin typeface="Calibri (MS) Bold"/>
                <a:ea typeface="Calibri (MS) Bold"/>
                <a:cs typeface="Calibri (MS) Bold"/>
                <a:sym typeface="Calibri (MS) Bold"/>
              </a:rPr>
              <a:t>Dự đoán Khả năng Sống sót Sau Thảm họa Titanic bằng Các Thuật toán Học Máy</a:t>
            </a:r>
          </a:p>
        </p:txBody>
      </p:sp>
      <p:sp>
        <p:nvSpPr>
          <p:cNvPr id="9" name="TextBox 9"/>
          <p:cNvSpPr txBox="1"/>
          <p:nvPr/>
        </p:nvSpPr>
        <p:spPr>
          <a:xfrm>
            <a:off x="1028700" y="6187022"/>
            <a:ext cx="10043369" cy="1882748"/>
          </a:xfrm>
          <a:prstGeom prst="rect">
            <a:avLst/>
          </a:prstGeom>
        </p:spPr>
        <p:txBody>
          <a:bodyPr lIns="0" tIns="0" rIns="0" bIns="0" rtlCol="0" anchor="t">
            <a:spAutoFit/>
          </a:bodyPr>
          <a:lstStyle/>
          <a:p>
            <a:pPr algn="l">
              <a:lnSpc>
                <a:spcPts val="4760"/>
              </a:lnSpc>
            </a:pPr>
            <a:r>
              <a:rPr lang="en-US" sz="3400">
                <a:solidFill>
                  <a:srgbClr val="474B4F"/>
                </a:solidFill>
                <a:latin typeface="Calibri (MS)"/>
                <a:ea typeface="Calibri (MS)"/>
                <a:cs typeface="Calibri (MS)"/>
                <a:sym typeface="Calibri (MS)"/>
              </a:rPr>
              <a:t>Nguyễn Đăng Khoa, Lê Thị Trúc Ly, Lê Đoàn Kim Ngân, Lâm Tú Nhi</a:t>
            </a:r>
          </a:p>
          <a:p>
            <a:pPr algn="l">
              <a:lnSpc>
                <a:spcPts val="5040"/>
              </a:lnSpc>
            </a:pPr>
            <a:endParaRPr lang="en-US" sz="3400">
              <a:solidFill>
                <a:srgbClr val="474B4F"/>
              </a:solidFill>
              <a:latin typeface="Calibri (MS)"/>
              <a:ea typeface="Calibri (MS)"/>
              <a:cs typeface="Calibri (MS)"/>
              <a:sym typeface="Calibri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a:grpSpLocks noChangeAspect="1"/>
          </p:cNvGrpSpPr>
          <p:nvPr/>
        </p:nvGrpSpPr>
        <p:grpSpPr>
          <a:xfrm>
            <a:off x="0" y="-9003"/>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US"/>
            </a:p>
          </p:txBody>
        </p:sp>
      </p:grpSp>
      <p:sp>
        <p:nvSpPr>
          <p:cNvPr id="6" name="TextBox 6"/>
          <p:cNvSpPr txBox="1"/>
          <p:nvPr/>
        </p:nvSpPr>
        <p:spPr>
          <a:xfrm>
            <a:off x="2052081" y="4274850"/>
            <a:ext cx="6901692" cy="962079"/>
          </a:xfrm>
          <a:prstGeom prst="rect">
            <a:avLst/>
          </a:prstGeom>
        </p:spPr>
        <p:txBody>
          <a:bodyPr lIns="0" tIns="0" rIns="0" bIns="0" rtlCol="0" anchor="t">
            <a:spAutoFit/>
          </a:bodyPr>
          <a:lstStyle/>
          <a:p>
            <a:pPr algn="l">
              <a:lnSpc>
                <a:spcPts val="6719"/>
              </a:lnSpc>
            </a:pPr>
            <a:r>
              <a:rPr lang="en-US" sz="5599" b="1">
                <a:solidFill>
                  <a:srgbClr val="1D6DC2"/>
                </a:solidFill>
                <a:latin typeface="Calibri (MS) Bold"/>
                <a:ea typeface="Calibri (MS) Bold"/>
                <a:cs typeface="Calibri (MS) Bold"/>
                <a:sym typeface="Calibri (MS) Bold"/>
              </a:rPr>
              <a:t>Nội dung trình bày</a:t>
            </a:r>
          </a:p>
        </p:txBody>
      </p:sp>
      <p:sp>
        <p:nvSpPr>
          <p:cNvPr id="7" name="TextBox 7"/>
          <p:cNvSpPr txBox="1"/>
          <p:nvPr/>
        </p:nvSpPr>
        <p:spPr>
          <a:xfrm>
            <a:off x="10776970" y="1659244"/>
            <a:ext cx="2587275" cy="628677"/>
          </a:xfrm>
          <a:prstGeom prst="rect">
            <a:avLst/>
          </a:prstGeom>
        </p:spPr>
        <p:txBody>
          <a:bodyPr lIns="0" tIns="0" rIns="0" bIns="0" rtlCol="0" anchor="t">
            <a:spAutoFit/>
          </a:bodyPr>
          <a:lstStyle/>
          <a:p>
            <a:pPr algn="l">
              <a:lnSpc>
                <a:spcPts val="4319"/>
              </a:lnSpc>
            </a:pPr>
            <a:r>
              <a:rPr lang="en-US" sz="3599" b="1">
                <a:solidFill>
                  <a:srgbClr val="000000"/>
                </a:solidFill>
                <a:latin typeface="Calibri (MS) Bold"/>
                <a:ea typeface="Calibri (MS) Bold"/>
                <a:cs typeface="Calibri (MS) Bold"/>
                <a:sym typeface="Calibri (MS) Bold"/>
              </a:rPr>
              <a:t>Giới thiệu</a:t>
            </a:r>
          </a:p>
        </p:txBody>
      </p:sp>
      <p:grpSp>
        <p:nvGrpSpPr>
          <p:cNvPr id="8" name="Group 8"/>
          <p:cNvGrpSpPr/>
          <p:nvPr/>
        </p:nvGrpSpPr>
        <p:grpSpPr>
          <a:xfrm>
            <a:off x="9229998" y="1423512"/>
            <a:ext cx="1123200" cy="1185892"/>
            <a:chOff x="0" y="0"/>
            <a:chExt cx="1497600" cy="1581190"/>
          </a:xfrm>
        </p:grpSpPr>
        <p:sp>
          <p:nvSpPr>
            <p:cNvPr id="9" name="Freeform 9"/>
            <p:cNvSpPr/>
            <p:nvPr/>
          </p:nvSpPr>
          <p:spPr>
            <a:xfrm>
              <a:off x="0" y="0"/>
              <a:ext cx="1497584" cy="1581221"/>
            </a:xfrm>
            <a:custGeom>
              <a:avLst/>
              <a:gdLst/>
              <a:ahLst/>
              <a:cxnLst/>
              <a:rect l="l" t="t" r="r" b="b"/>
              <a:pathLst>
                <a:path w="1497584" h="1581221">
                  <a:moveTo>
                    <a:pt x="0" y="790611"/>
                  </a:moveTo>
                  <a:cubicBezTo>
                    <a:pt x="0" y="354015"/>
                    <a:pt x="335280" y="0"/>
                    <a:pt x="748792" y="0"/>
                  </a:cubicBezTo>
                  <a:cubicBezTo>
                    <a:pt x="1162304" y="0"/>
                    <a:pt x="1497584" y="354015"/>
                    <a:pt x="1497584" y="790611"/>
                  </a:cubicBezTo>
                  <a:cubicBezTo>
                    <a:pt x="1497584" y="1227208"/>
                    <a:pt x="1162304" y="1581221"/>
                    <a:pt x="748792" y="1581221"/>
                  </a:cubicBezTo>
                  <a:cubicBezTo>
                    <a:pt x="335280" y="1581221"/>
                    <a:pt x="0" y="1227208"/>
                    <a:pt x="0" y="790611"/>
                  </a:cubicBezTo>
                  <a:close/>
                </a:path>
              </a:pathLst>
            </a:custGeom>
            <a:solidFill>
              <a:srgbClr val="1D6DC2"/>
            </a:solidFill>
          </p:spPr>
          <p:txBody>
            <a:bodyPr/>
            <a:lstStyle/>
            <a:p>
              <a:endParaRPr lang="en-US"/>
            </a:p>
          </p:txBody>
        </p:sp>
        <p:sp>
          <p:nvSpPr>
            <p:cNvPr id="10" name="TextBox 10"/>
            <p:cNvSpPr txBox="1"/>
            <p:nvPr/>
          </p:nvSpPr>
          <p:spPr>
            <a:xfrm>
              <a:off x="0" y="76200"/>
              <a:ext cx="1497600" cy="1504990"/>
            </a:xfrm>
            <a:prstGeom prst="rect">
              <a:avLst/>
            </a:prstGeom>
          </p:spPr>
          <p:txBody>
            <a:bodyPr lIns="254000" tIns="254000" rIns="254000" bIns="254000" rtlCol="0" anchor="t"/>
            <a:lstStyle/>
            <a:p>
              <a:pPr algn="ctr">
                <a:lnSpc>
                  <a:spcPts val="3240"/>
                </a:lnSpc>
              </a:pPr>
              <a:r>
                <a:rPr lang="en-US" sz="4000" b="1">
                  <a:solidFill>
                    <a:srgbClr val="FFFFFF"/>
                  </a:solidFill>
                  <a:latin typeface="Calibri (MS) Bold"/>
                  <a:ea typeface="Calibri (MS) Bold"/>
                  <a:cs typeface="Calibri (MS) Bold"/>
                  <a:sym typeface="Calibri (MS) Bold"/>
                </a:rPr>
                <a:t>01</a:t>
              </a:r>
            </a:p>
          </p:txBody>
        </p:sp>
      </p:grpSp>
      <p:grpSp>
        <p:nvGrpSpPr>
          <p:cNvPr id="11" name="Group 11"/>
          <p:cNvGrpSpPr/>
          <p:nvPr/>
        </p:nvGrpSpPr>
        <p:grpSpPr>
          <a:xfrm>
            <a:off x="9240790" y="3118290"/>
            <a:ext cx="1123200" cy="1185865"/>
            <a:chOff x="0" y="0"/>
            <a:chExt cx="1497600" cy="1581154"/>
          </a:xfrm>
        </p:grpSpPr>
        <p:sp>
          <p:nvSpPr>
            <p:cNvPr id="12" name="Freeform 12"/>
            <p:cNvSpPr/>
            <p:nvPr/>
          </p:nvSpPr>
          <p:spPr>
            <a:xfrm>
              <a:off x="0" y="0"/>
              <a:ext cx="1497584" cy="1581185"/>
            </a:xfrm>
            <a:custGeom>
              <a:avLst/>
              <a:gdLst/>
              <a:ahLst/>
              <a:cxnLst/>
              <a:rect l="l" t="t" r="r" b="b"/>
              <a:pathLst>
                <a:path w="1497584" h="1581185">
                  <a:moveTo>
                    <a:pt x="0" y="790593"/>
                  </a:moveTo>
                  <a:cubicBezTo>
                    <a:pt x="0" y="354007"/>
                    <a:pt x="335280" y="0"/>
                    <a:pt x="748792" y="0"/>
                  </a:cubicBezTo>
                  <a:cubicBezTo>
                    <a:pt x="1162304" y="0"/>
                    <a:pt x="1497584" y="354007"/>
                    <a:pt x="1497584" y="790593"/>
                  </a:cubicBezTo>
                  <a:cubicBezTo>
                    <a:pt x="1497584" y="1227180"/>
                    <a:pt x="1162304" y="1581185"/>
                    <a:pt x="748792" y="1581185"/>
                  </a:cubicBezTo>
                  <a:cubicBezTo>
                    <a:pt x="335280" y="1581185"/>
                    <a:pt x="0" y="1227180"/>
                    <a:pt x="0" y="790593"/>
                  </a:cubicBezTo>
                  <a:close/>
                </a:path>
              </a:pathLst>
            </a:custGeom>
            <a:solidFill>
              <a:srgbClr val="1D6DC2"/>
            </a:solidFill>
          </p:spPr>
          <p:txBody>
            <a:bodyPr/>
            <a:lstStyle/>
            <a:p>
              <a:endParaRPr lang="en-US"/>
            </a:p>
          </p:txBody>
        </p:sp>
        <p:sp>
          <p:nvSpPr>
            <p:cNvPr id="13" name="TextBox 13"/>
            <p:cNvSpPr txBox="1"/>
            <p:nvPr/>
          </p:nvSpPr>
          <p:spPr>
            <a:xfrm>
              <a:off x="0" y="76200"/>
              <a:ext cx="1497600" cy="1504954"/>
            </a:xfrm>
            <a:prstGeom prst="rect">
              <a:avLst/>
            </a:prstGeom>
          </p:spPr>
          <p:txBody>
            <a:bodyPr lIns="254000" tIns="254000" rIns="254000" bIns="254000" rtlCol="0" anchor="t"/>
            <a:lstStyle/>
            <a:p>
              <a:pPr algn="ctr">
                <a:lnSpc>
                  <a:spcPts val="3240"/>
                </a:lnSpc>
              </a:pPr>
              <a:r>
                <a:rPr lang="en-US" sz="4000" b="1">
                  <a:solidFill>
                    <a:srgbClr val="FFFFFF"/>
                  </a:solidFill>
                  <a:latin typeface="Calibri (MS) Bold"/>
                  <a:ea typeface="Calibri (MS) Bold"/>
                  <a:cs typeface="Calibri (MS) Bold"/>
                  <a:sym typeface="Calibri (MS) Bold"/>
                </a:rPr>
                <a:t>02</a:t>
              </a:r>
            </a:p>
          </p:txBody>
        </p:sp>
      </p:grpSp>
      <p:sp>
        <p:nvSpPr>
          <p:cNvPr id="14" name="TextBox 14"/>
          <p:cNvSpPr txBox="1"/>
          <p:nvPr/>
        </p:nvSpPr>
        <p:spPr>
          <a:xfrm>
            <a:off x="10776970" y="3354008"/>
            <a:ext cx="4883155" cy="628677"/>
          </a:xfrm>
          <a:prstGeom prst="rect">
            <a:avLst/>
          </a:prstGeom>
        </p:spPr>
        <p:txBody>
          <a:bodyPr lIns="0" tIns="0" rIns="0" bIns="0" rtlCol="0" anchor="t">
            <a:spAutoFit/>
          </a:bodyPr>
          <a:lstStyle/>
          <a:p>
            <a:pPr algn="l">
              <a:lnSpc>
                <a:spcPts val="4319"/>
              </a:lnSpc>
            </a:pPr>
            <a:r>
              <a:rPr lang="en-US" sz="3599" b="1">
                <a:solidFill>
                  <a:srgbClr val="000000"/>
                </a:solidFill>
                <a:latin typeface="Calibri (MS) Bold"/>
                <a:ea typeface="Calibri (MS) Bold"/>
                <a:cs typeface="Calibri (MS) Bold"/>
                <a:sym typeface="Calibri (MS) Bold"/>
              </a:rPr>
              <a:t>Các công việc liên quan</a:t>
            </a:r>
          </a:p>
        </p:txBody>
      </p:sp>
      <p:grpSp>
        <p:nvGrpSpPr>
          <p:cNvPr id="15" name="Group 15"/>
          <p:cNvGrpSpPr/>
          <p:nvPr/>
        </p:nvGrpSpPr>
        <p:grpSpPr>
          <a:xfrm>
            <a:off x="9240790" y="4813040"/>
            <a:ext cx="1123200" cy="1185865"/>
            <a:chOff x="0" y="0"/>
            <a:chExt cx="1497600" cy="1581154"/>
          </a:xfrm>
        </p:grpSpPr>
        <p:sp>
          <p:nvSpPr>
            <p:cNvPr id="16" name="Freeform 16"/>
            <p:cNvSpPr/>
            <p:nvPr/>
          </p:nvSpPr>
          <p:spPr>
            <a:xfrm>
              <a:off x="0" y="0"/>
              <a:ext cx="1497584" cy="1581185"/>
            </a:xfrm>
            <a:custGeom>
              <a:avLst/>
              <a:gdLst/>
              <a:ahLst/>
              <a:cxnLst/>
              <a:rect l="l" t="t" r="r" b="b"/>
              <a:pathLst>
                <a:path w="1497584" h="1581185">
                  <a:moveTo>
                    <a:pt x="0" y="790593"/>
                  </a:moveTo>
                  <a:cubicBezTo>
                    <a:pt x="0" y="354007"/>
                    <a:pt x="335280" y="0"/>
                    <a:pt x="748792" y="0"/>
                  </a:cubicBezTo>
                  <a:cubicBezTo>
                    <a:pt x="1162304" y="0"/>
                    <a:pt x="1497584" y="354007"/>
                    <a:pt x="1497584" y="790593"/>
                  </a:cubicBezTo>
                  <a:cubicBezTo>
                    <a:pt x="1497584" y="1227180"/>
                    <a:pt x="1162304" y="1581185"/>
                    <a:pt x="748792" y="1581185"/>
                  </a:cubicBezTo>
                  <a:cubicBezTo>
                    <a:pt x="335280" y="1581185"/>
                    <a:pt x="0" y="1227180"/>
                    <a:pt x="0" y="790593"/>
                  </a:cubicBezTo>
                  <a:close/>
                </a:path>
              </a:pathLst>
            </a:custGeom>
            <a:solidFill>
              <a:srgbClr val="1D6DC2"/>
            </a:solidFill>
          </p:spPr>
          <p:txBody>
            <a:bodyPr/>
            <a:lstStyle/>
            <a:p>
              <a:endParaRPr lang="en-US"/>
            </a:p>
          </p:txBody>
        </p:sp>
        <p:sp>
          <p:nvSpPr>
            <p:cNvPr id="17" name="TextBox 17"/>
            <p:cNvSpPr txBox="1"/>
            <p:nvPr/>
          </p:nvSpPr>
          <p:spPr>
            <a:xfrm>
              <a:off x="0" y="76200"/>
              <a:ext cx="1497600" cy="1504954"/>
            </a:xfrm>
            <a:prstGeom prst="rect">
              <a:avLst/>
            </a:prstGeom>
          </p:spPr>
          <p:txBody>
            <a:bodyPr lIns="254000" tIns="254000" rIns="254000" bIns="254000" rtlCol="0" anchor="t"/>
            <a:lstStyle/>
            <a:p>
              <a:pPr algn="ctr">
                <a:lnSpc>
                  <a:spcPts val="3240"/>
                </a:lnSpc>
              </a:pPr>
              <a:r>
                <a:rPr lang="en-US" sz="4000" b="1">
                  <a:solidFill>
                    <a:srgbClr val="FFFFFF"/>
                  </a:solidFill>
                  <a:latin typeface="Calibri (MS) Bold"/>
                  <a:ea typeface="Calibri (MS) Bold"/>
                  <a:cs typeface="Calibri (MS) Bold"/>
                  <a:sym typeface="Calibri (MS) Bold"/>
                </a:rPr>
                <a:t>03</a:t>
              </a:r>
            </a:p>
          </p:txBody>
        </p:sp>
      </p:grpSp>
      <p:sp>
        <p:nvSpPr>
          <p:cNvPr id="18" name="TextBox 18"/>
          <p:cNvSpPr txBox="1"/>
          <p:nvPr/>
        </p:nvSpPr>
        <p:spPr>
          <a:xfrm>
            <a:off x="10776970" y="5048772"/>
            <a:ext cx="5701919" cy="628677"/>
          </a:xfrm>
          <a:prstGeom prst="rect">
            <a:avLst/>
          </a:prstGeom>
        </p:spPr>
        <p:txBody>
          <a:bodyPr lIns="0" tIns="0" rIns="0" bIns="0" rtlCol="0" anchor="t">
            <a:spAutoFit/>
          </a:bodyPr>
          <a:lstStyle/>
          <a:p>
            <a:pPr algn="l">
              <a:lnSpc>
                <a:spcPts val="4319"/>
              </a:lnSpc>
            </a:pPr>
            <a:r>
              <a:rPr lang="en-US" sz="3599" b="1">
                <a:solidFill>
                  <a:srgbClr val="000000"/>
                </a:solidFill>
                <a:latin typeface="Calibri (MS) Bold"/>
                <a:ea typeface="Calibri (MS) Bold"/>
                <a:cs typeface="Calibri (MS) Bold"/>
                <a:sym typeface="Calibri (MS) Bold"/>
              </a:rPr>
              <a:t>Phương pháp đề xuất</a:t>
            </a:r>
          </a:p>
        </p:txBody>
      </p:sp>
      <p:grpSp>
        <p:nvGrpSpPr>
          <p:cNvPr id="19" name="Group 19"/>
          <p:cNvGrpSpPr/>
          <p:nvPr/>
        </p:nvGrpSpPr>
        <p:grpSpPr>
          <a:xfrm>
            <a:off x="9229998" y="6379043"/>
            <a:ext cx="1123200" cy="1185865"/>
            <a:chOff x="0" y="0"/>
            <a:chExt cx="1497600" cy="1581154"/>
          </a:xfrm>
        </p:grpSpPr>
        <p:sp>
          <p:nvSpPr>
            <p:cNvPr id="20" name="Freeform 20"/>
            <p:cNvSpPr/>
            <p:nvPr/>
          </p:nvSpPr>
          <p:spPr>
            <a:xfrm>
              <a:off x="0" y="0"/>
              <a:ext cx="1497584" cy="1581185"/>
            </a:xfrm>
            <a:custGeom>
              <a:avLst/>
              <a:gdLst/>
              <a:ahLst/>
              <a:cxnLst/>
              <a:rect l="l" t="t" r="r" b="b"/>
              <a:pathLst>
                <a:path w="1497584" h="1581185">
                  <a:moveTo>
                    <a:pt x="0" y="790593"/>
                  </a:moveTo>
                  <a:cubicBezTo>
                    <a:pt x="0" y="354007"/>
                    <a:pt x="335280" y="0"/>
                    <a:pt x="748792" y="0"/>
                  </a:cubicBezTo>
                  <a:cubicBezTo>
                    <a:pt x="1162304" y="0"/>
                    <a:pt x="1497584" y="354007"/>
                    <a:pt x="1497584" y="790593"/>
                  </a:cubicBezTo>
                  <a:cubicBezTo>
                    <a:pt x="1497584" y="1227180"/>
                    <a:pt x="1162304" y="1581185"/>
                    <a:pt x="748792" y="1581185"/>
                  </a:cubicBezTo>
                  <a:cubicBezTo>
                    <a:pt x="335280" y="1581185"/>
                    <a:pt x="0" y="1227180"/>
                    <a:pt x="0" y="790593"/>
                  </a:cubicBezTo>
                  <a:close/>
                </a:path>
              </a:pathLst>
            </a:custGeom>
            <a:solidFill>
              <a:srgbClr val="1D6DC2"/>
            </a:solidFill>
          </p:spPr>
          <p:txBody>
            <a:bodyPr/>
            <a:lstStyle/>
            <a:p>
              <a:endParaRPr lang="en-US"/>
            </a:p>
          </p:txBody>
        </p:sp>
        <p:sp>
          <p:nvSpPr>
            <p:cNvPr id="21" name="TextBox 21"/>
            <p:cNvSpPr txBox="1"/>
            <p:nvPr/>
          </p:nvSpPr>
          <p:spPr>
            <a:xfrm>
              <a:off x="0" y="76200"/>
              <a:ext cx="1497600" cy="1504954"/>
            </a:xfrm>
            <a:prstGeom prst="rect">
              <a:avLst/>
            </a:prstGeom>
          </p:spPr>
          <p:txBody>
            <a:bodyPr lIns="254000" tIns="254000" rIns="254000" bIns="254000" rtlCol="0" anchor="t"/>
            <a:lstStyle/>
            <a:p>
              <a:pPr algn="ctr">
                <a:lnSpc>
                  <a:spcPts val="3240"/>
                </a:lnSpc>
              </a:pPr>
              <a:r>
                <a:rPr lang="en-US" sz="4000" b="1">
                  <a:solidFill>
                    <a:srgbClr val="FFFFFF"/>
                  </a:solidFill>
                  <a:latin typeface="Calibri (MS) Bold"/>
                  <a:ea typeface="Calibri (MS) Bold"/>
                  <a:cs typeface="Calibri (MS) Bold"/>
                  <a:sym typeface="Calibri (MS) Bold"/>
                </a:rPr>
                <a:t>04</a:t>
              </a:r>
            </a:p>
          </p:txBody>
        </p:sp>
      </p:grpSp>
      <p:grpSp>
        <p:nvGrpSpPr>
          <p:cNvPr id="22" name="Group 22"/>
          <p:cNvGrpSpPr/>
          <p:nvPr/>
        </p:nvGrpSpPr>
        <p:grpSpPr>
          <a:xfrm>
            <a:off x="9229998" y="7945046"/>
            <a:ext cx="1123200" cy="1185865"/>
            <a:chOff x="0" y="0"/>
            <a:chExt cx="1497600" cy="1581154"/>
          </a:xfrm>
        </p:grpSpPr>
        <p:sp>
          <p:nvSpPr>
            <p:cNvPr id="23" name="Freeform 23"/>
            <p:cNvSpPr/>
            <p:nvPr/>
          </p:nvSpPr>
          <p:spPr>
            <a:xfrm>
              <a:off x="0" y="0"/>
              <a:ext cx="1497584" cy="1581185"/>
            </a:xfrm>
            <a:custGeom>
              <a:avLst/>
              <a:gdLst/>
              <a:ahLst/>
              <a:cxnLst/>
              <a:rect l="l" t="t" r="r" b="b"/>
              <a:pathLst>
                <a:path w="1497584" h="1581185">
                  <a:moveTo>
                    <a:pt x="0" y="790593"/>
                  </a:moveTo>
                  <a:cubicBezTo>
                    <a:pt x="0" y="354007"/>
                    <a:pt x="335280" y="0"/>
                    <a:pt x="748792" y="0"/>
                  </a:cubicBezTo>
                  <a:cubicBezTo>
                    <a:pt x="1162304" y="0"/>
                    <a:pt x="1497584" y="354007"/>
                    <a:pt x="1497584" y="790593"/>
                  </a:cubicBezTo>
                  <a:cubicBezTo>
                    <a:pt x="1497584" y="1227180"/>
                    <a:pt x="1162304" y="1581185"/>
                    <a:pt x="748792" y="1581185"/>
                  </a:cubicBezTo>
                  <a:cubicBezTo>
                    <a:pt x="335280" y="1581185"/>
                    <a:pt x="0" y="1227180"/>
                    <a:pt x="0" y="790593"/>
                  </a:cubicBezTo>
                  <a:close/>
                </a:path>
              </a:pathLst>
            </a:custGeom>
            <a:solidFill>
              <a:srgbClr val="1D6DC2"/>
            </a:solidFill>
          </p:spPr>
          <p:txBody>
            <a:bodyPr/>
            <a:lstStyle/>
            <a:p>
              <a:endParaRPr lang="en-US"/>
            </a:p>
          </p:txBody>
        </p:sp>
        <p:sp>
          <p:nvSpPr>
            <p:cNvPr id="24" name="TextBox 24"/>
            <p:cNvSpPr txBox="1"/>
            <p:nvPr/>
          </p:nvSpPr>
          <p:spPr>
            <a:xfrm>
              <a:off x="0" y="76200"/>
              <a:ext cx="1497600" cy="1504954"/>
            </a:xfrm>
            <a:prstGeom prst="rect">
              <a:avLst/>
            </a:prstGeom>
          </p:spPr>
          <p:txBody>
            <a:bodyPr lIns="254000" tIns="254000" rIns="254000" bIns="254000" rtlCol="0" anchor="t"/>
            <a:lstStyle/>
            <a:p>
              <a:pPr algn="ctr">
                <a:lnSpc>
                  <a:spcPts val="3240"/>
                </a:lnSpc>
              </a:pPr>
              <a:r>
                <a:rPr lang="en-US" sz="4000" b="1">
                  <a:solidFill>
                    <a:srgbClr val="FFFFFF"/>
                  </a:solidFill>
                  <a:latin typeface="Calibri (MS) Bold"/>
                  <a:ea typeface="Calibri (MS) Bold"/>
                  <a:cs typeface="Calibri (MS) Bold"/>
                  <a:sym typeface="Calibri (MS) Bold"/>
                </a:rPr>
                <a:t>05</a:t>
              </a:r>
            </a:p>
          </p:txBody>
        </p:sp>
      </p:grpSp>
      <p:sp>
        <p:nvSpPr>
          <p:cNvPr id="25" name="TextBox 25"/>
          <p:cNvSpPr txBox="1"/>
          <p:nvPr/>
        </p:nvSpPr>
        <p:spPr>
          <a:xfrm>
            <a:off x="10776970" y="6614775"/>
            <a:ext cx="5575955" cy="628677"/>
          </a:xfrm>
          <a:prstGeom prst="rect">
            <a:avLst/>
          </a:prstGeom>
        </p:spPr>
        <p:txBody>
          <a:bodyPr lIns="0" tIns="0" rIns="0" bIns="0" rtlCol="0" anchor="t">
            <a:spAutoFit/>
          </a:bodyPr>
          <a:lstStyle/>
          <a:p>
            <a:pPr algn="l">
              <a:lnSpc>
                <a:spcPts val="4319"/>
              </a:lnSpc>
            </a:pPr>
            <a:r>
              <a:rPr lang="en-US" sz="3599" b="1">
                <a:solidFill>
                  <a:srgbClr val="000000"/>
                </a:solidFill>
                <a:latin typeface="Calibri (MS) Bold"/>
                <a:ea typeface="Calibri (MS) Bold"/>
                <a:cs typeface="Calibri (MS) Bold"/>
                <a:sym typeface="Calibri (MS) Bold"/>
              </a:rPr>
              <a:t>Thực nghiệm và Thảo luận</a:t>
            </a:r>
          </a:p>
        </p:txBody>
      </p:sp>
      <p:sp>
        <p:nvSpPr>
          <p:cNvPr id="26" name="TextBox 26"/>
          <p:cNvSpPr txBox="1"/>
          <p:nvPr/>
        </p:nvSpPr>
        <p:spPr>
          <a:xfrm>
            <a:off x="10776970" y="8224527"/>
            <a:ext cx="4694209" cy="628677"/>
          </a:xfrm>
          <a:prstGeom prst="rect">
            <a:avLst/>
          </a:prstGeom>
        </p:spPr>
        <p:txBody>
          <a:bodyPr lIns="0" tIns="0" rIns="0" bIns="0" rtlCol="0" anchor="t">
            <a:spAutoFit/>
          </a:bodyPr>
          <a:lstStyle/>
          <a:p>
            <a:pPr algn="l">
              <a:lnSpc>
                <a:spcPts val="4319"/>
              </a:lnSpc>
            </a:pPr>
            <a:r>
              <a:rPr lang="en-US" sz="3599" b="1">
                <a:solidFill>
                  <a:srgbClr val="000000"/>
                </a:solidFill>
                <a:latin typeface="Calibri (MS) Bold"/>
                <a:ea typeface="Calibri (MS) Bold"/>
                <a:cs typeface="Calibri (MS) Bold"/>
                <a:sym typeface="Calibri (MS) Bold"/>
              </a:rPr>
              <a:t>Kết luận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19849" y="-119849"/>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p:nvPr/>
        </p:nvGrpSpPr>
        <p:grpSpPr>
          <a:xfrm>
            <a:off x="1028700" y="3591870"/>
            <a:ext cx="1993528" cy="1108596"/>
            <a:chOff x="0" y="0"/>
            <a:chExt cx="525044" cy="291976"/>
          </a:xfrm>
        </p:grpSpPr>
        <p:sp>
          <p:nvSpPr>
            <p:cNvPr id="5" name="Freeform 5"/>
            <p:cNvSpPr/>
            <p:nvPr/>
          </p:nvSpPr>
          <p:spPr>
            <a:xfrm>
              <a:off x="0" y="0"/>
              <a:ext cx="525044" cy="291976"/>
            </a:xfrm>
            <a:custGeom>
              <a:avLst/>
              <a:gdLst/>
              <a:ahLst/>
              <a:cxnLst/>
              <a:rect l="l" t="t" r="r" b="b"/>
              <a:pathLst>
                <a:path w="525044" h="291976">
                  <a:moveTo>
                    <a:pt x="145988" y="0"/>
                  </a:moveTo>
                  <a:lnTo>
                    <a:pt x="379057" y="0"/>
                  </a:lnTo>
                  <a:cubicBezTo>
                    <a:pt x="417775" y="0"/>
                    <a:pt x="454908" y="15381"/>
                    <a:pt x="482286" y="42759"/>
                  </a:cubicBezTo>
                  <a:cubicBezTo>
                    <a:pt x="509664" y="70137"/>
                    <a:pt x="525044" y="107269"/>
                    <a:pt x="525044" y="145988"/>
                  </a:cubicBezTo>
                  <a:lnTo>
                    <a:pt x="525044" y="145988"/>
                  </a:lnTo>
                  <a:cubicBezTo>
                    <a:pt x="525044" y="226615"/>
                    <a:pt x="459683" y="291976"/>
                    <a:pt x="379057" y="291976"/>
                  </a:cubicBezTo>
                  <a:lnTo>
                    <a:pt x="145988" y="291976"/>
                  </a:lnTo>
                  <a:cubicBezTo>
                    <a:pt x="65361" y="291976"/>
                    <a:pt x="0" y="226615"/>
                    <a:pt x="0" y="145988"/>
                  </a:cubicBezTo>
                  <a:lnTo>
                    <a:pt x="0" y="145988"/>
                  </a:lnTo>
                  <a:cubicBezTo>
                    <a:pt x="0" y="65361"/>
                    <a:pt x="65361" y="0"/>
                    <a:pt x="145988" y="0"/>
                  </a:cubicBezTo>
                  <a:close/>
                </a:path>
              </a:pathLst>
            </a:custGeom>
            <a:solidFill>
              <a:srgbClr val="4E7FC9"/>
            </a:solidFill>
          </p:spPr>
          <p:txBody>
            <a:bodyPr/>
            <a:lstStyle/>
            <a:p>
              <a:endParaRPr lang="en-US"/>
            </a:p>
          </p:txBody>
        </p:sp>
        <p:sp>
          <p:nvSpPr>
            <p:cNvPr id="6" name="TextBox 6"/>
            <p:cNvSpPr txBox="1"/>
            <p:nvPr/>
          </p:nvSpPr>
          <p:spPr>
            <a:xfrm>
              <a:off x="0" y="-228600"/>
              <a:ext cx="525044" cy="520576"/>
            </a:xfrm>
            <a:prstGeom prst="rect">
              <a:avLst/>
            </a:prstGeom>
          </p:spPr>
          <p:txBody>
            <a:bodyPr lIns="50800" tIns="50800" rIns="50800" bIns="50800" rtlCol="0" anchor="ctr"/>
            <a:lstStyle/>
            <a:p>
              <a:pPr algn="ctr">
                <a:lnSpc>
                  <a:spcPts val="5219"/>
                </a:lnSpc>
              </a:pPr>
              <a:r>
                <a:rPr lang="en-US" sz="2899">
                  <a:solidFill>
                    <a:srgbClr val="FFFFFF"/>
                  </a:solidFill>
                  <a:latin typeface="Calibri (MS)"/>
                  <a:ea typeface="Calibri (MS)"/>
                  <a:cs typeface="Calibri (MS)"/>
                  <a:sym typeface="Calibri (MS)"/>
                </a:rPr>
                <a:t>Data input</a:t>
              </a:r>
            </a:p>
          </p:txBody>
        </p:sp>
      </p:grpSp>
      <p:grpSp>
        <p:nvGrpSpPr>
          <p:cNvPr id="7" name="Group 7"/>
          <p:cNvGrpSpPr/>
          <p:nvPr/>
        </p:nvGrpSpPr>
        <p:grpSpPr>
          <a:xfrm>
            <a:off x="3156868" y="6076923"/>
            <a:ext cx="2197337" cy="1183456"/>
            <a:chOff x="0" y="0"/>
            <a:chExt cx="578723" cy="311692"/>
          </a:xfrm>
        </p:grpSpPr>
        <p:sp>
          <p:nvSpPr>
            <p:cNvPr id="8" name="Freeform 8"/>
            <p:cNvSpPr/>
            <p:nvPr/>
          </p:nvSpPr>
          <p:spPr>
            <a:xfrm>
              <a:off x="0" y="0"/>
              <a:ext cx="578723" cy="311692"/>
            </a:xfrm>
            <a:custGeom>
              <a:avLst/>
              <a:gdLst/>
              <a:ahLst/>
              <a:cxnLst/>
              <a:rect l="l" t="t" r="r" b="b"/>
              <a:pathLst>
                <a:path w="578723" h="311692">
                  <a:moveTo>
                    <a:pt x="155846" y="0"/>
                  </a:moveTo>
                  <a:lnTo>
                    <a:pt x="422877" y="0"/>
                  </a:lnTo>
                  <a:cubicBezTo>
                    <a:pt x="464209" y="0"/>
                    <a:pt x="503850" y="16419"/>
                    <a:pt x="533076" y="45646"/>
                  </a:cubicBezTo>
                  <a:cubicBezTo>
                    <a:pt x="562303" y="74873"/>
                    <a:pt x="578723" y="114513"/>
                    <a:pt x="578723" y="155846"/>
                  </a:cubicBezTo>
                  <a:lnTo>
                    <a:pt x="578723" y="155846"/>
                  </a:lnTo>
                  <a:cubicBezTo>
                    <a:pt x="578723" y="197179"/>
                    <a:pt x="562303" y="236819"/>
                    <a:pt x="533076" y="266046"/>
                  </a:cubicBezTo>
                  <a:cubicBezTo>
                    <a:pt x="503850" y="295273"/>
                    <a:pt x="464209" y="311692"/>
                    <a:pt x="422877" y="311692"/>
                  </a:cubicBezTo>
                  <a:lnTo>
                    <a:pt x="155846" y="311692"/>
                  </a:lnTo>
                  <a:cubicBezTo>
                    <a:pt x="114513" y="311692"/>
                    <a:pt x="74873" y="295273"/>
                    <a:pt x="45646" y="266046"/>
                  </a:cubicBezTo>
                  <a:cubicBezTo>
                    <a:pt x="16419" y="236819"/>
                    <a:pt x="0" y="197179"/>
                    <a:pt x="0" y="155846"/>
                  </a:cubicBezTo>
                  <a:lnTo>
                    <a:pt x="0" y="155846"/>
                  </a:lnTo>
                  <a:cubicBezTo>
                    <a:pt x="0" y="114513"/>
                    <a:pt x="16419" y="74873"/>
                    <a:pt x="45646" y="45646"/>
                  </a:cubicBezTo>
                  <a:cubicBezTo>
                    <a:pt x="74873" y="16419"/>
                    <a:pt x="114513" y="0"/>
                    <a:pt x="155846" y="0"/>
                  </a:cubicBezTo>
                  <a:close/>
                </a:path>
              </a:pathLst>
            </a:custGeom>
            <a:solidFill>
              <a:srgbClr val="4E7FC9"/>
            </a:solidFill>
          </p:spPr>
          <p:txBody>
            <a:bodyPr/>
            <a:lstStyle/>
            <a:p>
              <a:endParaRPr lang="en-US"/>
            </a:p>
          </p:txBody>
        </p:sp>
        <p:sp>
          <p:nvSpPr>
            <p:cNvPr id="9" name="TextBox 9"/>
            <p:cNvSpPr txBox="1"/>
            <p:nvPr/>
          </p:nvSpPr>
          <p:spPr>
            <a:xfrm>
              <a:off x="0" y="-57150"/>
              <a:ext cx="578723" cy="368842"/>
            </a:xfrm>
            <a:prstGeom prst="rect">
              <a:avLst/>
            </a:prstGeom>
          </p:spPr>
          <p:txBody>
            <a:bodyPr lIns="50800" tIns="50800" rIns="50800" bIns="50800" rtlCol="0" anchor="ctr"/>
            <a:lstStyle/>
            <a:p>
              <a:pPr algn="ctr">
                <a:lnSpc>
                  <a:spcPts val="3479"/>
                </a:lnSpc>
              </a:pPr>
              <a:r>
                <a:rPr lang="en-US" sz="2899">
                  <a:solidFill>
                    <a:srgbClr val="FFFFFF"/>
                  </a:solidFill>
                  <a:latin typeface="Calibri (MS)"/>
                  <a:ea typeface="Calibri (MS)"/>
                  <a:cs typeface="Calibri (MS)"/>
                  <a:sym typeface="Calibri (MS)"/>
                </a:rPr>
                <a:t>Exploratory Data Analysis</a:t>
              </a:r>
            </a:p>
          </p:txBody>
        </p:sp>
      </p:grpSp>
      <p:sp>
        <p:nvSpPr>
          <p:cNvPr id="10" name="TextBox 10"/>
          <p:cNvSpPr txBox="1"/>
          <p:nvPr/>
        </p:nvSpPr>
        <p:spPr>
          <a:xfrm>
            <a:off x="1028700" y="914400"/>
            <a:ext cx="6453673"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Quá trình chính:</a:t>
            </a:r>
          </a:p>
        </p:txBody>
      </p:sp>
      <p:grpSp>
        <p:nvGrpSpPr>
          <p:cNvPr id="11" name="Group 11"/>
          <p:cNvGrpSpPr/>
          <p:nvPr/>
        </p:nvGrpSpPr>
        <p:grpSpPr>
          <a:xfrm>
            <a:off x="5183977" y="3022887"/>
            <a:ext cx="2697872" cy="1533455"/>
            <a:chOff x="0" y="0"/>
            <a:chExt cx="710551" cy="403873"/>
          </a:xfrm>
        </p:grpSpPr>
        <p:sp>
          <p:nvSpPr>
            <p:cNvPr id="12" name="Freeform 12"/>
            <p:cNvSpPr/>
            <p:nvPr/>
          </p:nvSpPr>
          <p:spPr>
            <a:xfrm>
              <a:off x="0" y="0"/>
              <a:ext cx="710551" cy="403873"/>
            </a:xfrm>
            <a:custGeom>
              <a:avLst/>
              <a:gdLst/>
              <a:ahLst/>
              <a:cxnLst/>
              <a:rect l="l" t="t" r="r" b="b"/>
              <a:pathLst>
                <a:path w="710551" h="403873">
                  <a:moveTo>
                    <a:pt x="146352" y="0"/>
                  </a:moveTo>
                  <a:lnTo>
                    <a:pt x="564199" y="0"/>
                  </a:lnTo>
                  <a:cubicBezTo>
                    <a:pt x="603014" y="0"/>
                    <a:pt x="640239" y="15419"/>
                    <a:pt x="667685" y="42865"/>
                  </a:cubicBezTo>
                  <a:cubicBezTo>
                    <a:pt x="695132" y="70312"/>
                    <a:pt x="710551" y="107537"/>
                    <a:pt x="710551" y="146352"/>
                  </a:cubicBezTo>
                  <a:lnTo>
                    <a:pt x="710551" y="257521"/>
                  </a:lnTo>
                  <a:cubicBezTo>
                    <a:pt x="710551" y="338349"/>
                    <a:pt x="645027" y="403873"/>
                    <a:pt x="564199" y="403873"/>
                  </a:cubicBezTo>
                  <a:lnTo>
                    <a:pt x="146352" y="403873"/>
                  </a:lnTo>
                  <a:cubicBezTo>
                    <a:pt x="107537" y="403873"/>
                    <a:pt x="70312" y="388454"/>
                    <a:pt x="42865" y="361007"/>
                  </a:cubicBezTo>
                  <a:cubicBezTo>
                    <a:pt x="15419" y="333561"/>
                    <a:pt x="0" y="296336"/>
                    <a:pt x="0" y="257521"/>
                  </a:cubicBezTo>
                  <a:lnTo>
                    <a:pt x="0" y="146352"/>
                  </a:lnTo>
                  <a:cubicBezTo>
                    <a:pt x="0" y="107537"/>
                    <a:pt x="15419" y="70312"/>
                    <a:pt x="42865" y="42865"/>
                  </a:cubicBezTo>
                  <a:cubicBezTo>
                    <a:pt x="70312" y="15419"/>
                    <a:pt x="107537" y="0"/>
                    <a:pt x="146352" y="0"/>
                  </a:cubicBezTo>
                  <a:close/>
                </a:path>
              </a:pathLst>
            </a:custGeom>
            <a:solidFill>
              <a:srgbClr val="4E7FC9"/>
            </a:solidFill>
          </p:spPr>
          <p:txBody>
            <a:bodyPr/>
            <a:lstStyle/>
            <a:p>
              <a:endParaRPr lang="en-US"/>
            </a:p>
          </p:txBody>
        </p:sp>
        <p:sp>
          <p:nvSpPr>
            <p:cNvPr id="13" name="TextBox 13"/>
            <p:cNvSpPr txBox="1"/>
            <p:nvPr/>
          </p:nvSpPr>
          <p:spPr>
            <a:xfrm>
              <a:off x="0" y="-57150"/>
              <a:ext cx="710551" cy="461023"/>
            </a:xfrm>
            <a:prstGeom prst="rect">
              <a:avLst/>
            </a:prstGeom>
          </p:spPr>
          <p:txBody>
            <a:bodyPr lIns="50800" tIns="50800" rIns="50800" bIns="50800" rtlCol="0" anchor="ctr"/>
            <a:lstStyle/>
            <a:p>
              <a:pPr algn="ctr">
                <a:lnSpc>
                  <a:spcPts val="3479"/>
                </a:lnSpc>
              </a:pPr>
              <a:r>
                <a:rPr lang="en-US" sz="2899">
                  <a:solidFill>
                    <a:srgbClr val="FFFFFF"/>
                  </a:solidFill>
                  <a:latin typeface="Calibri (MS)"/>
                  <a:ea typeface="Calibri (MS)"/>
                  <a:cs typeface="Calibri (MS)"/>
                  <a:sym typeface="Calibri (MS)"/>
                </a:rPr>
                <a:t>Pre-proccessing &amp; Feature Engineering</a:t>
              </a:r>
            </a:p>
          </p:txBody>
        </p:sp>
      </p:grpSp>
      <p:grpSp>
        <p:nvGrpSpPr>
          <p:cNvPr id="14" name="Group 14"/>
          <p:cNvGrpSpPr/>
          <p:nvPr/>
        </p:nvGrpSpPr>
        <p:grpSpPr>
          <a:xfrm>
            <a:off x="8725632" y="5023651"/>
            <a:ext cx="2868922" cy="987029"/>
            <a:chOff x="0" y="0"/>
            <a:chExt cx="755601" cy="259958"/>
          </a:xfrm>
        </p:grpSpPr>
        <p:sp>
          <p:nvSpPr>
            <p:cNvPr id="15" name="Freeform 15"/>
            <p:cNvSpPr/>
            <p:nvPr/>
          </p:nvSpPr>
          <p:spPr>
            <a:xfrm>
              <a:off x="0" y="0"/>
              <a:ext cx="755601" cy="259958"/>
            </a:xfrm>
            <a:custGeom>
              <a:avLst/>
              <a:gdLst/>
              <a:ahLst/>
              <a:cxnLst/>
              <a:rect l="l" t="t" r="r" b="b"/>
              <a:pathLst>
                <a:path w="755601" h="259958">
                  <a:moveTo>
                    <a:pt x="129979" y="0"/>
                  </a:moveTo>
                  <a:lnTo>
                    <a:pt x="625622" y="0"/>
                  </a:lnTo>
                  <a:cubicBezTo>
                    <a:pt x="660094" y="0"/>
                    <a:pt x="693155" y="13694"/>
                    <a:pt x="717531" y="38070"/>
                  </a:cubicBezTo>
                  <a:cubicBezTo>
                    <a:pt x="741907" y="62446"/>
                    <a:pt x="755601" y="95507"/>
                    <a:pt x="755601" y="129979"/>
                  </a:cubicBezTo>
                  <a:lnTo>
                    <a:pt x="755601" y="129979"/>
                  </a:lnTo>
                  <a:cubicBezTo>
                    <a:pt x="755601" y="164452"/>
                    <a:pt x="741907" y="197512"/>
                    <a:pt x="717531" y="221888"/>
                  </a:cubicBezTo>
                  <a:cubicBezTo>
                    <a:pt x="693155" y="246264"/>
                    <a:pt x="660094" y="259958"/>
                    <a:pt x="625622" y="259958"/>
                  </a:cubicBezTo>
                  <a:lnTo>
                    <a:pt x="129979" y="259958"/>
                  </a:lnTo>
                  <a:cubicBezTo>
                    <a:pt x="95507" y="259958"/>
                    <a:pt x="62446" y="246264"/>
                    <a:pt x="38070" y="221888"/>
                  </a:cubicBezTo>
                  <a:cubicBezTo>
                    <a:pt x="13694" y="197512"/>
                    <a:pt x="0" y="164452"/>
                    <a:pt x="0" y="129979"/>
                  </a:cubicBezTo>
                  <a:lnTo>
                    <a:pt x="0" y="129979"/>
                  </a:lnTo>
                  <a:cubicBezTo>
                    <a:pt x="0" y="95507"/>
                    <a:pt x="13694" y="62446"/>
                    <a:pt x="38070" y="38070"/>
                  </a:cubicBezTo>
                  <a:cubicBezTo>
                    <a:pt x="62446" y="13694"/>
                    <a:pt x="95507" y="0"/>
                    <a:pt x="129979" y="0"/>
                  </a:cubicBezTo>
                  <a:close/>
                </a:path>
              </a:pathLst>
            </a:custGeom>
            <a:solidFill>
              <a:srgbClr val="4E7FC9"/>
            </a:solidFill>
          </p:spPr>
          <p:txBody>
            <a:bodyPr/>
            <a:lstStyle/>
            <a:p>
              <a:endParaRPr lang="en-US"/>
            </a:p>
          </p:txBody>
        </p:sp>
        <p:sp>
          <p:nvSpPr>
            <p:cNvPr id="16" name="TextBox 16"/>
            <p:cNvSpPr txBox="1"/>
            <p:nvPr/>
          </p:nvSpPr>
          <p:spPr>
            <a:xfrm>
              <a:off x="0" y="-57150"/>
              <a:ext cx="755601" cy="317108"/>
            </a:xfrm>
            <a:prstGeom prst="rect">
              <a:avLst/>
            </a:prstGeom>
          </p:spPr>
          <p:txBody>
            <a:bodyPr lIns="50800" tIns="50800" rIns="50800" bIns="50800" rtlCol="0" anchor="ctr"/>
            <a:lstStyle/>
            <a:p>
              <a:pPr algn="ctr">
                <a:lnSpc>
                  <a:spcPts val="3479"/>
                </a:lnSpc>
              </a:pPr>
              <a:r>
                <a:rPr lang="en-US" sz="2899">
                  <a:solidFill>
                    <a:srgbClr val="FFFFFF"/>
                  </a:solidFill>
                  <a:latin typeface="Calibri (MS)"/>
                  <a:ea typeface="Calibri (MS)"/>
                  <a:cs typeface="Calibri (MS)"/>
                  <a:sym typeface="Calibri (MS)"/>
                </a:rPr>
                <a:t>Model training</a:t>
              </a:r>
            </a:p>
          </p:txBody>
        </p:sp>
      </p:grpSp>
      <p:grpSp>
        <p:nvGrpSpPr>
          <p:cNvPr id="17" name="Group 17"/>
          <p:cNvGrpSpPr/>
          <p:nvPr/>
        </p:nvGrpSpPr>
        <p:grpSpPr>
          <a:xfrm>
            <a:off x="12689683" y="6224172"/>
            <a:ext cx="2052910" cy="1174316"/>
            <a:chOff x="0" y="0"/>
            <a:chExt cx="540684" cy="309285"/>
          </a:xfrm>
        </p:grpSpPr>
        <p:sp>
          <p:nvSpPr>
            <p:cNvPr id="18" name="Freeform 18"/>
            <p:cNvSpPr/>
            <p:nvPr/>
          </p:nvSpPr>
          <p:spPr>
            <a:xfrm>
              <a:off x="0" y="0"/>
              <a:ext cx="540684" cy="309285"/>
            </a:xfrm>
            <a:custGeom>
              <a:avLst/>
              <a:gdLst/>
              <a:ahLst/>
              <a:cxnLst/>
              <a:rect l="l" t="t" r="r" b="b"/>
              <a:pathLst>
                <a:path w="540684" h="309285">
                  <a:moveTo>
                    <a:pt x="154642" y="0"/>
                  </a:moveTo>
                  <a:lnTo>
                    <a:pt x="386042" y="0"/>
                  </a:lnTo>
                  <a:cubicBezTo>
                    <a:pt x="471448" y="0"/>
                    <a:pt x="540684" y="69236"/>
                    <a:pt x="540684" y="154642"/>
                  </a:cubicBezTo>
                  <a:lnTo>
                    <a:pt x="540684" y="154642"/>
                  </a:lnTo>
                  <a:cubicBezTo>
                    <a:pt x="540684" y="240049"/>
                    <a:pt x="471448" y="309285"/>
                    <a:pt x="386042" y="309285"/>
                  </a:cubicBezTo>
                  <a:lnTo>
                    <a:pt x="154642" y="309285"/>
                  </a:lnTo>
                  <a:cubicBezTo>
                    <a:pt x="69236" y="309285"/>
                    <a:pt x="0" y="240049"/>
                    <a:pt x="0" y="154642"/>
                  </a:cubicBezTo>
                  <a:lnTo>
                    <a:pt x="0" y="154642"/>
                  </a:lnTo>
                  <a:cubicBezTo>
                    <a:pt x="0" y="69236"/>
                    <a:pt x="69236" y="0"/>
                    <a:pt x="154642" y="0"/>
                  </a:cubicBezTo>
                  <a:close/>
                </a:path>
              </a:pathLst>
            </a:custGeom>
            <a:solidFill>
              <a:srgbClr val="E4B369"/>
            </a:solidFill>
          </p:spPr>
          <p:txBody>
            <a:bodyPr/>
            <a:lstStyle/>
            <a:p>
              <a:endParaRPr lang="en-US"/>
            </a:p>
          </p:txBody>
        </p:sp>
        <p:sp>
          <p:nvSpPr>
            <p:cNvPr id="19" name="TextBox 19"/>
            <p:cNvSpPr txBox="1"/>
            <p:nvPr/>
          </p:nvSpPr>
          <p:spPr>
            <a:xfrm>
              <a:off x="0" y="-114300"/>
              <a:ext cx="540684" cy="423585"/>
            </a:xfrm>
            <a:prstGeom prst="rect">
              <a:avLst/>
            </a:prstGeom>
          </p:spPr>
          <p:txBody>
            <a:bodyPr lIns="50800" tIns="50800" rIns="50800" bIns="50800" rtlCol="0" anchor="ctr"/>
            <a:lstStyle/>
            <a:p>
              <a:pPr algn="ctr">
                <a:lnSpc>
                  <a:spcPts val="4059"/>
                </a:lnSpc>
              </a:pPr>
              <a:r>
                <a:rPr lang="en-US" sz="2899">
                  <a:solidFill>
                    <a:srgbClr val="FFFFFF"/>
                  </a:solidFill>
                  <a:latin typeface="Calibri (MS)"/>
                  <a:ea typeface="Calibri (MS)"/>
                  <a:cs typeface="Calibri (MS)"/>
                  <a:sym typeface="Calibri (MS)"/>
                </a:rPr>
                <a:t>Logistic Regression</a:t>
              </a:r>
            </a:p>
          </p:txBody>
        </p:sp>
      </p:grpSp>
      <p:grpSp>
        <p:nvGrpSpPr>
          <p:cNvPr id="20" name="Group 20"/>
          <p:cNvGrpSpPr/>
          <p:nvPr/>
        </p:nvGrpSpPr>
        <p:grpSpPr>
          <a:xfrm>
            <a:off x="10112372" y="7433558"/>
            <a:ext cx="2047657" cy="1127314"/>
            <a:chOff x="0" y="0"/>
            <a:chExt cx="539301" cy="296906"/>
          </a:xfrm>
        </p:grpSpPr>
        <p:sp>
          <p:nvSpPr>
            <p:cNvPr id="21" name="Freeform 21"/>
            <p:cNvSpPr/>
            <p:nvPr/>
          </p:nvSpPr>
          <p:spPr>
            <a:xfrm>
              <a:off x="0" y="0"/>
              <a:ext cx="539301" cy="296906"/>
            </a:xfrm>
            <a:custGeom>
              <a:avLst/>
              <a:gdLst/>
              <a:ahLst/>
              <a:cxnLst/>
              <a:rect l="l" t="t" r="r" b="b"/>
              <a:pathLst>
                <a:path w="539301" h="296906">
                  <a:moveTo>
                    <a:pt x="148453" y="0"/>
                  </a:moveTo>
                  <a:lnTo>
                    <a:pt x="390848" y="0"/>
                  </a:lnTo>
                  <a:cubicBezTo>
                    <a:pt x="430220" y="0"/>
                    <a:pt x="467979" y="15641"/>
                    <a:pt x="495820" y="43481"/>
                  </a:cubicBezTo>
                  <a:cubicBezTo>
                    <a:pt x="523660" y="71321"/>
                    <a:pt x="539301" y="109081"/>
                    <a:pt x="539301" y="148453"/>
                  </a:cubicBezTo>
                  <a:lnTo>
                    <a:pt x="539301" y="148453"/>
                  </a:lnTo>
                  <a:cubicBezTo>
                    <a:pt x="539301" y="187825"/>
                    <a:pt x="523660" y="225585"/>
                    <a:pt x="495820" y="253425"/>
                  </a:cubicBezTo>
                  <a:cubicBezTo>
                    <a:pt x="467979" y="281265"/>
                    <a:pt x="430220" y="296906"/>
                    <a:pt x="390848" y="296906"/>
                  </a:cubicBezTo>
                  <a:lnTo>
                    <a:pt x="148453" y="296906"/>
                  </a:lnTo>
                  <a:cubicBezTo>
                    <a:pt x="109081" y="296906"/>
                    <a:pt x="71321" y="281265"/>
                    <a:pt x="43481" y="253425"/>
                  </a:cubicBezTo>
                  <a:cubicBezTo>
                    <a:pt x="15641" y="225585"/>
                    <a:pt x="0" y="187825"/>
                    <a:pt x="0" y="148453"/>
                  </a:cubicBezTo>
                  <a:lnTo>
                    <a:pt x="0" y="148453"/>
                  </a:lnTo>
                  <a:cubicBezTo>
                    <a:pt x="0" y="109081"/>
                    <a:pt x="15641" y="71321"/>
                    <a:pt x="43481" y="43481"/>
                  </a:cubicBezTo>
                  <a:cubicBezTo>
                    <a:pt x="71321" y="15641"/>
                    <a:pt x="109081" y="0"/>
                    <a:pt x="148453" y="0"/>
                  </a:cubicBezTo>
                  <a:close/>
                </a:path>
              </a:pathLst>
            </a:custGeom>
            <a:solidFill>
              <a:srgbClr val="E4B369"/>
            </a:solidFill>
          </p:spPr>
          <p:txBody>
            <a:bodyPr/>
            <a:lstStyle/>
            <a:p>
              <a:endParaRPr lang="en-US"/>
            </a:p>
          </p:txBody>
        </p:sp>
        <p:sp>
          <p:nvSpPr>
            <p:cNvPr id="22" name="TextBox 22"/>
            <p:cNvSpPr txBox="1"/>
            <p:nvPr/>
          </p:nvSpPr>
          <p:spPr>
            <a:xfrm>
              <a:off x="0" y="-57150"/>
              <a:ext cx="539301" cy="354056"/>
            </a:xfrm>
            <a:prstGeom prst="rect">
              <a:avLst/>
            </a:prstGeom>
          </p:spPr>
          <p:txBody>
            <a:bodyPr lIns="50800" tIns="50800" rIns="50800" bIns="50800" rtlCol="0" anchor="ctr"/>
            <a:lstStyle/>
            <a:p>
              <a:pPr algn="ctr">
                <a:lnSpc>
                  <a:spcPts val="3479"/>
                </a:lnSpc>
              </a:pPr>
              <a:r>
                <a:rPr lang="en-US" sz="2899">
                  <a:solidFill>
                    <a:srgbClr val="FFFFFF"/>
                  </a:solidFill>
                  <a:latin typeface="Calibri (MS)"/>
                  <a:ea typeface="Calibri (MS)"/>
                  <a:cs typeface="Calibri (MS)"/>
                  <a:sym typeface="Calibri (MS)"/>
                </a:rPr>
                <a:t>Random Forest </a:t>
              </a:r>
            </a:p>
          </p:txBody>
        </p:sp>
      </p:grpSp>
      <p:grpSp>
        <p:nvGrpSpPr>
          <p:cNvPr id="23" name="Group 23"/>
          <p:cNvGrpSpPr/>
          <p:nvPr/>
        </p:nvGrpSpPr>
        <p:grpSpPr>
          <a:xfrm>
            <a:off x="12529607" y="3591870"/>
            <a:ext cx="1557686" cy="964472"/>
            <a:chOff x="0" y="0"/>
            <a:chExt cx="410255" cy="254017"/>
          </a:xfrm>
        </p:grpSpPr>
        <p:sp>
          <p:nvSpPr>
            <p:cNvPr id="24" name="Freeform 24"/>
            <p:cNvSpPr/>
            <p:nvPr/>
          </p:nvSpPr>
          <p:spPr>
            <a:xfrm>
              <a:off x="0" y="0"/>
              <a:ext cx="410255" cy="254017"/>
            </a:xfrm>
            <a:custGeom>
              <a:avLst/>
              <a:gdLst/>
              <a:ahLst/>
              <a:cxnLst/>
              <a:rect l="l" t="t" r="r" b="b"/>
              <a:pathLst>
                <a:path w="410255" h="254017">
                  <a:moveTo>
                    <a:pt x="127009" y="0"/>
                  </a:moveTo>
                  <a:lnTo>
                    <a:pt x="283246" y="0"/>
                  </a:lnTo>
                  <a:cubicBezTo>
                    <a:pt x="316931" y="0"/>
                    <a:pt x="349236" y="13381"/>
                    <a:pt x="373055" y="37200"/>
                  </a:cubicBezTo>
                  <a:cubicBezTo>
                    <a:pt x="396874" y="61019"/>
                    <a:pt x="410255" y="93324"/>
                    <a:pt x="410255" y="127009"/>
                  </a:cubicBezTo>
                  <a:lnTo>
                    <a:pt x="410255" y="127009"/>
                  </a:lnTo>
                  <a:cubicBezTo>
                    <a:pt x="410255" y="160693"/>
                    <a:pt x="396874" y="192999"/>
                    <a:pt x="373055" y="216817"/>
                  </a:cubicBezTo>
                  <a:cubicBezTo>
                    <a:pt x="349236" y="240636"/>
                    <a:pt x="316931" y="254017"/>
                    <a:pt x="283246" y="254017"/>
                  </a:cubicBezTo>
                  <a:lnTo>
                    <a:pt x="127009" y="254017"/>
                  </a:lnTo>
                  <a:cubicBezTo>
                    <a:pt x="93324" y="254017"/>
                    <a:pt x="61019" y="240636"/>
                    <a:pt x="37200" y="216817"/>
                  </a:cubicBezTo>
                  <a:cubicBezTo>
                    <a:pt x="13381" y="192999"/>
                    <a:pt x="0" y="160693"/>
                    <a:pt x="0" y="127009"/>
                  </a:cubicBezTo>
                  <a:lnTo>
                    <a:pt x="0" y="127009"/>
                  </a:lnTo>
                  <a:cubicBezTo>
                    <a:pt x="0" y="93324"/>
                    <a:pt x="13381" y="61019"/>
                    <a:pt x="37200" y="37200"/>
                  </a:cubicBezTo>
                  <a:cubicBezTo>
                    <a:pt x="61019" y="13381"/>
                    <a:pt x="93324" y="0"/>
                    <a:pt x="127009" y="0"/>
                  </a:cubicBezTo>
                  <a:close/>
                </a:path>
              </a:pathLst>
            </a:custGeom>
            <a:solidFill>
              <a:srgbClr val="E4B369"/>
            </a:solidFill>
          </p:spPr>
          <p:txBody>
            <a:bodyPr/>
            <a:lstStyle/>
            <a:p>
              <a:endParaRPr lang="en-US"/>
            </a:p>
          </p:txBody>
        </p:sp>
        <p:sp>
          <p:nvSpPr>
            <p:cNvPr id="25" name="TextBox 25"/>
            <p:cNvSpPr txBox="1"/>
            <p:nvPr/>
          </p:nvSpPr>
          <p:spPr>
            <a:xfrm>
              <a:off x="0" y="-114300"/>
              <a:ext cx="410255" cy="368317"/>
            </a:xfrm>
            <a:prstGeom prst="rect">
              <a:avLst/>
            </a:prstGeom>
          </p:spPr>
          <p:txBody>
            <a:bodyPr lIns="50800" tIns="50800" rIns="50800" bIns="50800" rtlCol="0" anchor="ctr"/>
            <a:lstStyle/>
            <a:p>
              <a:pPr algn="ctr">
                <a:lnSpc>
                  <a:spcPts val="4059"/>
                </a:lnSpc>
              </a:pPr>
              <a:r>
                <a:rPr lang="en-US" sz="2899">
                  <a:solidFill>
                    <a:srgbClr val="FFFFFF"/>
                  </a:solidFill>
                  <a:latin typeface="Calibri (MS)"/>
                  <a:ea typeface="Calibri (MS)"/>
                  <a:cs typeface="Calibri (MS)"/>
                  <a:sym typeface="Calibri (MS)"/>
                </a:rPr>
                <a:t>XGBoost</a:t>
              </a:r>
            </a:p>
          </p:txBody>
        </p:sp>
      </p:grpSp>
      <p:grpSp>
        <p:nvGrpSpPr>
          <p:cNvPr id="26" name="Group 26"/>
          <p:cNvGrpSpPr/>
          <p:nvPr/>
        </p:nvGrpSpPr>
        <p:grpSpPr>
          <a:xfrm>
            <a:off x="10940728" y="2754147"/>
            <a:ext cx="1588880" cy="945486"/>
            <a:chOff x="0" y="0"/>
            <a:chExt cx="418470" cy="249017"/>
          </a:xfrm>
        </p:grpSpPr>
        <p:sp>
          <p:nvSpPr>
            <p:cNvPr id="27" name="Freeform 27"/>
            <p:cNvSpPr/>
            <p:nvPr/>
          </p:nvSpPr>
          <p:spPr>
            <a:xfrm>
              <a:off x="0" y="0"/>
              <a:ext cx="418470" cy="249017"/>
            </a:xfrm>
            <a:custGeom>
              <a:avLst/>
              <a:gdLst/>
              <a:ahLst/>
              <a:cxnLst/>
              <a:rect l="l" t="t" r="r" b="b"/>
              <a:pathLst>
                <a:path w="418470" h="249017">
                  <a:moveTo>
                    <a:pt x="124508" y="0"/>
                  </a:moveTo>
                  <a:lnTo>
                    <a:pt x="293962" y="0"/>
                  </a:lnTo>
                  <a:cubicBezTo>
                    <a:pt x="362726" y="0"/>
                    <a:pt x="418470" y="55744"/>
                    <a:pt x="418470" y="124508"/>
                  </a:cubicBezTo>
                  <a:lnTo>
                    <a:pt x="418470" y="124508"/>
                  </a:lnTo>
                  <a:cubicBezTo>
                    <a:pt x="418470" y="193273"/>
                    <a:pt x="362726" y="249017"/>
                    <a:pt x="293962" y="249017"/>
                  </a:cubicBezTo>
                  <a:lnTo>
                    <a:pt x="124508" y="249017"/>
                  </a:lnTo>
                  <a:cubicBezTo>
                    <a:pt x="55744" y="249017"/>
                    <a:pt x="0" y="193273"/>
                    <a:pt x="0" y="124508"/>
                  </a:cubicBezTo>
                  <a:lnTo>
                    <a:pt x="0" y="124508"/>
                  </a:lnTo>
                  <a:cubicBezTo>
                    <a:pt x="0" y="55744"/>
                    <a:pt x="55744" y="0"/>
                    <a:pt x="124508" y="0"/>
                  </a:cubicBezTo>
                  <a:close/>
                </a:path>
              </a:pathLst>
            </a:custGeom>
            <a:solidFill>
              <a:srgbClr val="E4B369"/>
            </a:solidFill>
          </p:spPr>
          <p:txBody>
            <a:bodyPr/>
            <a:lstStyle/>
            <a:p>
              <a:endParaRPr lang="en-US"/>
            </a:p>
          </p:txBody>
        </p:sp>
        <p:sp>
          <p:nvSpPr>
            <p:cNvPr id="28" name="TextBox 28"/>
            <p:cNvSpPr txBox="1"/>
            <p:nvPr/>
          </p:nvSpPr>
          <p:spPr>
            <a:xfrm>
              <a:off x="0" y="-114300"/>
              <a:ext cx="418470" cy="363317"/>
            </a:xfrm>
            <a:prstGeom prst="rect">
              <a:avLst/>
            </a:prstGeom>
          </p:spPr>
          <p:txBody>
            <a:bodyPr lIns="50800" tIns="50800" rIns="50800" bIns="50800" rtlCol="0" anchor="ctr"/>
            <a:lstStyle/>
            <a:p>
              <a:pPr algn="ctr">
                <a:lnSpc>
                  <a:spcPts val="4059"/>
                </a:lnSpc>
              </a:pPr>
              <a:r>
                <a:rPr lang="en-US" sz="2899">
                  <a:solidFill>
                    <a:srgbClr val="FFFFFF"/>
                  </a:solidFill>
                  <a:latin typeface="Calibri (MS)"/>
                  <a:ea typeface="Calibri (MS)"/>
                  <a:cs typeface="Calibri (MS)"/>
                  <a:sym typeface="Calibri (MS)"/>
                </a:rPr>
                <a:t>SVM</a:t>
              </a:r>
            </a:p>
          </p:txBody>
        </p:sp>
      </p:grpSp>
      <p:grpSp>
        <p:nvGrpSpPr>
          <p:cNvPr id="29" name="Group 29"/>
          <p:cNvGrpSpPr/>
          <p:nvPr/>
        </p:nvGrpSpPr>
        <p:grpSpPr>
          <a:xfrm>
            <a:off x="15210752" y="4902607"/>
            <a:ext cx="2048548" cy="1174316"/>
            <a:chOff x="0" y="0"/>
            <a:chExt cx="539535" cy="309285"/>
          </a:xfrm>
        </p:grpSpPr>
        <p:sp>
          <p:nvSpPr>
            <p:cNvPr id="30" name="Freeform 30"/>
            <p:cNvSpPr/>
            <p:nvPr/>
          </p:nvSpPr>
          <p:spPr>
            <a:xfrm>
              <a:off x="0" y="0"/>
              <a:ext cx="539535" cy="309285"/>
            </a:xfrm>
            <a:custGeom>
              <a:avLst/>
              <a:gdLst/>
              <a:ahLst/>
              <a:cxnLst/>
              <a:rect l="l" t="t" r="r" b="b"/>
              <a:pathLst>
                <a:path w="539535" h="309285">
                  <a:moveTo>
                    <a:pt x="154642" y="0"/>
                  </a:moveTo>
                  <a:lnTo>
                    <a:pt x="384893" y="0"/>
                  </a:lnTo>
                  <a:cubicBezTo>
                    <a:pt x="425907" y="0"/>
                    <a:pt x="465240" y="16293"/>
                    <a:pt x="494242" y="45294"/>
                  </a:cubicBezTo>
                  <a:cubicBezTo>
                    <a:pt x="523243" y="74295"/>
                    <a:pt x="539535" y="113629"/>
                    <a:pt x="539535" y="154642"/>
                  </a:cubicBezTo>
                  <a:lnTo>
                    <a:pt x="539535" y="154642"/>
                  </a:lnTo>
                  <a:cubicBezTo>
                    <a:pt x="539535" y="240049"/>
                    <a:pt x="470299" y="309285"/>
                    <a:pt x="384893" y="309285"/>
                  </a:cubicBezTo>
                  <a:lnTo>
                    <a:pt x="154642" y="309285"/>
                  </a:lnTo>
                  <a:cubicBezTo>
                    <a:pt x="69236" y="309285"/>
                    <a:pt x="0" y="240049"/>
                    <a:pt x="0" y="154642"/>
                  </a:cubicBezTo>
                  <a:lnTo>
                    <a:pt x="0" y="154642"/>
                  </a:lnTo>
                  <a:cubicBezTo>
                    <a:pt x="0" y="69236"/>
                    <a:pt x="69236" y="0"/>
                    <a:pt x="154642" y="0"/>
                  </a:cubicBezTo>
                  <a:close/>
                </a:path>
              </a:pathLst>
            </a:custGeom>
            <a:solidFill>
              <a:srgbClr val="4E7FC9"/>
            </a:solidFill>
          </p:spPr>
          <p:txBody>
            <a:bodyPr/>
            <a:lstStyle/>
            <a:p>
              <a:endParaRPr lang="en-US"/>
            </a:p>
          </p:txBody>
        </p:sp>
        <p:sp>
          <p:nvSpPr>
            <p:cNvPr id="31" name="TextBox 31"/>
            <p:cNvSpPr txBox="1"/>
            <p:nvPr/>
          </p:nvSpPr>
          <p:spPr>
            <a:xfrm>
              <a:off x="0" y="-57150"/>
              <a:ext cx="539535" cy="366435"/>
            </a:xfrm>
            <a:prstGeom prst="rect">
              <a:avLst/>
            </a:prstGeom>
          </p:spPr>
          <p:txBody>
            <a:bodyPr lIns="50800" tIns="50800" rIns="50800" bIns="50800" rtlCol="0" anchor="ctr"/>
            <a:lstStyle/>
            <a:p>
              <a:pPr algn="ctr">
                <a:lnSpc>
                  <a:spcPts val="3479"/>
                </a:lnSpc>
              </a:pPr>
              <a:r>
                <a:rPr lang="en-US" sz="2899">
                  <a:solidFill>
                    <a:srgbClr val="FFFFFF"/>
                  </a:solidFill>
                  <a:latin typeface="Calibri (MS)"/>
                  <a:ea typeface="Calibri (MS)"/>
                  <a:cs typeface="Calibri (MS)"/>
                  <a:sym typeface="Calibri (MS)"/>
                </a:rPr>
                <a:t>Model evaluation</a:t>
              </a:r>
            </a:p>
          </p:txBody>
        </p:sp>
      </p:grpSp>
      <p:sp>
        <p:nvSpPr>
          <p:cNvPr id="32" name="AutoShape 32"/>
          <p:cNvSpPr/>
          <p:nvPr/>
        </p:nvSpPr>
        <p:spPr>
          <a:xfrm>
            <a:off x="2798785" y="4623612"/>
            <a:ext cx="665150" cy="1487237"/>
          </a:xfrm>
          <a:prstGeom prst="line">
            <a:avLst/>
          </a:prstGeom>
          <a:ln w="38100" cap="flat">
            <a:solidFill>
              <a:srgbClr val="165292"/>
            </a:solidFill>
            <a:prstDash val="solid"/>
            <a:headEnd type="none" w="sm" len="sm"/>
            <a:tailEnd type="triangle" w="lg" len="med"/>
          </a:ln>
        </p:spPr>
        <p:txBody>
          <a:bodyPr/>
          <a:lstStyle/>
          <a:p>
            <a:endParaRPr lang="en-US"/>
          </a:p>
        </p:txBody>
      </p:sp>
      <p:sp>
        <p:nvSpPr>
          <p:cNvPr id="33" name="AutoShape 33"/>
          <p:cNvSpPr/>
          <p:nvPr/>
        </p:nvSpPr>
        <p:spPr>
          <a:xfrm flipV="1">
            <a:off x="4917547" y="4516393"/>
            <a:ext cx="834007" cy="1562983"/>
          </a:xfrm>
          <a:prstGeom prst="line">
            <a:avLst/>
          </a:prstGeom>
          <a:ln w="38100" cap="flat">
            <a:solidFill>
              <a:srgbClr val="165292"/>
            </a:solidFill>
            <a:prstDash val="solid"/>
            <a:headEnd type="none" w="sm" len="sm"/>
            <a:tailEnd type="triangle" w="lg" len="med"/>
          </a:ln>
        </p:spPr>
        <p:txBody>
          <a:bodyPr/>
          <a:lstStyle/>
          <a:p>
            <a:endParaRPr lang="en-US"/>
          </a:p>
        </p:txBody>
      </p:sp>
      <p:sp>
        <p:nvSpPr>
          <p:cNvPr id="34" name="AutoShape 34"/>
          <p:cNvSpPr/>
          <p:nvPr/>
        </p:nvSpPr>
        <p:spPr>
          <a:xfrm>
            <a:off x="7536156" y="4535840"/>
            <a:ext cx="1401698" cy="572100"/>
          </a:xfrm>
          <a:prstGeom prst="line">
            <a:avLst/>
          </a:prstGeom>
          <a:ln w="38100" cap="flat">
            <a:solidFill>
              <a:srgbClr val="165292"/>
            </a:solidFill>
            <a:prstDash val="solid"/>
            <a:headEnd type="none" w="sm" len="sm"/>
            <a:tailEnd type="triangle" w="lg" len="med"/>
          </a:ln>
        </p:spPr>
        <p:txBody>
          <a:bodyPr/>
          <a:lstStyle/>
          <a:p>
            <a:endParaRPr lang="en-US"/>
          </a:p>
        </p:txBody>
      </p:sp>
      <p:sp>
        <p:nvSpPr>
          <p:cNvPr id="35" name="AutoShape 35"/>
          <p:cNvSpPr/>
          <p:nvPr/>
        </p:nvSpPr>
        <p:spPr>
          <a:xfrm flipV="1">
            <a:off x="10748534" y="3699633"/>
            <a:ext cx="667036" cy="1324018"/>
          </a:xfrm>
          <a:prstGeom prst="line">
            <a:avLst/>
          </a:prstGeom>
          <a:ln w="38100" cap="flat">
            <a:solidFill>
              <a:srgbClr val="165292"/>
            </a:solidFill>
            <a:prstDash val="solid"/>
            <a:headEnd type="none" w="sm" len="sm"/>
            <a:tailEnd type="triangle" w="lg" len="med"/>
          </a:ln>
        </p:spPr>
        <p:txBody>
          <a:bodyPr/>
          <a:lstStyle/>
          <a:p>
            <a:endParaRPr lang="en-US"/>
          </a:p>
        </p:txBody>
      </p:sp>
      <p:sp>
        <p:nvSpPr>
          <p:cNvPr id="36" name="AutoShape 36"/>
          <p:cNvSpPr/>
          <p:nvPr/>
        </p:nvSpPr>
        <p:spPr>
          <a:xfrm flipV="1">
            <a:off x="11444888" y="4464783"/>
            <a:ext cx="1284189" cy="693917"/>
          </a:xfrm>
          <a:prstGeom prst="line">
            <a:avLst/>
          </a:prstGeom>
          <a:ln w="38100" cap="flat">
            <a:solidFill>
              <a:srgbClr val="165292"/>
            </a:solidFill>
            <a:prstDash val="solid"/>
            <a:headEnd type="none" w="sm" len="sm"/>
            <a:tailEnd type="triangle" w="lg" len="med"/>
          </a:ln>
        </p:spPr>
        <p:txBody>
          <a:bodyPr/>
          <a:lstStyle/>
          <a:p>
            <a:endParaRPr lang="en-US"/>
          </a:p>
        </p:txBody>
      </p:sp>
      <p:sp>
        <p:nvSpPr>
          <p:cNvPr id="37" name="AutoShape 37"/>
          <p:cNvSpPr/>
          <p:nvPr/>
        </p:nvSpPr>
        <p:spPr>
          <a:xfrm>
            <a:off x="11551591" y="5724935"/>
            <a:ext cx="1189958" cy="766375"/>
          </a:xfrm>
          <a:prstGeom prst="line">
            <a:avLst/>
          </a:prstGeom>
          <a:ln w="38100" cap="flat">
            <a:solidFill>
              <a:srgbClr val="165292"/>
            </a:solidFill>
            <a:prstDash val="solid"/>
            <a:headEnd type="none" w="sm" len="sm"/>
            <a:tailEnd type="triangle" w="lg" len="med"/>
          </a:ln>
        </p:spPr>
        <p:txBody>
          <a:bodyPr/>
          <a:lstStyle/>
          <a:p>
            <a:endParaRPr lang="en-US"/>
          </a:p>
        </p:txBody>
      </p:sp>
      <p:sp>
        <p:nvSpPr>
          <p:cNvPr id="38" name="AutoShape 38"/>
          <p:cNvSpPr/>
          <p:nvPr/>
        </p:nvSpPr>
        <p:spPr>
          <a:xfrm>
            <a:off x="10160094" y="6010680"/>
            <a:ext cx="581164" cy="1422877"/>
          </a:xfrm>
          <a:prstGeom prst="line">
            <a:avLst/>
          </a:prstGeom>
          <a:ln w="38100" cap="flat">
            <a:solidFill>
              <a:srgbClr val="165292"/>
            </a:solidFill>
            <a:prstDash val="solid"/>
            <a:headEnd type="none" w="sm" len="sm"/>
            <a:tailEnd type="triangle" w="lg" len="med"/>
          </a:ln>
        </p:spPr>
        <p:txBody>
          <a:bodyPr/>
          <a:lstStyle/>
          <a:p>
            <a:endParaRPr lang="en-US"/>
          </a:p>
        </p:txBody>
      </p:sp>
      <p:sp>
        <p:nvSpPr>
          <p:cNvPr id="39" name="AutoShape 39"/>
          <p:cNvSpPr/>
          <p:nvPr/>
        </p:nvSpPr>
        <p:spPr>
          <a:xfrm flipV="1">
            <a:off x="11594555" y="5489765"/>
            <a:ext cx="3616198" cy="27401"/>
          </a:xfrm>
          <a:prstGeom prst="line">
            <a:avLst/>
          </a:prstGeom>
          <a:ln w="38100" cap="flat">
            <a:solidFill>
              <a:srgbClr val="165292"/>
            </a:solidFill>
            <a:prstDash val="solid"/>
            <a:headEnd type="none" w="sm" len="sm"/>
            <a:tailEnd type="triangle" w="lg" len="med"/>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9368451" y="6004855"/>
            <a:ext cx="457400" cy="25400"/>
          </a:xfrm>
          <a:prstGeom prst="line">
            <a:avLst/>
          </a:prstGeom>
          <a:ln w="9525" cap="rnd">
            <a:solidFill>
              <a:srgbClr val="FFFFFF"/>
            </a:solidFill>
            <a:prstDash val="solid"/>
            <a:headEnd type="none" w="sm" len="sm"/>
            <a:tailEnd type="none" w="sm" len="sm"/>
          </a:ln>
        </p:spPr>
        <p:txBody>
          <a:bodyPr/>
          <a:lstStyle/>
          <a:p>
            <a:endParaRPr lang="en-US"/>
          </a:p>
        </p:txBody>
      </p:sp>
      <p:grpSp>
        <p:nvGrpSpPr>
          <p:cNvPr id="5" name="Group 5"/>
          <p:cNvGrpSpPr/>
          <p:nvPr/>
        </p:nvGrpSpPr>
        <p:grpSpPr>
          <a:xfrm>
            <a:off x="9144000" y="2133876"/>
            <a:ext cx="8115300" cy="4150107"/>
            <a:chOff x="0" y="0"/>
            <a:chExt cx="2778069" cy="1420685"/>
          </a:xfrm>
        </p:grpSpPr>
        <p:sp>
          <p:nvSpPr>
            <p:cNvPr id="6" name="Freeform 6"/>
            <p:cNvSpPr/>
            <p:nvPr/>
          </p:nvSpPr>
          <p:spPr>
            <a:xfrm>
              <a:off x="0" y="0"/>
              <a:ext cx="2778069" cy="1420685"/>
            </a:xfrm>
            <a:custGeom>
              <a:avLst/>
              <a:gdLst/>
              <a:ahLst/>
              <a:cxnLst/>
              <a:rect l="l" t="t" r="r" b="b"/>
              <a:pathLst>
                <a:path w="2778069" h="1420685">
                  <a:moveTo>
                    <a:pt x="0" y="0"/>
                  </a:moveTo>
                  <a:lnTo>
                    <a:pt x="2778069" y="0"/>
                  </a:lnTo>
                  <a:lnTo>
                    <a:pt x="2778069" y="1420685"/>
                  </a:lnTo>
                  <a:lnTo>
                    <a:pt x="0" y="1420685"/>
                  </a:lnTo>
                  <a:close/>
                </a:path>
              </a:pathLst>
            </a:custGeom>
            <a:blipFill>
              <a:blip r:embed="rId3"/>
              <a:stretch>
                <a:fillRect t="-108" b="-108"/>
              </a:stretch>
            </a:blipFill>
          </p:spPr>
          <p:txBody>
            <a:bodyPr/>
            <a:lstStyle/>
            <a:p>
              <a:endParaRPr lang="en-US"/>
            </a:p>
          </p:txBody>
        </p:sp>
      </p:grpSp>
      <p:grpSp>
        <p:nvGrpSpPr>
          <p:cNvPr id="7" name="Group 7"/>
          <p:cNvGrpSpPr/>
          <p:nvPr/>
        </p:nvGrpSpPr>
        <p:grpSpPr>
          <a:xfrm>
            <a:off x="1739506" y="7259967"/>
            <a:ext cx="14808989" cy="2293183"/>
            <a:chOff x="0" y="0"/>
            <a:chExt cx="19745318" cy="3057577"/>
          </a:xfrm>
        </p:grpSpPr>
        <p:sp>
          <p:nvSpPr>
            <p:cNvPr id="8" name="Freeform 8"/>
            <p:cNvSpPr/>
            <p:nvPr/>
          </p:nvSpPr>
          <p:spPr>
            <a:xfrm>
              <a:off x="0" y="0"/>
              <a:ext cx="3356621" cy="3057577"/>
            </a:xfrm>
            <a:custGeom>
              <a:avLst/>
              <a:gdLst/>
              <a:ahLst/>
              <a:cxnLst/>
              <a:rect l="l" t="t" r="r" b="b"/>
              <a:pathLst>
                <a:path w="3356621" h="3057577">
                  <a:moveTo>
                    <a:pt x="0" y="0"/>
                  </a:moveTo>
                  <a:lnTo>
                    <a:pt x="3356621" y="0"/>
                  </a:lnTo>
                  <a:lnTo>
                    <a:pt x="3356621" y="3057577"/>
                  </a:lnTo>
                  <a:lnTo>
                    <a:pt x="0" y="30575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9" name="Group 9"/>
            <p:cNvGrpSpPr/>
            <p:nvPr/>
          </p:nvGrpSpPr>
          <p:grpSpPr>
            <a:xfrm>
              <a:off x="7113041" y="733519"/>
              <a:ext cx="3575073" cy="1590538"/>
              <a:chOff x="0" y="0"/>
              <a:chExt cx="633578" cy="281877"/>
            </a:xfrm>
          </p:grpSpPr>
          <p:sp>
            <p:nvSpPr>
              <p:cNvPr id="10" name="Freeform 10"/>
              <p:cNvSpPr/>
              <p:nvPr/>
            </p:nvSpPr>
            <p:spPr>
              <a:xfrm>
                <a:off x="0" y="0"/>
                <a:ext cx="633578" cy="281877"/>
              </a:xfrm>
              <a:custGeom>
                <a:avLst/>
                <a:gdLst/>
                <a:ahLst/>
                <a:cxnLst/>
                <a:rect l="l" t="t" r="r" b="b"/>
                <a:pathLst>
                  <a:path w="633578" h="281877">
                    <a:moveTo>
                      <a:pt x="140938" y="0"/>
                    </a:moveTo>
                    <a:lnTo>
                      <a:pt x="492640" y="0"/>
                    </a:lnTo>
                    <a:cubicBezTo>
                      <a:pt x="570478" y="0"/>
                      <a:pt x="633578" y="63100"/>
                      <a:pt x="633578" y="140938"/>
                    </a:cubicBezTo>
                    <a:lnTo>
                      <a:pt x="633578" y="140938"/>
                    </a:lnTo>
                    <a:cubicBezTo>
                      <a:pt x="633578" y="178318"/>
                      <a:pt x="618729" y="214166"/>
                      <a:pt x="592298" y="240597"/>
                    </a:cubicBezTo>
                    <a:cubicBezTo>
                      <a:pt x="565867" y="267028"/>
                      <a:pt x="530019" y="281877"/>
                      <a:pt x="492640" y="281877"/>
                    </a:cubicBezTo>
                    <a:lnTo>
                      <a:pt x="140938" y="281877"/>
                    </a:lnTo>
                    <a:cubicBezTo>
                      <a:pt x="103559" y="281877"/>
                      <a:pt x="67711" y="267028"/>
                      <a:pt x="41280" y="240597"/>
                    </a:cubicBezTo>
                    <a:cubicBezTo>
                      <a:pt x="14849" y="214166"/>
                      <a:pt x="0" y="178318"/>
                      <a:pt x="0" y="140938"/>
                    </a:cubicBezTo>
                    <a:lnTo>
                      <a:pt x="0" y="140938"/>
                    </a:lnTo>
                    <a:cubicBezTo>
                      <a:pt x="0" y="103559"/>
                      <a:pt x="14849" y="67711"/>
                      <a:pt x="41280" y="41280"/>
                    </a:cubicBezTo>
                    <a:cubicBezTo>
                      <a:pt x="67711" y="14849"/>
                      <a:pt x="103559" y="0"/>
                      <a:pt x="140938" y="0"/>
                    </a:cubicBezTo>
                    <a:close/>
                  </a:path>
                </a:pathLst>
              </a:custGeom>
              <a:solidFill>
                <a:srgbClr val="0A5FBB"/>
              </a:solidFill>
            </p:spPr>
            <p:txBody>
              <a:bodyPr/>
              <a:lstStyle/>
              <a:p>
                <a:endParaRPr lang="en-US"/>
              </a:p>
            </p:txBody>
          </p:sp>
          <p:sp>
            <p:nvSpPr>
              <p:cNvPr id="11" name="TextBox 11"/>
              <p:cNvSpPr txBox="1"/>
              <p:nvPr/>
            </p:nvSpPr>
            <p:spPr>
              <a:xfrm>
                <a:off x="0" y="-200025"/>
                <a:ext cx="633578" cy="481902"/>
              </a:xfrm>
              <a:prstGeom prst="rect">
                <a:avLst/>
              </a:prstGeom>
            </p:spPr>
            <p:txBody>
              <a:bodyPr lIns="50800" tIns="50800" rIns="50800" bIns="50800" rtlCol="0" anchor="ctr"/>
              <a:lstStyle/>
              <a:p>
                <a:pPr algn="ctr">
                  <a:lnSpc>
                    <a:spcPts val="4679"/>
                  </a:lnSpc>
                </a:pPr>
                <a:r>
                  <a:rPr lang="en-US" sz="2599" b="1">
                    <a:solidFill>
                      <a:srgbClr val="FFFFFF"/>
                    </a:solidFill>
                    <a:latin typeface="Calibri (MS) Bold"/>
                    <a:ea typeface="Calibri (MS) Bold"/>
                    <a:cs typeface="Calibri (MS) Bold"/>
                    <a:sym typeface="Calibri (MS) Bold"/>
                  </a:rPr>
                  <a:t>MODELS</a:t>
                </a:r>
              </a:p>
            </p:txBody>
          </p:sp>
        </p:grpSp>
        <p:sp>
          <p:nvSpPr>
            <p:cNvPr id="12" name="AutoShape 12"/>
            <p:cNvSpPr/>
            <p:nvPr/>
          </p:nvSpPr>
          <p:spPr>
            <a:xfrm flipV="1">
              <a:off x="3653886" y="1528788"/>
              <a:ext cx="2791168" cy="0"/>
            </a:xfrm>
            <a:prstGeom prst="line">
              <a:avLst/>
            </a:prstGeom>
            <a:ln w="56622" cap="flat">
              <a:solidFill>
                <a:srgbClr val="165292"/>
              </a:solidFill>
              <a:prstDash val="solid"/>
              <a:headEnd type="none" w="sm" len="sm"/>
              <a:tailEnd type="triangle" w="lg" len="med"/>
            </a:ln>
          </p:spPr>
          <p:txBody>
            <a:bodyPr/>
            <a:lstStyle/>
            <a:p>
              <a:endParaRPr lang="en-US"/>
            </a:p>
          </p:txBody>
        </p:sp>
        <p:sp>
          <p:nvSpPr>
            <p:cNvPr id="13" name="AutoShape 13"/>
            <p:cNvSpPr/>
            <p:nvPr/>
          </p:nvSpPr>
          <p:spPr>
            <a:xfrm flipV="1">
              <a:off x="10980345" y="1557099"/>
              <a:ext cx="2791168" cy="0"/>
            </a:xfrm>
            <a:prstGeom prst="line">
              <a:avLst/>
            </a:prstGeom>
            <a:ln w="56622" cap="flat">
              <a:solidFill>
                <a:srgbClr val="165292"/>
              </a:solidFill>
              <a:prstDash val="solid"/>
              <a:headEnd type="none" w="sm" len="sm"/>
              <a:tailEnd type="triangle" w="lg" len="med"/>
            </a:ln>
          </p:spPr>
          <p:txBody>
            <a:bodyPr/>
            <a:lstStyle/>
            <a:p>
              <a:endParaRPr lang="en-US"/>
            </a:p>
          </p:txBody>
        </p:sp>
        <p:sp>
          <p:nvSpPr>
            <p:cNvPr id="14" name="TextBox 14"/>
            <p:cNvSpPr txBox="1"/>
            <p:nvPr/>
          </p:nvSpPr>
          <p:spPr>
            <a:xfrm>
              <a:off x="14218561" y="1435509"/>
              <a:ext cx="4549046" cy="922401"/>
            </a:xfrm>
            <a:prstGeom prst="rect">
              <a:avLst/>
            </a:prstGeom>
          </p:spPr>
          <p:txBody>
            <a:bodyPr lIns="0" tIns="0" rIns="0" bIns="0" rtlCol="0" anchor="t">
              <a:spAutoFit/>
            </a:bodyPr>
            <a:lstStyle/>
            <a:p>
              <a:pPr algn="ctr">
                <a:lnSpc>
                  <a:spcPts val="6018"/>
                </a:lnSpc>
                <a:spcBef>
                  <a:spcPct val="0"/>
                </a:spcBef>
              </a:pPr>
              <a:r>
                <a:rPr lang="en-US" sz="3343">
                  <a:solidFill>
                    <a:srgbClr val="000000"/>
                  </a:solidFill>
                  <a:latin typeface="Calibri (MS)"/>
                  <a:ea typeface="Calibri (MS)"/>
                  <a:cs typeface="Calibri (MS)"/>
                  <a:sym typeface="Calibri (MS)"/>
                </a:rPr>
                <a:t>Survived (1): 38.4% </a:t>
              </a:r>
            </a:p>
          </p:txBody>
        </p:sp>
        <p:sp>
          <p:nvSpPr>
            <p:cNvPr id="15" name="TextBox 15"/>
            <p:cNvSpPr txBox="1"/>
            <p:nvPr/>
          </p:nvSpPr>
          <p:spPr>
            <a:xfrm>
              <a:off x="14253246" y="640240"/>
              <a:ext cx="5492073" cy="922401"/>
            </a:xfrm>
            <a:prstGeom prst="rect">
              <a:avLst/>
            </a:prstGeom>
          </p:spPr>
          <p:txBody>
            <a:bodyPr lIns="0" tIns="0" rIns="0" bIns="0" rtlCol="0" anchor="t">
              <a:spAutoFit/>
            </a:bodyPr>
            <a:lstStyle/>
            <a:p>
              <a:pPr algn="ctr">
                <a:lnSpc>
                  <a:spcPts val="6018"/>
                </a:lnSpc>
                <a:spcBef>
                  <a:spcPct val="0"/>
                </a:spcBef>
              </a:pPr>
              <a:r>
                <a:rPr lang="en-US" sz="3343">
                  <a:solidFill>
                    <a:srgbClr val="000000"/>
                  </a:solidFill>
                  <a:latin typeface="Calibri (MS)"/>
                  <a:ea typeface="Calibri (MS)"/>
                  <a:cs typeface="Calibri (MS)"/>
                  <a:sym typeface="Calibri (MS)"/>
                </a:rPr>
                <a:t>Not survived (0):  61.6%</a:t>
              </a:r>
            </a:p>
          </p:txBody>
        </p:sp>
      </p:grpSp>
      <p:sp>
        <p:nvSpPr>
          <p:cNvPr id="16" name="TextBox 16"/>
          <p:cNvSpPr txBox="1"/>
          <p:nvPr/>
        </p:nvSpPr>
        <p:spPr>
          <a:xfrm>
            <a:off x="727142" y="1981476"/>
            <a:ext cx="8146059" cy="4302125"/>
          </a:xfrm>
          <a:prstGeom prst="rect">
            <a:avLst/>
          </a:prstGeom>
        </p:spPr>
        <p:txBody>
          <a:bodyPr lIns="0" tIns="0" rIns="0" bIns="0" rtlCol="0" anchor="t">
            <a:spAutoFit/>
          </a:bodyPr>
          <a:lstStyle/>
          <a:p>
            <a:pPr algn="l">
              <a:lnSpc>
                <a:spcPts val="4930"/>
              </a:lnSpc>
            </a:pPr>
            <a:r>
              <a:rPr lang="en-US" sz="2900" b="1">
                <a:solidFill>
                  <a:srgbClr val="262828"/>
                </a:solidFill>
                <a:latin typeface="Public Sans Bold"/>
                <a:ea typeface="Public Sans Bold"/>
                <a:cs typeface="Public Sans Bold"/>
                <a:sym typeface="Public Sans Bold"/>
              </a:rPr>
              <a:t>Vấn đề: </a:t>
            </a:r>
          </a:p>
          <a:p>
            <a:pPr algn="l">
              <a:lnSpc>
                <a:spcPts val="4930"/>
              </a:lnSpc>
            </a:pPr>
            <a:r>
              <a:rPr lang="en-US" sz="2900" b="1">
                <a:solidFill>
                  <a:srgbClr val="262828"/>
                </a:solidFill>
                <a:latin typeface="Public Sans Bold"/>
                <a:ea typeface="Public Sans Bold"/>
                <a:cs typeface="Public Sans Bold"/>
                <a:sym typeface="Public Sans Bold"/>
              </a:rPr>
              <a:t>Đây là bài toán phân loại nhị phân.</a:t>
            </a:r>
          </a:p>
          <a:p>
            <a:pPr marL="626111" lvl="1" indent="-313055" algn="l">
              <a:lnSpc>
                <a:spcPts val="4930"/>
              </a:lnSpc>
              <a:buFont typeface="Arial"/>
              <a:buChar char="•"/>
            </a:pPr>
            <a:r>
              <a:rPr lang="en-US" sz="2900">
                <a:solidFill>
                  <a:srgbClr val="262828"/>
                </a:solidFill>
                <a:latin typeface="Public Sans"/>
                <a:ea typeface="Public Sans"/>
                <a:cs typeface="Public Sans"/>
                <a:sym typeface="Public Sans"/>
              </a:rPr>
              <a:t>Input: Đặc điểm cá nhân và thông tin chuyến đi của hành khách </a:t>
            </a:r>
          </a:p>
          <a:p>
            <a:pPr marL="626111" lvl="1" indent="-313055" algn="l">
              <a:lnSpc>
                <a:spcPts val="4930"/>
              </a:lnSpc>
              <a:buFont typeface="Arial"/>
              <a:buChar char="•"/>
            </a:pPr>
            <a:r>
              <a:rPr lang="en-US" sz="2900">
                <a:solidFill>
                  <a:srgbClr val="262828"/>
                </a:solidFill>
                <a:latin typeface="Public Sans"/>
                <a:ea typeface="Public Sans"/>
                <a:cs typeface="Public Sans"/>
                <a:sym typeface="Public Sans"/>
              </a:rPr>
              <a:t>Output: Dự đoán khả năng sống sót của hành khách (0: không sống sót, 1: sống sót)</a:t>
            </a:r>
          </a:p>
          <a:p>
            <a:pPr marL="0" lvl="0" indent="0" algn="l">
              <a:lnSpc>
                <a:spcPts val="4930"/>
              </a:lnSpc>
            </a:pPr>
            <a:endParaRPr lang="en-US" sz="2900">
              <a:solidFill>
                <a:srgbClr val="262828"/>
              </a:solidFill>
              <a:latin typeface="Public Sans"/>
              <a:ea typeface="Public Sans"/>
              <a:cs typeface="Public Sans"/>
              <a:sym typeface="Public Sans"/>
            </a:endParaRPr>
          </a:p>
        </p:txBody>
      </p:sp>
      <p:sp>
        <p:nvSpPr>
          <p:cNvPr id="17" name="TextBox 17"/>
          <p:cNvSpPr txBox="1"/>
          <p:nvPr/>
        </p:nvSpPr>
        <p:spPr>
          <a:xfrm>
            <a:off x="1028700" y="914400"/>
            <a:ext cx="6453673"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1. Giới thiệu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2"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aphicFrame>
        <p:nvGraphicFramePr>
          <p:cNvPr id="4" name="Object 4"/>
          <p:cNvGraphicFramePr/>
          <p:nvPr/>
        </p:nvGraphicFramePr>
        <p:xfrm>
          <a:off x="3017913" y="4193031"/>
          <a:ext cx="7586157" cy="4274588"/>
        </p:xfrm>
        <a:graphic>
          <a:graphicData uri="http://schemas.openxmlformats.org/presentationml/2006/ole">
            <mc:AlternateContent xmlns:mc="http://schemas.openxmlformats.org/markup-compatibility/2006">
              <mc:Choice xmlns:v="urn:schemas-microsoft-com:vml" Requires="v">
                <p:oleObj name="Worksheet" r:id="rId3" imgW="9105900" imgH="5791200" progId="Excel.Sheet.12">
                  <p:embed/>
                </p:oleObj>
              </mc:Choice>
              <mc:Fallback>
                <p:oleObj name="Worksheet" r:id="rId3" imgW="9105900" imgH="5791200" progId="Excel.Sheet.12">
                  <p:embed/>
                  <p:pic>
                    <p:nvPicPr>
                      <p:cNvPr id="0" name=""/>
                      <p:cNvPicPr/>
                      <p:nvPr/>
                    </p:nvPicPr>
                    <p:blipFill>
                      <a:blip r:embed="rId4"/>
                      <a:stretch>
                        <a:fillRect/>
                      </a:stretch>
                    </p:blipFill>
                    <p:spPr>
                      <a:xfrm>
                        <a:off x="3017913" y="4193031"/>
                        <a:ext cx="7586157" cy="4274588"/>
                      </a:xfrm>
                      <a:prstGeom prst="rect">
                        <a:avLst/>
                      </a:prstGeom>
                    </p:spPr>
                  </p:pic>
                </p:oleObj>
              </mc:Fallback>
            </mc:AlternateContent>
          </a:graphicData>
        </a:graphic>
      </p:graphicFrame>
      <p:sp>
        <p:nvSpPr>
          <p:cNvPr id="5" name="TextBox 5"/>
          <p:cNvSpPr txBox="1"/>
          <p:nvPr/>
        </p:nvSpPr>
        <p:spPr>
          <a:xfrm>
            <a:off x="1772702" y="1837370"/>
            <a:ext cx="14320595" cy="1764935"/>
          </a:xfrm>
          <a:prstGeom prst="rect">
            <a:avLst/>
          </a:prstGeom>
        </p:spPr>
        <p:txBody>
          <a:bodyPr lIns="0" tIns="0" rIns="0" bIns="0" rtlCol="0" anchor="t">
            <a:spAutoFit/>
          </a:bodyPr>
          <a:lstStyle/>
          <a:p>
            <a:pPr algn="l">
              <a:lnSpc>
                <a:spcPts val="4767"/>
              </a:lnSpc>
            </a:pPr>
            <a:r>
              <a:rPr lang="en-US" sz="2804" b="1">
                <a:solidFill>
                  <a:srgbClr val="262828"/>
                </a:solidFill>
                <a:latin typeface="Public Sans Bold"/>
                <a:ea typeface="Public Sans Bold"/>
                <a:cs typeface="Public Sans Bold"/>
                <a:sym typeface="Public Sans Bold"/>
              </a:rPr>
              <a:t>Dữ liệu:</a:t>
            </a:r>
          </a:p>
          <a:p>
            <a:pPr marL="605486" lvl="1" indent="-302743" algn="l">
              <a:lnSpc>
                <a:spcPts val="4767"/>
              </a:lnSpc>
              <a:buFont typeface="Arial"/>
              <a:buChar char="•"/>
            </a:pPr>
            <a:r>
              <a:rPr lang="en-US" sz="2804" b="1">
                <a:solidFill>
                  <a:srgbClr val="262828"/>
                </a:solidFill>
                <a:latin typeface="Public Sans Bold"/>
                <a:ea typeface="Public Sans Bold"/>
                <a:cs typeface="Public Sans Bold"/>
                <a:sym typeface="Public Sans Bold"/>
              </a:rPr>
              <a:t>Bộ dữ liệu Titanic từ Kaggle (891 mẫu huấn luyện, 418 mẫu kiểm thử).</a:t>
            </a:r>
          </a:p>
          <a:p>
            <a:pPr marL="605486" lvl="1" indent="-302743" algn="l">
              <a:lnSpc>
                <a:spcPts val="4767"/>
              </a:lnSpc>
              <a:buFont typeface="Arial"/>
              <a:buChar char="•"/>
            </a:pPr>
            <a:r>
              <a:rPr lang="en-US" sz="2804" b="1" u="sng">
                <a:solidFill>
                  <a:srgbClr val="0A5FBB"/>
                </a:solidFill>
                <a:latin typeface="Public Sans Bold"/>
                <a:ea typeface="Public Sans Bold"/>
                <a:cs typeface="Public Sans Bold"/>
                <a:sym typeface="Public Sans Bold"/>
                <a:hlinkClick r:id="rId5" tooltip="http://titanic"/>
              </a:rPr>
              <a:t>Titanic - Machine Learning from Disaster</a:t>
            </a:r>
          </a:p>
        </p:txBody>
      </p:sp>
      <p:sp>
        <p:nvSpPr>
          <p:cNvPr id="6" name="TextBox 6"/>
          <p:cNvSpPr txBox="1"/>
          <p:nvPr/>
        </p:nvSpPr>
        <p:spPr>
          <a:xfrm>
            <a:off x="1028700" y="914400"/>
            <a:ext cx="6453673"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1. Giới thiệu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952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Freeform 4"/>
          <p:cNvSpPr/>
          <p:nvPr/>
        </p:nvSpPr>
        <p:spPr>
          <a:xfrm>
            <a:off x="8718660" y="3533192"/>
            <a:ext cx="850678" cy="926860"/>
          </a:xfrm>
          <a:custGeom>
            <a:avLst/>
            <a:gdLst/>
            <a:ahLst/>
            <a:cxnLst/>
            <a:rect l="l" t="t" r="r" b="b"/>
            <a:pathLst>
              <a:path w="850678" h="926860">
                <a:moveTo>
                  <a:pt x="0" y="0"/>
                </a:moveTo>
                <a:lnTo>
                  <a:pt x="850678" y="0"/>
                </a:lnTo>
                <a:lnTo>
                  <a:pt x="850678" y="926860"/>
                </a:lnTo>
                <a:lnTo>
                  <a:pt x="0" y="9268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6121576" y="5201189"/>
            <a:ext cx="6044848" cy="1111914"/>
          </a:xfrm>
          <a:prstGeom prst="rect">
            <a:avLst/>
          </a:prstGeom>
        </p:spPr>
        <p:txBody>
          <a:bodyPr lIns="0" tIns="0" rIns="0" bIns="0" rtlCol="0" anchor="t">
            <a:spAutoFit/>
          </a:bodyPr>
          <a:lstStyle/>
          <a:p>
            <a:pPr algn="ctr">
              <a:lnSpc>
                <a:spcPts val="3600"/>
              </a:lnSpc>
            </a:pPr>
            <a:r>
              <a:rPr lang="en-US" sz="2000">
                <a:solidFill>
                  <a:srgbClr val="FFFFFF"/>
                </a:solidFill>
                <a:latin typeface="Calibri (MS)"/>
                <a:ea typeface="Calibri (MS)"/>
                <a:cs typeface="Calibri (MS)"/>
                <a:sym typeface="Calibri (MS)"/>
              </a:rPr>
              <a:t>This Template Is Designed By Zuo An,It Will Help You Make You Report Easy And Fast. </a:t>
            </a:r>
          </a:p>
        </p:txBody>
      </p:sp>
      <p:sp>
        <p:nvSpPr>
          <p:cNvPr id="6" name="AutoShape 6"/>
          <p:cNvSpPr/>
          <p:nvPr/>
        </p:nvSpPr>
        <p:spPr>
          <a:xfrm rot="190706">
            <a:off x="8914948" y="5329344"/>
            <a:ext cx="458105" cy="0"/>
          </a:xfrm>
          <a:prstGeom prst="line">
            <a:avLst/>
          </a:prstGeom>
          <a:ln w="9525" cap="rnd">
            <a:solidFill>
              <a:srgbClr val="FFFFFF"/>
            </a:solidFill>
            <a:prstDash val="solid"/>
            <a:headEnd type="none" w="sm" len="sm"/>
            <a:tailEnd type="none" w="sm" len="sm"/>
          </a:ln>
        </p:spPr>
        <p:txBody>
          <a:bodyPr/>
          <a:lstStyle/>
          <a:p>
            <a:endParaRPr lang="en-US"/>
          </a:p>
        </p:txBody>
      </p:sp>
      <p:grpSp>
        <p:nvGrpSpPr>
          <p:cNvPr id="7" name="Group 7"/>
          <p:cNvGrpSpPr/>
          <p:nvPr/>
        </p:nvGrpSpPr>
        <p:grpSpPr>
          <a:xfrm>
            <a:off x="1742183" y="6010930"/>
            <a:ext cx="6587481" cy="3873076"/>
            <a:chOff x="0" y="0"/>
            <a:chExt cx="1382443" cy="812800"/>
          </a:xfrm>
        </p:grpSpPr>
        <p:sp>
          <p:nvSpPr>
            <p:cNvPr id="8" name="Freeform 8"/>
            <p:cNvSpPr/>
            <p:nvPr/>
          </p:nvSpPr>
          <p:spPr>
            <a:xfrm>
              <a:off x="0" y="0"/>
              <a:ext cx="1382443" cy="812800"/>
            </a:xfrm>
            <a:custGeom>
              <a:avLst/>
              <a:gdLst/>
              <a:ahLst/>
              <a:cxnLst/>
              <a:rect l="l" t="t" r="r" b="b"/>
              <a:pathLst>
                <a:path w="1382443" h="812800">
                  <a:moveTo>
                    <a:pt x="0" y="0"/>
                  </a:moveTo>
                  <a:lnTo>
                    <a:pt x="1382443" y="0"/>
                  </a:lnTo>
                  <a:lnTo>
                    <a:pt x="1382443" y="812800"/>
                  </a:lnTo>
                  <a:lnTo>
                    <a:pt x="0" y="812800"/>
                  </a:lnTo>
                  <a:close/>
                </a:path>
              </a:pathLst>
            </a:custGeom>
            <a:blipFill>
              <a:blip r:embed="rId5"/>
              <a:stretch>
                <a:fillRect t="-3617" b="-3617"/>
              </a:stretch>
            </a:blipFill>
          </p:spPr>
          <p:txBody>
            <a:bodyPr/>
            <a:lstStyle/>
            <a:p>
              <a:endParaRPr lang="en-US"/>
            </a:p>
          </p:txBody>
        </p:sp>
      </p:grpSp>
      <p:sp>
        <p:nvSpPr>
          <p:cNvPr id="9" name="TextBox 9"/>
          <p:cNvSpPr txBox="1"/>
          <p:nvPr/>
        </p:nvSpPr>
        <p:spPr>
          <a:xfrm>
            <a:off x="8329664" y="4664428"/>
            <a:ext cx="1628676" cy="558433"/>
          </a:xfrm>
          <a:prstGeom prst="rect">
            <a:avLst/>
          </a:prstGeom>
        </p:spPr>
        <p:txBody>
          <a:bodyPr lIns="0" tIns="0" rIns="0" bIns="0" rtlCol="0" anchor="t">
            <a:spAutoFit/>
          </a:bodyPr>
          <a:lstStyle/>
          <a:p>
            <a:pPr algn="ctr">
              <a:lnSpc>
                <a:spcPts val="3359"/>
              </a:lnSpc>
            </a:pPr>
            <a:r>
              <a:rPr lang="en-US" sz="2799" b="1">
                <a:solidFill>
                  <a:srgbClr val="FFFFFF"/>
                </a:solidFill>
                <a:latin typeface="Calibri (MS) Bold"/>
                <a:ea typeface="Calibri (MS) Bold"/>
                <a:cs typeface="Calibri (MS) Bold"/>
                <a:sym typeface="Calibri (MS) Bold"/>
              </a:rPr>
              <a:t>Enter title</a:t>
            </a:r>
          </a:p>
        </p:txBody>
      </p:sp>
      <p:sp>
        <p:nvSpPr>
          <p:cNvPr id="10" name="TextBox 10"/>
          <p:cNvSpPr txBox="1"/>
          <p:nvPr/>
        </p:nvSpPr>
        <p:spPr>
          <a:xfrm>
            <a:off x="1742183" y="1822086"/>
            <a:ext cx="14877426" cy="4429804"/>
          </a:xfrm>
          <a:prstGeom prst="rect">
            <a:avLst/>
          </a:prstGeom>
        </p:spPr>
        <p:txBody>
          <a:bodyPr lIns="0" tIns="0" rIns="0" bIns="0" rtlCol="0" anchor="t">
            <a:spAutoFit/>
          </a:bodyPr>
          <a:lstStyle/>
          <a:p>
            <a:pPr algn="l">
              <a:lnSpc>
                <a:spcPts val="5086"/>
              </a:lnSpc>
            </a:pPr>
            <a:r>
              <a:rPr lang="en-US" sz="2992" b="1">
                <a:solidFill>
                  <a:srgbClr val="262828"/>
                </a:solidFill>
                <a:latin typeface="Public Sans Bold"/>
                <a:ea typeface="Public Sans Bold"/>
                <a:cs typeface="Public Sans Bold"/>
                <a:sym typeface="Public Sans Bold"/>
              </a:rPr>
              <a:t>Thử thách: </a:t>
            </a:r>
          </a:p>
          <a:p>
            <a:pPr marL="646035" lvl="1" indent="-323018" algn="l">
              <a:lnSpc>
                <a:spcPts val="5086"/>
              </a:lnSpc>
              <a:buFont typeface="Arial"/>
              <a:buChar char="•"/>
            </a:pPr>
            <a:r>
              <a:rPr lang="en-US" sz="2992">
                <a:solidFill>
                  <a:srgbClr val="262828"/>
                </a:solidFill>
                <a:latin typeface="Public Sans"/>
                <a:ea typeface="Public Sans"/>
                <a:cs typeface="Public Sans"/>
                <a:sym typeface="Public Sans"/>
              </a:rPr>
              <a:t>Dữ liệu chứa nhiều giá trị bị thiếu ở các đặc trưng quan trọng như Age, Cabin, Embarked </a:t>
            </a:r>
          </a:p>
          <a:p>
            <a:pPr marL="646035" lvl="1" indent="-323018" algn="l">
              <a:lnSpc>
                <a:spcPts val="5086"/>
              </a:lnSpc>
              <a:buFont typeface="Arial"/>
              <a:buChar char="•"/>
            </a:pPr>
            <a:r>
              <a:rPr lang="en-US" sz="2992">
                <a:solidFill>
                  <a:srgbClr val="262828"/>
                </a:solidFill>
                <a:latin typeface="Public Sans"/>
                <a:ea typeface="Public Sans"/>
                <a:cs typeface="Public Sans"/>
                <a:sym typeface="Public Sans"/>
              </a:rPr>
              <a:t>Tính không cân bằng giữa số người sống sót và tử vong</a:t>
            </a:r>
          </a:p>
          <a:p>
            <a:pPr marL="646035" lvl="1" indent="-323018" algn="l">
              <a:lnSpc>
                <a:spcPts val="5086"/>
              </a:lnSpc>
              <a:buFont typeface="Arial"/>
              <a:buChar char="•"/>
            </a:pPr>
            <a:r>
              <a:rPr lang="en-US" sz="2992">
                <a:solidFill>
                  <a:srgbClr val="262828"/>
                </a:solidFill>
                <a:latin typeface="Public Sans"/>
                <a:ea typeface="Public Sans"/>
                <a:cs typeface="Public Sans"/>
                <a:sym typeface="Public Sans"/>
              </a:rPr>
              <a:t>Nhiều biến định tính cần xử lý (Sex, PClass, Embarked, …)</a:t>
            </a:r>
          </a:p>
          <a:p>
            <a:pPr marL="646035" lvl="1" indent="-323018" algn="l">
              <a:lnSpc>
                <a:spcPts val="5086"/>
              </a:lnSpc>
              <a:buFont typeface="Arial"/>
              <a:buChar char="•"/>
            </a:pPr>
            <a:r>
              <a:rPr lang="en-US" sz="2992">
                <a:solidFill>
                  <a:srgbClr val="262828"/>
                </a:solidFill>
                <a:latin typeface="Public Sans"/>
                <a:ea typeface="Public Sans"/>
                <a:cs typeface="Public Sans"/>
                <a:sym typeface="Public Sans"/>
              </a:rPr>
              <a:t>Mô hình dữ liệu nhỏ dễ dẫn đến overfitting </a:t>
            </a:r>
          </a:p>
          <a:p>
            <a:pPr marL="0" lvl="0" indent="0" algn="l">
              <a:lnSpc>
                <a:spcPts val="5086"/>
              </a:lnSpc>
            </a:pPr>
            <a:endParaRPr lang="en-US" sz="2992">
              <a:solidFill>
                <a:srgbClr val="262828"/>
              </a:solidFill>
              <a:latin typeface="Public Sans"/>
              <a:ea typeface="Public Sans"/>
              <a:cs typeface="Public Sans"/>
              <a:sym typeface="Public Sans"/>
            </a:endParaRPr>
          </a:p>
        </p:txBody>
      </p:sp>
      <p:grpSp>
        <p:nvGrpSpPr>
          <p:cNvPr id="11" name="Group 11"/>
          <p:cNvGrpSpPr/>
          <p:nvPr/>
        </p:nvGrpSpPr>
        <p:grpSpPr>
          <a:xfrm>
            <a:off x="9749111" y="5603622"/>
            <a:ext cx="7228106" cy="1862714"/>
            <a:chOff x="0" y="0"/>
            <a:chExt cx="3154003" cy="812800"/>
          </a:xfrm>
        </p:grpSpPr>
        <p:sp>
          <p:nvSpPr>
            <p:cNvPr id="12" name="Freeform 12"/>
            <p:cNvSpPr/>
            <p:nvPr/>
          </p:nvSpPr>
          <p:spPr>
            <a:xfrm>
              <a:off x="0" y="0"/>
              <a:ext cx="3154003" cy="812800"/>
            </a:xfrm>
            <a:custGeom>
              <a:avLst/>
              <a:gdLst/>
              <a:ahLst/>
              <a:cxnLst/>
              <a:rect l="l" t="t" r="r" b="b"/>
              <a:pathLst>
                <a:path w="3154003" h="812800">
                  <a:moveTo>
                    <a:pt x="0" y="0"/>
                  </a:moveTo>
                  <a:lnTo>
                    <a:pt x="3154003" y="0"/>
                  </a:lnTo>
                  <a:lnTo>
                    <a:pt x="3154003" y="812800"/>
                  </a:lnTo>
                  <a:lnTo>
                    <a:pt x="0" y="812800"/>
                  </a:lnTo>
                  <a:close/>
                </a:path>
              </a:pathLst>
            </a:custGeom>
            <a:blipFill>
              <a:blip r:embed="rId6"/>
              <a:stretch>
                <a:fillRect t="-4586" b="-4586"/>
              </a:stretch>
            </a:blipFill>
          </p:spPr>
          <p:txBody>
            <a:bodyPr/>
            <a:lstStyle/>
            <a:p>
              <a:endParaRPr lang="en-US"/>
            </a:p>
          </p:txBody>
        </p:sp>
      </p:grpSp>
      <p:grpSp>
        <p:nvGrpSpPr>
          <p:cNvPr id="13" name="Group 13"/>
          <p:cNvGrpSpPr/>
          <p:nvPr/>
        </p:nvGrpSpPr>
        <p:grpSpPr>
          <a:xfrm>
            <a:off x="9958340" y="7946235"/>
            <a:ext cx="7018877" cy="1937771"/>
            <a:chOff x="0" y="0"/>
            <a:chExt cx="2944074" cy="812800"/>
          </a:xfrm>
        </p:grpSpPr>
        <p:sp>
          <p:nvSpPr>
            <p:cNvPr id="14" name="Freeform 14"/>
            <p:cNvSpPr/>
            <p:nvPr/>
          </p:nvSpPr>
          <p:spPr>
            <a:xfrm>
              <a:off x="0" y="0"/>
              <a:ext cx="2944074" cy="812800"/>
            </a:xfrm>
            <a:custGeom>
              <a:avLst/>
              <a:gdLst/>
              <a:ahLst/>
              <a:cxnLst/>
              <a:rect l="l" t="t" r="r" b="b"/>
              <a:pathLst>
                <a:path w="2944074" h="812800">
                  <a:moveTo>
                    <a:pt x="0" y="0"/>
                  </a:moveTo>
                  <a:lnTo>
                    <a:pt x="2944074" y="0"/>
                  </a:lnTo>
                  <a:lnTo>
                    <a:pt x="2944074" y="812800"/>
                  </a:lnTo>
                  <a:lnTo>
                    <a:pt x="0" y="812800"/>
                  </a:lnTo>
                  <a:close/>
                </a:path>
              </a:pathLst>
            </a:custGeom>
            <a:blipFill>
              <a:blip r:embed="rId7"/>
              <a:stretch>
                <a:fillRect l="-1497" r="-1497" b="-24353"/>
              </a:stretch>
            </a:blipFill>
          </p:spPr>
          <p:txBody>
            <a:bodyPr/>
            <a:lstStyle/>
            <a:p>
              <a:endParaRPr lang="en-US"/>
            </a:p>
          </p:txBody>
        </p:sp>
      </p:grpSp>
      <p:sp>
        <p:nvSpPr>
          <p:cNvPr id="15" name="TextBox 15"/>
          <p:cNvSpPr txBox="1"/>
          <p:nvPr/>
        </p:nvSpPr>
        <p:spPr>
          <a:xfrm>
            <a:off x="1028700" y="914400"/>
            <a:ext cx="6453673"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1. Giới thiệu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p:nvPr/>
        </p:nvGrpSpPr>
        <p:grpSpPr>
          <a:xfrm>
            <a:off x="1910446" y="2811869"/>
            <a:ext cx="6088367" cy="4663262"/>
            <a:chOff x="0" y="0"/>
            <a:chExt cx="1463847" cy="1121204"/>
          </a:xfrm>
        </p:grpSpPr>
        <p:sp>
          <p:nvSpPr>
            <p:cNvPr id="5" name="Freeform 5"/>
            <p:cNvSpPr/>
            <p:nvPr/>
          </p:nvSpPr>
          <p:spPr>
            <a:xfrm>
              <a:off x="0" y="0"/>
              <a:ext cx="1463847" cy="1121204"/>
            </a:xfrm>
            <a:custGeom>
              <a:avLst/>
              <a:gdLst/>
              <a:ahLst/>
              <a:cxnLst/>
              <a:rect l="l" t="t" r="r" b="b"/>
              <a:pathLst>
                <a:path w="1463847" h="1121204">
                  <a:moveTo>
                    <a:pt x="0" y="0"/>
                  </a:moveTo>
                  <a:lnTo>
                    <a:pt x="1463847" y="0"/>
                  </a:lnTo>
                  <a:lnTo>
                    <a:pt x="1463847" y="1121204"/>
                  </a:lnTo>
                  <a:lnTo>
                    <a:pt x="0" y="1121204"/>
                  </a:lnTo>
                  <a:close/>
                </a:path>
              </a:pathLst>
            </a:custGeom>
            <a:blipFill>
              <a:blip r:embed="rId3"/>
              <a:stretch>
                <a:fillRect t="-7716" b="-7716"/>
              </a:stretch>
            </a:blipFill>
          </p:spPr>
          <p:txBody>
            <a:bodyPr/>
            <a:lstStyle/>
            <a:p>
              <a:endParaRPr lang="en-US"/>
            </a:p>
          </p:txBody>
        </p:sp>
      </p:grpSp>
      <p:sp>
        <p:nvSpPr>
          <p:cNvPr id="6" name="TextBox 6"/>
          <p:cNvSpPr txBox="1"/>
          <p:nvPr/>
        </p:nvSpPr>
        <p:spPr>
          <a:xfrm>
            <a:off x="1028700" y="914400"/>
            <a:ext cx="1042153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2. Các công việc liên quan </a:t>
            </a:r>
          </a:p>
        </p:txBody>
      </p:sp>
      <p:sp>
        <p:nvSpPr>
          <p:cNvPr id="7" name="TextBox 7"/>
          <p:cNvSpPr txBox="1"/>
          <p:nvPr/>
        </p:nvSpPr>
        <p:spPr>
          <a:xfrm>
            <a:off x="1028700" y="1882714"/>
            <a:ext cx="16230600" cy="646625"/>
          </a:xfrm>
          <a:prstGeom prst="rect">
            <a:avLst/>
          </a:prstGeom>
        </p:spPr>
        <p:txBody>
          <a:bodyPr lIns="0" tIns="0" rIns="0" bIns="0" rtlCol="0" anchor="t">
            <a:spAutoFit/>
          </a:bodyPr>
          <a:lstStyle/>
          <a:p>
            <a:pPr algn="l">
              <a:lnSpc>
                <a:spcPts val="5426"/>
              </a:lnSpc>
            </a:pPr>
            <a:r>
              <a:rPr lang="en-US" sz="3014" b="1">
                <a:solidFill>
                  <a:srgbClr val="000000"/>
                </a:solidFill>
                <a:latin typeface="Public Sans Bold"/>
                <a:ea typeface="Public Sans Bold"/>
                <a:cs typeface="Public Sans Bold"/>
                <a:sym typeface="Public Sans Bold"/>
              </a:rPr>
              <a:t>Classical Models:</a:t>
            </a:r>
          </a:p>
        </p:txBody>
      </p:sp>
      <p:sp>
        <p:nvSpPr>
          <p:cNvPr id="8" name="TextBox 8"/>
          <p:cNvSpPr txBox="1"/>
          <p:nvPr/>
        </p:nvSpPr>
        <p:spPr>
          <a:xfrm>
            <a:off x="1923893" y="7627531"/>
            <a:ext cx="6074920" cy="1600037"/>
          </a:xfrm>
          <a:prstGeom prst="rect">
            <a:avLst/>
          </a:prstGeom>
        </p:spPr>
        <p:txBody>
          <a:bodyPr lIns="0" tIns="0" rIns="0" bIns="0" rtlCol="0" anchor="t">
            <a:spAutoFit/>
          </a:bodyPr>
          <a:lstStyle/>
          <a:p>
            <a:pPr algn="ctr">
              <a:lnSpc>
                <a:spcPts val="4200"/>
              </a:lnSpc>
            </a:pPr>
            <a:r>
              <a:rPr lang="en-US" sz="3000">
                <a:solidFill>
                  <a:srgbClr val="000000"/>
                </a:solidFill>
                <a:latin typeface="Public Sans"/>
                <a:ea typeface="Public Sans"/>
                <a:cs typeface="Public Sans"/>
                <a:sym typeface="Public Sans"/>
              </a:rPr>
              <a:t>Logistic Regression – mô hình tuyến tính cơ bản cho bài toán nhị phân</a:t>
            </a:r>
          </a:p>
        </p:txBody>
      </p:sp>
      <p:grpSp>
        <p:nvGrpSpPr>
          <p:cNvPr id="9" name="Group 9"/>
          <p:cNvGrpSpPr/>
          <p:nvPr/>
        </p:nvGrpSpPr>
        <p:grpSpPr>
          <a:xfrm>
            <a:off x="9903015" y="2811869"/>
            <a:ext cx="6172343" cy="4663262"/>
            <a:chOff x="0" y="0"/>
            <a:chExt cx="1484037" cy="1121204"/>
          </a:xfrm>
        </p:grpSpPr>
        <p:sp>
          <p:nvSpPr>
            <p:cNvPr id="10" name="Freeform 10"/>
            <p:cNvSpPr/>
            <p:nvPr/>
          </p:nvSpPr>
          <p:spPr>
            <a:xfrm>
              <a:off x="0" y="0"/>
              <a:ext cx="1484037" cy="1121204"/>
            </a:xfrm>
            <a:custGeom>
              <a:avLst/>
              <a:gdLst/>
              <a:ahLst/>
              <a:cxnLst/>
              <a:rect l="l" t="t" r="r" b="b"/>
              <a:pathLst>
                <a:path w="1484037" h="1121204">
                  <a:moveTo>
                    <a:pt x="0" y="0"/>
                  </a:moveTo>
                  <a:lnTo>
                    <a:pt x="1484037" y="0"/>
                  </a:lnTo>
                  <a:lnTo>
                    <a:pt x="1484037" y="1121204"/>
                  </a:lnTo>
                  <a:lnTo>
                    <a:pt x="0" y="1121204"/>
                  </a:lnTo>
                  <a:close/>
                </a:path>
              </a:pathLst>
            </a:custGeom>
            <a:blipFill>
              <a:blip r:embed="rId4"/>
              <a:stretch>
                <a:fillRect t="-682" b="-682"/>
              </a:stretch>
            </a:blipFill>
          </p:spPr>
          <p:txBody>
            <a:bodyPr/>
            <a:lstStyle/>
            <a:p>
              <a:endParaRPr lang="en-US"/>
            </a:p>
          </p:txBody>
        </p:sp>
      </p:grpSp>
      <p:sp>
        <p:nvSpPr>
          <p:cNvPr id="11" name="TextBox 11"/>
          <p:cNvSpPr txBox="1"/>
          <p:nvPr/>
        </p:nvSpPr>
        <p:spPr>
          <a:xfrm>
            <a:off x="9903015" y="7573601"/>
            <a:ext cx="6636355" cy="1600037"/>
          </a:xfrm>
          <a:prstGeom prst="rect">
            <a:avLst/>
          </a:prstGeom>
        </p:spPr>
        <p:txBody>
          <a:bodyPr lIns="0" tIns="0" rIns="0" bIns="0" rtlCol="0" anchor="t">
            <a:spAutoFit/>
          </a:bodyPr>
          <a:lstStyle/>
          <a:p>
            <a:pPr algn="ctr">
              <a:lnSpc>
                <a:spcPts val="4200"/>
              </a:lnSpc>
            </a:pPr>
            <a:r>
              <a:rPr lang="en-US" sz="3000">
                <a:solidFill>
                  <a:srgbClr val="000000"/>
                </a:solidFill>
                <a:latin typeface="Public Sans"/>
                <a:ea typeface="Public Sans"/>
                <a:cs typeface="Public Sans"/>
                <a:sym typeface="Public Sans"/>
              </a:rPr>
              <a:t>Support vector machine (SVM) - xử lý dữ liệu nhiều chiều và tìm ra ranh giới phân tách tối ưu giữa các lớp dữ liệu.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p:nvPr/>
        </p:nvGrpSpPr>
        <p:grpSpPr>
          <a:xfrm>
            <a:off x="1416883" y="2720487"/>
            <a:ext cx="7146892" cy="4463730"/>
            <a:chOff x="0" y="0"/>
            <a:chExt cx="1795163" cy="1121204"/>
          </a:xfrm>
        </p:grpSpPr>
        <p:sp>
          <p:nvSpPr>
            <p:cNvPr id="5" name="Freeform 5"/>
            <p:cNvSpPr/>
            <p:nvPr/>
          </p:nvSpPr>
          <p:spPr>
            <a:xfrm>
              <a:off x="0" y="0"/>
              <a:ext cx="1795163" cy="1121204"/>
            </a:xfrm>
            <a:custGeom>
              <a:avLst/>
              <a:gdLst/>
              <a:ahLst/>
              <a:cxnLst/>
              <a:rect l="l" t="t" r="r" b="b"/>
              <a:pathLst>
                <a:path w="1795163" h="1121204">
                  <a:moveTo>
                    <a:pt x="0" y="0"/>
                  </a:moveTo>
                  <a:lnTo>
                    <a:pt x="1795163" y="0"/>
                  </a:lnTo>
                  <a:lnTo>
                    <a:pt x="1795163" y="1121204"/>
                  </a:lnTo>
                  <a:lnTo>
                    <a:pt x="0" y="1121204"/>
                  </a:lnTo>
                  <a:close/>
                </a:path>
              </a:pathLst>
            </a:custGeom>
            <a:blipFill>
              <a:blip r:embed="rId3"/>
              <a:stretch>
                <a:fillRect l="-5517" r="-5517"/>
              </a:stretch>
            </a:blipFill>
          </p:spPr>
          <p:txBody>
            <a:bodyPr/>
            <a:lstStyle/>
            <a:p>
              <a:endParaRPr lang="en-US"/>
            </a:p>
          </p:txBody>
        </p:sp>
      </p:grpSp>
      <p:grpSp>
        <p:nvGrpSpPr>
          <p:cNvPr id="6" name="Group 6"/>
          <p:cNvGrpSpPr/>
          <p:nvPr/>
        </p:nvGrpSpPr>
        <p:grpSpPr>
          <a:xfrm>
            <a:off x="9525992" y="2762475"/>
            <a:ext cx="6982260" cy="4421742"/>
            <a:chOff x="0" y="0"/>
            <a:chExt cx="1737157" cy="1100111"/>
          </a:xfrm>
        </p:grpSpPr>
        <p:sp>
          <p:nvSpPr>
            <p:cNvPr id="7" name="Freeform 7"/>
            <p:cNvSpPr/>
            <p:nvPr/>
          </p:nvSpPr>
          <p:spPr>
            <a:xfrm>
              <a:off x="0" y="0"/>
              <a:ext cx="1737157" cy="1100111"/>
            </a:xfrm>
            <a:custGeom>
              <a:avLst/>
              <a:gdLst/>
              <a:ahLst/>
              <a:cxnLst/>
              <a:rect l="l" t="t" r="r" b="b"/>
              <a:pathLst>
                <a:path w="1737157" h="1100111">
                  <a:moveTo>
                    <a:pt x="0" y="0"/>
                  </a:moveTo>
                  <a:lnTo>
                    <a:pt x="1737157" y="0"/>
                  </a:lnTo>
                  <a:lnTo>
                    <a:pt x="1737157" y="1100111"/>
                  </a:lnTo>
                  <a:lnTo>
                    <a:pt x="0" y="1100111"/>
                  </a:lnTo>
                  <a:close/>
                </a:path>
              </a:pathLst>
            </a:custGeom>
            <a:blipFill>
              <a:blip r:embed="rId4"/>
              <a:stretch>
                <a:fillRect t="-470" b="-470"/>
              </a:stretch>
            </a:blipFill>
          </p:spPr>
          <p:txBody>
            <a:bodyPr/>
            <a:lstStyle/>
            <a:p>
              <a:endParaRPr lang="en-US"/>
            </a:p>
          </p:txBody>
        </p:sp>
      </p:grpSp>
      <p:sp>
        <p:nvSpPr>
          <p:cNvPr id="8" name="TextBox 8"/>
          <p:cNvSpPr txBox="1"/>
          <p:nvPr/>
        </p:nvSpPr>
        <p:spPr>
          <a:xfrm>
            <a:off x="1028700" y="914400"/>
            <a:ext cx="1042153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2. Các công việc liên quan </a:t>
            </a:r>
          </a:p>
        </p:txBody>
      </p:sp>
      <p:sp>
        <p:nvSpPr>
          <p:cNvPr id="9" name="TextBox 9"/>
          <p:cNvSpPr txBox="1"/>
          <p:nvPr/>
        </p:nvSpPr>
        <p:spPr>
          <a:xfrm>
            <a:off x="1028700" y="1882714"/>
            <a:ext cx="16230600" cy="646625"/>
          </a:xfrm>
          <a:prstGeom prst="rect">
            <a:avLst/>
          </a:prstGeom>
        </p:spPr>
        <p:txBody>
          <a:bodyPr lIns="0" tIns="0" rIns="0" bIns="0" rtlCol="0" anchor="t">
            <a:spAutoFit/>
          </a:bodyPr>
          <a:lstStyle/>
          <a:p>
            <a:pPr algn="l">
              <a:lnSpc>
                <a:spcPts val="5426"/>
              </a:lnSpc>
            </a:pPr>
            <a:r>
              <a:rPr lang="en-US" sz="3014" b="1">
                <a:solidFill>
                  <a:srgbClr val="000000"/>
                </a:solidFill>
                <a:latin typeface="Public Sans Bold"/>
                <a:ea typeface="Public Sans Bold"/>
                <a:cs typeface="Public Sans Bold"/>
                <a:sym typeface="Public Sans Bold"/>
              </a:rPr>
              <a:t>Ensemble Models:</a:t>
            </a:r>
          </a:p>
        </p:txBody>
      </p:sp>
      <p:sp>
        <p:nvSpPr>
          <p:cNvPr id="10" name="TextBox 10"/>
          <p:cNvSpPr txBox="1"/>
          <p:nvPr/>
        </p:nvSpPr>
        <p:spPr>
          <a:xfrm>
            <a:off x="1637528" y="7299165"/>
            <a:ext cx="6426416" cy="2133383"/>
          </a:xfrm>
          <a:prstGeom prst="rect">
            <a:avLst/>
          </a:prstGeom>
        </p:spPr>
        <p:txBody>
          <a:bodyPr lIns="0" tIns="0" rIns="0" bIns="0" rtlCol="0" anchor="t">
            <a:spAutoFit/>
          </a:bodyPr>
          <a:lstStyle/>
          <a:p>
            <a:pPr algn="ctr">
              <a:lnSpc>
                <a:spcPts val="4200"/>
              </a:lnSpc>
            </a:pPr>
            <a:r>
              <a:rPr lang="en-US" sz="3000">
                <a:solidFill>
                  <a:srgbClr val="000000"/>
                </a:solidFill>
                <a:latin typeface="Public Sans"/>
                <a:ea typeface="Public Sans"/>
                <a:cs typeface="Public Sans"/>
                <a:sym typeface="Public Sans"/>
              </a:rPr>
              <a:t>Random Forest: kết hợp nhiều cây quyết định huấn luyện độc lập để giảm overfitting và tăng độ chính xác.</a:t>
            </a:r>
          </a:p>
        </p:txBody>
      </p:sp>
      <p:sp>
        <p:nvSpPr>
          <p:cNvPr id="11" name="TextBox 11"/>
          <p:cNvSpPr txBox="1"/>
          <p:nvPr/>
        </p:nvSpPr>
        <p:spPr>
          <a:xfrm>
            <a:off x="9803914" y="7336617"/>
            <a:ext cx="6426416" cy="1600038"/>
          </a:xfrm>
          <a:prstGeom prst="rect">
            <a:avLst/>
          </a:prstGeom>
        </p:spPr>
        <p:txBody>
          <a:bodyPr lIns="0" tIns="0" rIns="0" bIns="0" rtlCol="0" anchor="t">
            <a:spAutoFit/>
          </a:bodyPr>
          <a:lstStyle/>
          <a:p>
            <a:pPr algn="ctr">
              <a:lnSpc>
                <a:spcPts val="4200"/>
              </a:lnSpc>
            </a:pPr>
            <a:r>
              <a:rPr lang="en-US" sz="3000">
                <a:solidFill>
                  <a:srgbClr val="000000"/>
                </a:solidFill>
                <a:latin typeface="Public Sans"/>
                <a:ea typeface="Public Sans"/>
                <a:cs typeface="Public Sans"/>
                <a:sym typeface="Public Sans"/>
              </a:rPr>
              <a:t>XGBoost: xây dựng cây liên tiếp, mỗi cây sửa lỗi của cây trước để tối ưu kết quả dự đoán.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TextBox 4"/>
          <p:cNvSpPr txBox="1"/>
          <p:nvPr/>
        </p:nvSpPr>
        <p:spPr>
          <a:xfrm>
            <a:off x="1028700" y="914400"/>
            <a:ext cx="1042153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2. Các công việc liên quan </a:t>
            </a:r>
          </a:p>
        </p:txBody>
      </p:sp>
      <p:sp>
        <p:nvSpPr>
          <p:cNvPr id="5" name="TextBox 5"/>
          <p:cNvSpPr txBox="1"/>
          <p:nvPr/>
        </p:nvSpPr>
        <p:spPr>
          <a:xfrm>
            <a:off x="1028700" y="1882714"/>
            <a:ext cx="16230600" cy="646598"/>
          </a:xfrm>
          <a:prstGeom prst="rect">
            <a:avLst/>
          </a:prstGeom>
        </p:spPr>
        <p:txBody>
          <a:bodyPr lIns="0" tIns="0" rIns="0" bIns="0" rtlCol="0" anchor="t">
            <a:spAutoFit/>
          </a:bodyPr>
          <a:lstStyle/>
          <a:p>
            <a:pPr algn="l">
              <a:lnSpc>
                <a:spcPts val="5426"/>
              </a:lnSpc>
            </a:pPr>
            <a:r>
              <a:rPr lang="en-US" sz="3014" b="1">
                <a:solidFill>
                  <a:srgbClr val="000000"/>
                </a:solidFill>
                <a:latin typeface="Public Sans Bold"/>
                <a:ea typeface="Public Sans Bold"/>
                <a:cs typeface="Public Sans Bold"/>
                <a:sym typeface="Public Sans Bold"/>
              </a:rPr>
              <a:t>Feature Engineering Approaches:</a:t>
            </a:r>
          </a:p>
        </p:txBody>
      </p:sp>
      <p:grpSp>
        <p:nvGrpSpPr>
          <p:cNvPr id="6" name="Group 6"/>
          <p:cNvGrpSpPr/>
          <p:nvPr/>
        </p:nvGrpSpPr>
        <p:grpSpPr>
          <a:xfrm>
            <a:off x="1028700" y="3140975"/>
            <a:ext cx="9122100" cy="4501924"/>
            <a:chOff x="0" y="0"/>
            <a:chExt cx="1852516" cy="914250"/>
          </a:xfrm>
        </p:grpSpPr>
        <p:sp>
          <p:nvSpPr>
            <p:cNvPr id="7" name="Freeform 7"/>
            <p:cNvSpPr/>
            <p:nvPr/>
          </p:nvSpPr>
          <p:spPr>
            <a:xfrm>
              <a:off x="0" y="0"/>
              <a:ext cx="1852516" cy="914250"/>
            </a:xfrm>
            <a:custGeom>
              <a:avLst/>
              <a:gdLst/>
              <a:ahLst/>
              <a:cxnLst/>
              <a:rect l="l" t="t" r="r" b="b"/>
              <a:pathLst>
                <a:path w="1852516" h="914250">
                  <a:moveTo>
                    <a:pt x="0" y="0"/>
                  </a:moveTo>
                  <a:lnTo>
                    <a:pt x="1852516" y="0"/>
                  </a:lnTo>
                  <a:lnTo>
                    <a:pt x="1852516" y="914250"/>
                  </a:lnTo>
                  <a:lnTo>
                    <a:pt x="0" y="914250"/>
                  </a:lnTo>
                  <a:close/>
                </a:path>
              </a:pathLst>
            </a:custGeom>
            <a:blipFill>
              <a:blip r:embed="rId3"/>
              <a:stretch>
                <a:fillRect t="-8888" b="-8888"/>
              </a:stretch>
            </a:blipFill>
          </p:spPr>
          <p:txBody>
            <a:bodyPr/>
            <a:lstStyle/>
            <a:p>
              <a:endParaRPr lang="en-US"/>
            </a:p>
          </p:txBody>
        </p:sp>
      </p:grpSp>
      <p:sp>
        <p:nvSpPr>
          <p:cNvPr id="8" name="TextBox 8"/>
          <p:cNvSpPr txBox="1"/>
          <p:nvPr/>
        </p:nvSpPr>
        <p:spPr>
          <a:xfrm>
            <a:off x="10141275" y="3487127"/>
            <a:ext cx="7108500" cy="4267200"/>
          </a:xfrm>
          <a:prstGeom prst="rect">
            <a:avLst/>
          </a:prstGeom>
        </p:spPr>
        <p:txBody>
          <a:bodyPr lIns="0" tIns="0" rIns="0" bIns="0" rtlCol="0" anchor="t">
            <a:spAutoFit/>
          </a:bodyPr>
          <a:lstStyle/>
          <a:p>
            <a:pPr marL="647702" lvl="1" indent="-323851" algn="just">
              <a:lnSpc>
                <a:spcPts val="4200"/>
              </a:lnSpc>
              <a:buFont typeface="Arial"/>
              <a:buChar char="•"/>
            </a:pPr>
            <a:r>
              <a:rPr lang="en-US" sz="3000">
                <a:solidFill>
                  <a:srgbClr val="000000"/>
                </a:solidFill>
                <a:latin typeface="Public Sans"/>
                <a:ea typeface="Public Sans"/>
                <a:cs typeface="Public Sans"/>
                <a:sym typeface="Public Sans"/>
              </a:rPr>
              <a:t>Tạo các đặc trưng mới từ các trường dữ liệu có sẵn như: Name, SibSp, Parch, Ticket, ...</a:t>
            </a:r>
          </a:p>
          <a:p>
            <a:pPr algn="just">
              <a:lnSpc>
                <a:spcPts val="4200"/>
              </a:lnSpc>
            </a:pPr>
            <a:endParaRPr lang="en-US" sz="3000">
              <a:solidFill>
                <a:srgbClr val="000000"/>
              </a:solidFill>
              <a:latin typeface="Public Sans"/>
              <a:ea typeface="Public Sans"/>
              <a:cs typeface="Public Sans"/>
              <a:sym typeface="Public Sans"/>
            </a:endParaRPr>
          </a:p>
          <a:p>
            <a:pPr marL="647702" lvl="1" indent="-323851" algn="just">
              <a:lnSpc>
                <a:spcPts val="4200"/>
              </a:lnSpc>
              <a:buFont typeface="Arial"/>
              <a:buChar char="•"/>
            </a:pPr>
            <a:r>
              <a:rPr lang="en-US" sz="3000">
                <a:solidFill>
                  <a:srgbClr val="000000"/>
                </a:solidFill>
                <a:latin typeface="Public Sans"/>
                <a:ea typeface="Public Sans"/>
                <a:cs typeface="Public Sans"/>
                <a:sym typeface="Public Sans"/>
              </a:rPr>
              <a:t>Xử lý dữ liệu bị thiếu bằng trung vị, mode, hoặc dự đoán bằng mô hình phụ trợ</a:t>
            </a:r>
          </a:p>
          <a:p>
            <a:pPr algn="just">
              <a:lnSpc>
                <a:spcPts val="4200"/>
              </a:lnSpc>
            </a:pPr>
            <a:endParaRPr lang="en-US" sz="3000">
              <a:solidFill>
                <a:srgbClr val="000000"/>
              </a:solidFill>
              <a:latin typeface="Public Sans"/>
              <a:ea typeface="Public Sans"/>
              <a:cs typeface="Public Sans"/>
              <a:sym typeface="Public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0759"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p:nvPr/>
        </p:nvGrpSpPr>
        <p:grpSpPr>
          <a:xfrm>
            <a:off x="3877571" y="6984863"/>
            <a:ext cx="10532858" cy="1639025"/>
            <a:chOff x="0" y="0"/>
            <a:chExt cx="9129737" cy="1420685"/>
          </a:xfrm>
        </p:grpSpPr>
        <p:sp>
          <p:nvSpPr>
            <p:cNvPr id="5" name="Freeform 5"/>
            <p:cNvSpPr/>
            <p:nvPr/>
          </p:nvSpPr>
          <p:spPr>
            <a:xfrm>
              <a:off x="0" y="0"/>
              <a:ext cx="9129737" cy="1420685"/>
            </a:xfrm>
            <a:custGeom>
              <a:avLst/>
              <a:gdLst/>
              <a:ahLst/>
              <a:cxnLst/>
              <a:rect l="l" t="t" r="r" b="b"/>
              <a:pathLst>
                <a:path w="9129737" h="1420685">
                  <a:moveTo>
                    <a:pt x="0" y="0"/>
                  </a:moveTo>
                  <a:lnTo>
                    <a:pt x="9129737" y="0"/>
                  </a:lnTo>
                  <a:lnTo>
                    <a:pt x="9129737" y="1420685"/>
                  </a:lnTo>
                  <a:lnTo>
                    <a:pt x="0" y="1420685"/>
                  </a:lnTo>
                  <a:close/>
                </a:path>
              </a:pathLst>
            </a:custGeom>
            <a:blipFill>
              <a:blip r:embed="rId3"/>
              <a:stretch>
                <a:fillRect t="-798" b="-798"/>
              </a:stretch>
            </a:blipFill>
          </p:spPr>
          <p:txBody>
            <a:bodyPr/>
            <a:lstStyle/>
            <a:p>
              <a:endParaRPr lang="en-US"/>
            </a:p>
          </p:txBody>
        </p:sp>
      </p:grpSp>
      <p:grpSp>
        <p:nvGrpSpPr>
          <p:cNvPr id="6" name="Group 6"/>
          <p:cNvGrpSpPr/>
          <p:nvPr/>
        </p:nvGrpSpPr>
        <p:grpSpPr>
          <a:xfrm>
            <a:off x="4156799" y="3736604"/>
            <a:ext cx="9370763" cy="1453807"/>
            <a:chOff x="0" y="0"/>
            <a:chExt cx="9157270" cy="1420685"/>
          </a:xfrm>
        </p:grpSpPr>
        <p:sp>
          <p:nvSpPr>
            <p:cNvPr id="7" name="Freeform 7"/>
            <p:cNvSpPr/>
            <p:nvPr/>
          </p:nvSpPr>
          <p:spPr>
            <a:xfrm>
              <a:off x="0" y="0"/>
              <a:ext cx="9157270" cy="1420685"/>
            </a:xfrm>
            <a:custGeom>
              <a:avLst/>
              <a:gdLst/>
              <a:ahLst/>
              <a:cxnLst/>
              <a:rect l="l" t="t" r="r" b="b"/>
              <a:pathLst>
                <a:path w="9157270" h="1420685">
                  <a:moveTo>
                    <a:pt x="0" y="0"/>
                  </a:moveTo>
                  <a:lnTo>
                    <a:pt x="9157270" y="0"/>
                  </a:lnTo>
                  <a:lnTo>
                    <a:pt x="9157270" y="1420685"/>
                  </a:lnTo>
                  <a:lnTo>
                    <a:pt x="0" y="1420685"/>
                  </a:lnTo>
                  <a:close/>
                </a:path>
              </a:pathLst>
            </a:custGeom>
            <a:blipFill>
              <a:blip r:embed="rId4"/>
              <a:stretch>
                <a:fillRect t="-4309" b="-4309"/>
              </a:stretch>
            </a:blipFill>
          </p:spPr>
          <p:txBody>
            <a:bodyPr/>
            <a:lstStyle/>
            <a:p>
              <a:endParaRPr lang="en-US"/>
            </a:p>
          </p:txBody>
        </p:sp>
      </p:grpSp>
      <p:sp>
        <p:nvSpPr>
          <p:cNvPr id="8" name="TextBox 8"/>
          <p:cNvSpPr txBox="1"/>
          <p:nvPr/>
        </p:nvSpPr>
        <p:spPr>
          <a:xfrm>
            <a:off x="1028700" y="2005393"/>
            <a:ext cx="8146059" cy="645414"/>
          </a:xfrm>
          <a:prstGeom prst="rect">
            <a:avLst/>
          </a:prstGeom>
        </p:spPr>
        <p:txBody>
          <a:bodyPr lIns="0" tIns="0" rIns="0" bIns="0" rtlCol="0" anchor="t">
            <a:spAutoFit/>
          </a:bodyPr>
          <a:lstStyle/>
          <a:p>
            <a:pPr marL="0" lvl="0" indent="0" algn="l">
              <a:lnSpc>
                <a:spcPts val="5416"/>
              </a:lnSpc>
            </a:pPr>
            <a:r>
              <a:rPr lang="en-US" sz="3186" b="1">
                <a:solidFill>
                  <a:srgbClr val="262828"/>
                </a:solidFill>
                <a:latin typeface="Public Sans Bold"/>
                <a:ea typeface="Public Sans Bold"/>
                <a:cs typeface="Public Sans Bold"/>
                <a:sym typeface="Public Sans Bold"/>
              </a:rPr>
              <a:t>Tiêu chí đánh giá mô hình:</a:t>
            </a:r>
          </a:p>
        </p:txBody>
      </p:sp>
      <p:sp>
        <p:nvSpPr>
          <p:cNvPr id="9" name="TextBox 9"/>
          <p:cNvSpPr txBox="1"/>
          <p:nvPr/>
        </p:nvSpPr>
        <p:spPr>
          <a:xfrm>
            <a:off x="1028700" y="914400"/>
            <a:ext cx="1042153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2. Các công việc liên quan </a:t>
            </a:r>
          </a:p>
        </p:txBody>
      </p:sp>
      <p:sp>
        <p:nvSpPr>
          <p:cNvPr id="10" name="TextBox 10"/>
          <p:cNvSpPr txBox="1"/>
          <p:nvPr/>
        </p:nvSpPr>
        <p:spPr>
          <a:xfrm>
            <a:off x="1028700" y="2965133"/>
            <a:ext cx="9370763" cy="447621"/>
          </a:xfrm>
          <a:prstGeom prst="rect">
            <a:avLst/>
          </a:prstGeom>
        </p:spPr>
        <p:txBody>
          <a:bodyPr lIns="0" tIns="0" rIns="0" bIns="0" rtlCol="0" anchor="t">
            <a:spAutoFit/>
          </a:bodyPr>
          <a:lstStyle/>
          <a:p>
            <a:pPr marL="0" lvl="0" indent="0" algn="l">
              <a:lnSpc>
                <a:spcPts val="3483"/>
              </a:lnSpc>
            </a:pPr>
            <a:r>
              <a:rPr lang="en-US" sz="2903" b="1">
                <a:solidFill>
                  <a:srgbClr val="262828"/>
                </a:solidFill>
                <a:latin typeface="Public Sans Bold"/>
                <a:ea typeface="Public Sans Bold"/>
                <a:cs typeface="Public Sans Bold"/>
                <a:sym typeface="Public Sans Bold"/>
              </a:rPr>
              <a:t>Accuracy</a:t>
            </a:r>
            <a:r>
              <a:rPr lang="en-US" sz="2903">
                <a:solidFill>
                  <a:srgbClr val="262828"/>
                </a:solidFill>
                <a:latin typeface="Public Sans"/>
                <a:ea typeface="Public Sans"/>
                <a:cs typeface="Public Sans"/>
                <a:sym typeface="Public Sans"/>
              </a:rPr>
              <a:t>:</a:t>
            </a:r>
            <a:r>
              <a:rPr lang="en-US" sz="2903" b="1">
                <a:solidFill>
                  <a:srgbClr val="262828"/>
                </a:solidFill>
                <a:latin typeface="Public Sans Bold"/>
                <a:ea typeface="Public Sans Bold"/>
                <a:cs typeface="Public Sans Bold"/>
                <a:sym typeface="Public Sans Bold"/>
              </a:rPr>
              <a:t> </a:t>
            </a:r>
            <a:r>
              <a:rPr lang="en-US" sz="2903" u="none" strike="noStrike">
                <a:solidFill>
                  <a:srgbClr val="262828"/>
                </a:solidFill>
                <a:latin typeface="Public Sans"/>
                <a:ea typeface="Public Sans"/>
                <a:cs typeface="Public Sans"/>
                <a:sym typeface="Public Sans"/>
              </a:rPr>
              <a:t>Tỉ lệ dự đoán đúng trên tổng số mẫu</a:t>
            </a:r>
          </a:p>
        </p:txBody>
      </p:sp>
      <p:sp>
        <p:nvSpPr>
          <p:cNvPr id="11" name="TextBox 11"/>
          <p:cNvSpPr txBox="1"/>
          <p:nvPr/>
        </p:nvSpPr>
        <p:spPr>
          <a:xfrm>
            <a:off x="1028700" y="5775296"/>
            <a:ext cx="15626962" cy="885717"/>
          </a:xfrm>
          <a:prstGeom prst="rect">
            <a:avLst/>
          </a:prstGeom>
        </p:spPr>
        <p:txBody>
          <a:bodyPr lIns="0" tIns="0" rIns="0" bIns="0" rtlCol="0" anchor="t">
            <a:spAutoFit/>
          </a:bodyPr>
          <a:lstStyle/>
          <a:p>
            <a:pPr marL="0" lvl="0" indent="0" algn="l">
              <a:lnSpc>
                <a:spcPts val="3483"/>
              </a:lnSpc>
            </a:pPr>
            <a:r>
              <a:rPr lang="en-US" sz="2903" b="1">
                <a:solidFill>
                  <a:srgbClr val="262828"/>
                </a:solidFill>
                <a:latin typeface="Public Sans Bold"/>
                <a:ea typeface="Public Sans Bold"/>
                <a:cs typeface="Public Sans Bold"/>
                <a:sym typeface="Public Sans Bold"/>
              </a:rPr>
              <a:t>Recall</a:t>
            </a:r>
            <a:r>
              <a:rPr lang="en-US" sz="2903">
                <a:solidFill>
                  <a:srgbClr val="262828"/>
                </a:solidFill>
                <a:latin typeface="Public Sans"/>
                <a:ea typeface="Public Sans"/>
                <a:cs typeface="Public Sans"/>
                <a:sym typeface="Public Sans"/>
              </a:rPr>
              <a:t>: Đo lường tỷ lệ dự báo chính xác các trường hợp positive trên toàn bộ các mẫu thuộc nhóm positive.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0759"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p:nvPr/>
        </p:nvGrpSpPr>
        <p:grpSpPr>
          <a:xfrm>
            <a:off x="4566779" y="3850849"/>
            <a:ext cx="9154441" cy="1557868"/>
            <a:chOff x="0" y="0"/>
            <a:chExt cx="8348317" cy="1420685"/>
          </a:xfrm>
        </p:grpSpPr>
        <p:sp>
          <p:nvSpPr>
            <p:cNvPr id="5" name="Freeform 5"/>
            <p:cNvSpPr/>
            <p:nvPr/>
          </p:nvSpPr>
          <p:spPr>
            <a:xfrm>
              <a:off x="0" y="0"/>
              <a:ext cx="8348318" cy="1420685"/>
            </a:xfrm>
            <a:custGeom>
              <a:avLst/>
              <a:gdLst/>
              <a:ahLst/>
              <a:cxnLst/>
              <a:rect l="l" t="t" r="r" b="b"/>
              <a:pathLst>
                <a:path w="8348318" h="1420685">
                  <a:moveTo>
                    <a:pt x="0" y="0"/>
                  </a:moveTo>
                  <a:lnTo>
                    <a:pt x="8348318" y="0"/>
                  </a:lnTo>
                  <a:lnTo>
                    <a:pt x="8348318" y="1420685"/>
                  </a:lnTo>
                  <a:lnTo>
                    <a:pt x="0" y="1420685"/>
                  </a:lnTo>
                  <a:close/>
                </a:path>
              </a:pathLst>
            </a:custGeom>
            <a:blipFill>
              <a:blip r:embed="rId3"/>
              <a:stretch>
                <a:fillRect t="-17543" b="-17543"/>
              </a:stretch>
            </a:blipFill>
          </p:spPr>
          <p:txBody>
            <a:bodyPr/>
            <a:lstStyle/>
            <a:p>
              <a:endParaRPr lang="en-US"/>
            </a:p>
          </p:txBody>
        </p:sp>
      </p:grpSp>
      <p:sp>
        <p:nvSpPr>
          <p:cNvPr id="6" name="TextBox 6"/>
          <p:cNvSpPr txBox="1"/>
          <p:nvPr/>
        </p:nvSpPr>
        <p:spPr>
          <a:xfrm>
            <a:off x="1028700" y="2005393"/>
            <a:ext cx="8146059" cy="645414"/>
          </a:xfrm>
          <a:prstGeom prst="rect">
            <a:avLst/>
          </a:prstGeom>
        </p:spPr>
        <p:txBody>
          <a:bodyPr lIns="0" tIns="0" rIns="0" bIns="0" rtlCol="0" anchor="t">
            <a:spAutoFit/>
          </a:bodyPr>
          <a:lstStyle/>
          <a:p>
            <a:pPr marL="0" lvl="0" indent="0" algn="l">
              <a:lnSpc>
                <a:spcPts val="5416"/>
              </a:lnSpc>
            </a:pPr>
            <a:r>
              <a:rPr lang="en-US" sz="3186" b="1">
                <a:solidFill>
                  <a:srgbClr val="262828"/>
                </a:solidFill>
                <a:latin typeface="Public Sans Bold"/>
                <a:ea typeface="Public Sans Bold"/>
                <a:cs typeface="Public Sans Bold"/>
                <a:sym typeface="Public Sans Bold"/>
              </a:rPr>
              <a:t>Tiêu chí đánh giá mô hình:</a:t>
            </a:r>
          </a:p>
        </p:txBody>
      </p:sp>
      <p:sp>
        <p:nvSpPr>
          <p:cNvPr id="7" name="TextBox 7"/>
          <p:cNvSpPr txBox="1"/>
          <p:nvPr/>
        </p:nvSpPr>
        <p:spPr>
          <a:xfrm>
            <a:off x="1028700" y="914400"/>
            <a:ext cx="1042153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2. Các công việc liên quan </a:t>
            </a:r>
          </a:p>
        </p:txBody>
      </p:sp>
      <p:sp>
        <p:nvSpPr>
          <p:cNvPr id="8" name="TextBox 8"/>
          <p:cNvSpPr txBox="1"/>
          <p:nvPr/>
        </p:nvSpPr>
        <p:spPr>
          <a:xfrm>
            <a:off x="1028700" y="2965133"/>
            <a:ext cx="16230600" cy="885717"/>
          </a:xfrm>
          <a:prstGeom prst="rect">
            <a:avLst/>
          </a:prstGeom>
        </p:spPr>
        <p:txBody>
          <a:bodyPr lIns="0" tIns="0" rIns="0" bIns="0" rtlCol="0" anchor="t">
            <a:spAutoFit/>
          </a:bodyPr>
          <a:lstStyle/>
          <a:p>
            <a:pPr marL="0" lvl="0" indent="0" algn="l">
              <a:lnSpc>
                <a:spcPts val="3483"/>
              </a:lnSpc>
            </a:pPr>
            <a:r>
              <a:rPr lang="en-US" sz="2903" b="1">
                <a:solidFill>
                  <a:srgbClr val="262828"/>
                </a:solidFill>
                <a:latin typeface="Public Sans Bold"/>
                <a:ea typeface="Public Sans Bold"/>
                <a:cs typeface="Public Sans Bold"/>
                <a:sym typeface="Public Sans Bold"/>
              </a:rPr>
              <a:t>F1 - score: </a:t>
            </a:r>
            <a:r>
              <a:rPr lang="en-US" sz="2903">
                <a:solidFill>
                  <a:srgbClr val="262828"/>
                </a:solidFill>
                <a:latin typeface="Public Sans"/>
                <a:ea typeface="Public Sans"/>
                <a:cs typeface="Public Sans"/>
                <a:sym typeface="Public Sans"/>
              </a:rPr>
              <a:t> chỉ số đánh giá độ chính xác tổng hợp giữa Precision (độ chính xác dương) và Recall (độ bao phủ).</a:t>
            </a:r>
          </a:p>
        </p:txBody>
      </p:sp>
      <p:sp>
        <p:nvSpPr>
          <p:cNvPr id="9" name="TextBox 9"/>
          <p:cNvSpPr txBox="1"/>
          <p:nvPr/>
        </p:nvSpPr>
        <p:spPr>
          <a:xfrm>
            <a:off x="1059459" y="5683939"/>
            <a:ext cx="16230600" cy="885717"/>
          </a:xfrm>
          <a:prstGeom prst="rect">
            <a:avLst/>
          </a:prstGeom>
        </p:spPr>
        <p:txBody>
          <a:bodyPr lIns="0" tIns="0" rIns="0" bIns="0" rtlCol="0" anchor="t">
            <a:spAutoFit/>
          </a:bodyPr>
          <a:lstStyle/>
          <a:p>
            <a:pPr marL="0" lvl="0" indent="0" algn="l">
              <a:lnSpc>
                <a:spcPts val="3483"/>
              </a:lnSpc>
            </a:pPr>
            <a:r>
              <a:rPr lang="en-US" sz="2903" b="1">
                <a:solidFill>
                  <a:srgbClr val="262828"/>
                </a:solidFill>
                <a:latin typeface="Public Sans Bold"/>
                <a:ea typeface="Public Sans Bold"/>
                <a:cs typeface="Public Sans Bold"/>
                <a:sym typeface="Public Sans Bold"/>
              </a:rPr>
              <a:t>AUC ROC:  </a:t>
            </a:r>
            <a:r>
              <a:rPr lang="en-US" sz="2903">
                <a:solidFill>
                  <a:srgbClr val="262828"/>
                </a:solidFill>
                <a:latin typeface="Public Sans"/>
                <a:ea typeface="Public Sans"/>
                <a:cs typeface="Public Sans"/>
                <a:sym typeface="Public Sans"/>
              </a:rPr>
              <a:t>một phép đo tổng hợp về hiệu suất của phân loại nhị phân trên tất cả các giá trị ngưỡng có thể có</a:t>
            </a:r>
          </a:p>
        </p:txBody>
      </p:sp>
      <p:grpSp>
        <p:nvGrpSpPr>
          <p:cNvPr id="10" name="Group 10"/>
          <p:cNvGrpSpPr/>
          <p:nvPr/>
        </p:nvGrpSpPr>
        <p:grpSpPr>
          <a:xfrm>
            <a:off x="4116041" y="6532667"/>
            <a:ext cx="10055917" cy="2952806"/>
            <a:chOff x="0" y="0"/>
            <a:chExt cx="8750214" cy="2569401"/>
          </a:xfrm>
        </p:grpSpPr>
        <p:sp>
          <p:nvSpPr>
            <p:cNvPr id="11" name="Freeform 11"/>
            <p:cNvSpPr/>
            <p:nvPr/>
          </p:nvSpPr>
          <p:spPr>
            <a:xfrm>
              <a:off x="0" y="0"/>
              <a:ext cx="8750214" cy="2569401"/>
            </a:xfrm>
            <a:custGeom>
              <a:avLst/>
              <a:gdLst/>
              <a:ahLst/>
              <a:cxnLst/>
              <a:rect l="l" t="t" r="r" b="b"/>
              <a:pathLst>
                <a:path w="8750214" h="2569401">
                  <a:moveTo>
                    <a:pt x="0" y="0"/>
                  </a:moveTo>
                  <a:lnTo>
                    <a:pt x="8750214" y="0"/>
                  </a:lnTo>
                  <a:lnTo>
                    <a:pt x="8750214" y="2569401"/>
                  </a:lnTo>
                  <a:lnTo>
                    <a:pt x="0" y="2569401"/>
                  </a:lnTo>
                  <a:close/>
                </a:path>
              </a:pathLst>
            </a:custGeom>
            <a:blipFill>
              <a:blip r:embed="rId4"/>
              <a:stretch>
                <a:fillRect t="-11887" b="-11887"/>
              </a:stretch>
            </a:blipFill>
          </p:spPr>
          <p:txBody>
            <a:bodyPr/>
            <a:lstStyle/>
            <a:p>
              <a:endParaRPr 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0759"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TextBox 4"/>
          <p:cNvSpPr txBox="1"/>
          <p:nvPr/>
        </p:nvSpPr>
        <p:spPr>
          <a:xfrm>
            <a:off x="1028700" y="914400"/>
            <a:ext cx="1042153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2. Các công việc liên quan </a:t>
            </a:r>
          </a:p>
        </p:txBody>
      </p:sp>
      <p:sp>
        <p:nvSpPr>
          <p:cNvPr id="5" name="TextBox 5"/>
          <p:cNvSpPr txBox="1"/>
          <p:nvPr/>
        </p:nvSpPr>
        <p:spPr>
          <a:xfrm>
            <a:off x="1078766" y="2218804"/>
            <a:ext cx="5285293" cy="447621"/>
          </a:xfrm>
          <a:prstGeom prst="rect">
            <a:avLst/>
          </a:prstGeom>
        </p:spPr>
        <p:txBody>
          <a:bodyPr lIns="0" tIns="0" rIns="0" bIns="0" rtlCol="0" anchor="t">
            <a:spAutoFit/>
          </a:bodyPr>
          <a:lstStyle/>
          <a:p>
            <a:pPr algn="ctr">
              <a:lnSpc>
                <a:spcPts val="3480"/>
              </a:lnSpc>
              <a:spcBef>
                <a:spcPct val="0"/>
              </a:spcBef>
            </a:pPr>
            <a:r>
              <a:rPr lang="en-US" sz="2900" b="1">
                <a:solidFill>
                  <a:srgbClr val="000000"/>
                </a:solidFill>
                <a:latin typeface="Public Sans Bold"/>
                <a:ea typeface="Public Sans Bold"/>
                <a:cs typeface="Public Sans Bold"/>
                <a:sym typeface="Public Sans Bold"/>
              </a:rPr>
              <a:t>Các kỹ thuật tiền xử lý dữ liệu:</a:t>
            </a:r>
          </a:p>
        </p:txBody>
      </p:sp>
      <p:sp>
        <p:nvSpPr>
          <p:cNvPr id="6" name="TextBox 6"/>
          <p:cNvSpPr txBox="1"/>
          <p:nvPr/>
        </p:nvSpPr>
        <p:spPr>
          <a:xfrm>
            <a:off x="1028700" y="3085579"/>
            <a:ext cx="7713275" cy="2200004"/>
          </a:xfrm>
          <a:prstGeom prst="rect">
            <a:avLst/>
          </a:prstGeom>
        </p:spPr>
        <p:txBody>
          <a:bodyPr lIns="0" tIns="0" rIns="0" bIns="0" rtlCol="0" anchor="t">
            <a:spAutoFit/>
          </a:bodyPr>
          <a:lstStyle/>
          <a:p>
            <a:pPr marL="626112" lvl="1" indent="-313056" algn="l">
              <a:lnSpc>
                <a:spcPts val="3480"/>
              </a:lnSpc>
              <a:spcBef>
                <a:spcPct val="0"/>
              </a:spcBef>
              <a:buFont typeface="Arial"/>
              <a:buChar char="•"/>
            </a:pPr>
            <a:r>
              <a:rPr lang="en-US" sz="2900" b="1">
                <a:solidFill>
                  <a:srgbClr val="000000"/>
                </a:solidFill>
                <a:latin typeface="Public Sans Bold"/>
                <a:ea typeface="Public Sans Bold"/>
                <a:cs typeface="Public Sans Bold"/>
                <a:sym typeface="Public Sans Bold"/>
              </a:rPr>
              <a:t>Chuẩn hóa dữ liệu: </a:t>
            </a:r>
            <a:r>
              <a:rPr lang="en-US" sz="2900">
                <a:solidFill>
                  <a:srgbClr val="000000"/>
                </a:solidFill>
                <a:latin typeface="Public Sans"/>
                <a:ea typeface="Public Sans"/>
                <a:cs typeface="Public Sans"/>
                <a:sym typeface="Public Sans"/>
              </a:rPr>
              <a:t>biến đổi các giá trị số trong cùng trường dữ liệu về cùng một thang đo, giúp mô hình ổn định hơn. Hai loại thường được sử dụng là </a:t>
            </a:r>
            <a:r>
              <a:rPr lang="en-US" sz="2900" b="1">
                <a:solidFill>
                  <a:srgbClr val="000000"/>
                </a:solidFill>
                <a:latin typeface="Public Sans Bold"/>
                <a:ea typeface="Public Sans Bold"/>
                <a:cs typeface="Public Sans Bold"/>
                <a:sym typeface="Public Sans Bold"/>
              </a:rPr>
              <a:t>MinMaxScaler </a:t>
            </a:r>
            <a:r>
              <a:rPr lang="en-US" sz="2900">
                <a:solidFill>
                  <a:srgbClr val="000000"/>
                </a:solidFill>
                <a:latin typeface="Public Sans"/>
                <a:ea typeface="Public Sans"/>
                <a:cs typeface="Public Sans"/>
                <a:sym typeface="Public Sans"/>
              </a:rPr>
              <a:t>và </a:t>
            </a:r>
            <a:r>
              <a:rPr lang="en-US" sz="2900" b="1">
                <a:solidFill>
                  <a:srgbClr val="000000"/>
                </a:solidFill>
                <a:latin typeface="Public Sans Bold"/>
                <a:ea typeface="Public Sans Bold"/>
                <a:cs typeface="Public Sans Bold"/>
                <a:sym typeface="Public Sans Bold"/>
              </a:rPr>
              <a:t>StandardScaler</a:t>
            </a:r>
            <a:r>
              <a:rPr lang="en-US" sz="2900">
                <a:solidFill>
                  <a:srgbClr val="000000"/>
                </a:solidFill>
                <a:latin typeface="Public Sans"/>
                <a:ea typeface="Public Sans"/>
                <a:cs typeface="Public Sans"/>
                <a:sym typeface="Public Sans"/>
              </a:rPr>
              <a:t>.</a:t>
            </a:r>
          </a:p>
        </p:txBody>
      </p:sp>
      <p:sp>
        <p:nvSpPr>
          <p:cNvPr id="7" name="TextBox 7"/>
          <p:cNvSpPr txBox="1"/>
          <p:nvPr/>
        </p:nvSpPr>
        <p:spPr>
          <a:xfrm>
            <a:off x="9405325" y="6819900"/>
            <a:ext cx="7485220" cy="2200004"/>
          </a:xfrm>
          <a:prstGeom prst="rect">
            <a:avLst/>
          </a:prstGeom>
        </p:spPr>
        <p:txBody>
          <a:bodyPr lIns="0" tIns="0" rIns="0" bIns="0" rtlCol="0" anchor="t">
            <a:spAutoFit/>
          </a:bodyPr>
          <a:lstStyle/>
          <a:p>
            <a:pPr algn="l">
              <a:lnSpc>
                <a:spcPts val="3480"/>
              </a:lnSpc>
              <a:spcBef>
                <a:spcPct val="0"/>
              </a:spcBef>
            </a:pPr>
            <a:r>
              <a:rPr lang="en-US" sz="2900" b="1">
                <a:solidFill>
                  <a:srgbClr val="000000"/>
                </a:solidFill>
                <a:latin typeface="Public Sans Bold"/>
                <a:ea typeface="Public Sans Bold"/>
                <a:cs typeface="Public Sans Bold"/>
                <a:sym typeface="Public Sans Bold"/>
              </a:rPr>
              <a:t>Mã hóa dữ liệu</a:t>
            </a:r>
            <a:r>
              <a:rPr lang="en-US" sz="2900">
                <a:solidFill>
                  <a:srgbClr val="000000"/>
                </a:solidFill>
                <a:latin typeface="Public Sans"/>
                <a:ea typeface="Public Sans"/>
                <a:cs typeface="Public Sans"/>
                <a:sym typeface="Public Sans"/>
              </a:rPr>
              <a:t>: Là kỹ thuật chuyển đổi dữ liệu định tính (</a:t>
            </a:r>
            <a:r>
              <a:rPr lang="en-US" sz="2900" b="1">
                <a:solidFill>
                  <a:srgbClr val="000000"/>
                </a:solidFill>
                <a:latin typeface="Public Sans Bold"/>
                <a:ea typeface="Public Sans Bold"/>
                <a:cs typeface="Public Sans Bold"/>
                <a:sym typeface="Public Sans Bold"/>
              </a:rPr>
              <a:t>categorical</a:t>
            </a:r>
            <a:r>
              <a:rPr lang="en-US" sz="2900">
                <a:solidFill>
                  <a:srgbClr val="000000"/>
                </a:solidFill>
                <a:latin typeface="Public Sans"/>
                <a:ea typeface="Public Sans"/>
                <a:cs typeface="Public Sans"/>
                <a:sym typeface="Public Sans"/>
              </a:rPr>
              <a:t>) thành dạng số, giúp mô hình học máy có thể hiểu và xử lý được. Hai phương pháp mã hóa phổ biến là </a:t>
            </a:r>
            <a:r>
              <a:rPr lang="en-US" sz="2900" b="1">
                <a:solidFill>
                  <a:srgbClr val="000000"/>
                </a:solidFill>
                <a:latin typeface="Public Sans Bold"/>
                <a:ea typeface="Public Sans Bold"/>
                <a:cs typeface="Public Sans Bold"/>
                <a:sym typeface="Public Sans Bold"/>
              </a:rPr>
              <a:t>Label Encoding</a:t>
            </a:r>
            <a:r>
              <a:rPr lang="en-US" sz="2900">
                <a:solidFill>
                  <a:srgbClr val="000000"/>
                </a:solidFill>
                <a:latin typeface="Public Sans"/>
                <a:ea typeface="Public Sans"/>
                <a:cs typeface="Public Sans"/>
                <a:sym typeface="Public Sans"/>
              </a:rPr>
              <a:t> và </a:t>
            </a:r>
            <a:r>
              <a:rPr lang="en-US" sz="2900" b="1">
                <a:solidFill>
                  <a:srgbClr val="000000"/>
                </a:solidFill>
                <a:latin typeface="Public Sans Bold"/>
                <a:ea typeface="Public Sans Bold"/>
                <a:cs typeface="Public Sans Bold"/>
                <a:sym typeface="Public Sans Bold"/>
              </a:rPr>
              <a:t>One-Hot Encoding.</a:t>
            </a:r>
          </a:p>
        </p:txBody>
      </p:sp>
      <p:grpSp>
        <p:nvGrpSpPr>
          <p:cNvPr id="8" name="Group 8"/>
          <p:cNvGrpSpPr/>
          <p:nvPr/>
        </p:nvGrpSpPr>
        <p:grpSpPr>
          <a:xfrm>
            <a:off x="8741975" y="1847796"/>
            <a:ext cx="8884511" cy="3599619"/>
            <a:chOff x="0" y="0"/>
            <a:chExt cx="5712009" cy="2314259"/>
          </a:xfrm>
        </p:grpSpPr>
        <p:sp>
          <p:nvSpPr>
            <p:cNvPr id="9" name="Freeform 9"/>
            <p:cNvSpPr/>
            <p:nvPr/>
          </p:nvSpPr>
          <p:spPr>
            <a:xfrm>
              <a:off x="0" y="0"/>
              <a:ext cx="5712009" cy="2314259"/>
            </a:xfrm>
            <a:custGeom>
              <a:avLst/>
              <a:gdLst/>
              <a:ahLst/>
              <a:cxnLst/>
              <a:rect l="l" t="t" r="r" b="b"/>
              <a:pathLst>
                <a:path w="5712009" h="2314259">
                  <a:moveTo>
                    <a:pt x="0" y="0"/>
                  </a:moveTo>
                  <a:lnTo>
                    <a:pt x="5712009" y="0"/>
                  </a:lnTo>
                  <a:lnTo>
                    <a:pt x="5712009" y="2314259"/>
                  </a:lnTo>
                  <a:lnTo>
                    <a:pt x="0" y="2314259"/>
                  </a:lnTo>
                  <a:close/>
                </a:path>
              </a:pathLst>
            </a:custGeom>
            <a:blipFill>
              <a:blip r:embed="rId3"/>
              <a:stretch>
                <a:fillRect l="-486" r="-486"/>
              </a:stretch>
            </a:blipFill>
          </p:spPr>
          <p:txBody>
            <a:bodyPr/>
            <a:lstStyle/>
            <a:p>
              <a:endParaRPr lang="en-US"/>
            </a:p>
          </p:txBody>
        </p:sp>
      </p:grpSp>
      <p:grpSp>
        <p:nvGrpSpPr>
          <p:cNvPr id="10" name="Group 10"/>
          <p:cNvGrpSpPr/>
          <p:nvPr/>
        </p:nvGrpSpPr>
        <p:grpSpPr>
          <a:xfrm>
            <a:off x="1576897" y="5714208"/>
            <a:ext cx="6616882" cy="3921231"/>
            <a:chOff x="0" y="0"/>
            <a:chExt cx="3905197" cy="2314259"/>
          </a:xfrm>
        </p:grpSpPr>
        <p:sp>
          <p:nvSpPr>
            <p:cNvPr id="11" name="Freeform 11"/>
            <p:cNvSpPr/>
            <p:nvPr/>
          </p:nvSpPr>
          <p:spPr>
            <a:xfrm>
              <a:off x="0" y="0"/>
              <a:ext cx="3905197" cy="2314259"/>
            </a:xfrm>
            <a:custGeom>
              <a:avLst/>
              <a:gdLst/>
              <a:ahLst/>
              <a:cxnLst/>
              <a:rect l="l" t="t" r="r" b="b"/>
              <a:pathLst>
                <a:path w="3905197" h="2314259">
                  <a:moveTo>
                    <a:pt x="0" y="0"/>
                  </a:moveTo>
                  <a:lnTo>
                    <a:pt x="3905197" y="0"/>
                  </a:lnTo>
                  <a:lnTo>
                    <a:pt x="3905197" y="2314259"/>
                  </a:lnTo>
                  <a:lnTo>
                    <a:pt x="0" y="2314259"/>
                  </a:lnTo>
                  <a:close/>
                </a:path>
              </a:pathLst>
            </a:custGeom>
            <a:blipFill>
              <a:blip r:embed="rId4"/>
              <a:stretch>
                <a:fillRect t="-1268" b="-1268"/>
              </a:stretch>
            </a:blipFill>
          </p:spPr>
          <p:txBody>
            <a:bodyPr/>
            <a:lstStyle/>
            <a:p>
              <a:endParaRPr 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p:nvPr/>
        </p:nvGrpSpPr>
        <p:grpSpPr>
          <a:xfrm>
            <a:off x="1439680" y="3447133"/>
            <a:ext cx="6047492" cy="5184805"/>
            <a:chOff x="0" y="0"/>
            <a:chExt cx="2699323" cy="2314259"/>
          </a:xfrm>
        </p:grpSpPr>
        <p:sp>
          <p:nvSpPr>
            <p:cNvPr id="5" name="Freeform 5"/>
            <p:cNvSpPr/>
            <p:nvPr/>
          </p:nvSpPr>
          <p:spPr>
            <a:xfrm>
              <a:off x="0" y="0"/>
              <a:ext cx="2699323" cy="2314259"/>
            </a:xfrm>
            <a:custGeom>
              <a:avLst/>
              <a:gdLst/>
              <a:ahLst/>
              <a:cxnLst/>
              <a:rect l="l" t="t" r="r" b="b"/>
              <a:pathLst>
                <a:path w="2699323" h="2314259">
                  <a:moveTo>
                    <a:pt x="0" y="0"/>
                  </a:moveTo>
                  <a:lnTo>
                    <a:pt x="2699323" y="0"/>
                  </a:lnTo>
                  <a:lnTo>
                    <a:pt x="2699323" y="2314259"/>
                  </a:lnTo>
                  <a:lnTo>
                    <a:pt x="0" y="2314259"/>
                  </a:lnTo>
                  <a:close/>
                </a:path>
              </a:pathLst>
            </a:custGeom>
            <a:blipFill>
              <a:blip r:embed="rId3"/>
              <a:stretch>
                <a:fillRect l="-2204" r="-2204"/>
              </a:stretch>
            </a:blipFill>
          </p:spPr>
          <p:txBody>
            <a:bodyPr/>
            <a:lstStyle/>
            <a:p>
              <a:endParaRPr lang="en-US"/>
            </a:p>
          </p:txBody>
        </p:sp>
      </p:grpSp>
      <p:sp>
        <p:nvSpPr>
          <p:cNvPr id="6" name="TextBox 6"/>
          <p:cNvSpPr txBox="1"/>
          <p:nvPr/>
        </p:nvSpPr>
        <p:spPr>
          <a:xfrm>
            <a:off x="1313716" y="1683241"/>
            <a:ext cx="5715834" cy="779145"/>
          </a:xfrm>
          <a:prstGeom prst="rect">
            <a:avLst/>
          </a:prstGeom>
        </p:spPr>
        <p:txBody>
          <a:bodyPr lIns="0" tIns="0" rIns="0" bIns="0" rtlCol="0" anchor="t">
            <a:spAutoFit/>
          </a:bodyPr>
          <a:lstStyle/>
          <a:p>
            <a:pPr algn="ctr">
              <a:lnSpc>
                <a:spcPts val="6119"/>
              </a:lnSpc>
              <a:spcBef>
                <a:spcPct val="0"/>
              </a:spcBef>
            </a:pPr>
            <a:r>
              <a:rPr lang="en-US" sz="3399" b="1">
                <a:solidFill>
                  <a:srgbClr val="000000"/>
                </a:solidFill>
                <a:latin typeface="Calibri (MS) Bold"/>
                <a:ea typeface="Calibri (MS) Bold"/>
                <a:cs typeface="Calibri (MS) Bold"/>
                <a:sym typeface="Calibri (MS) Bold"/>
              </a:rPr>
              <a:t>Exploratory data analysis  (EDA)</a:t>
            </a:r>
          </a:p>
        </p:txBody>
      </p:sp>
      <p:sp>
        <p:nvSpPr>
          <p:cNvPr id="7" name="TextBox 7"/>
          <p:cNvSpPr txBox="1"/>
          <p:nvPr/>
        </p:nvSpPr>
        <p:spPr>
          <a:xfrm>
            <a:off x="8523549" y="4134725"/>
            <a:ext cx="8735751" cy="3733421"/>
          </a:xfrm>
          <a:prstGeom prst="rect">
            <a:avLst/>
          </a:prstGeom>
        </p:spPr>
        <p:txBody>
          <a:bodyPr lIns="0" tIns="0" rIns="0" bIns="0" rtlCol="0" anchor="t">
            <a:spAutoFit/>
          </a:bodyPr>
          <a:lstStyle/>
          <a:p>
            <a:pPr algn="just">
              <a:lnSpc>
                <a:spcPts val="4200"/>
              </a:lnSpc>
            </a:pPr>
            <a:r>
              <a:rPr lang="en-US" sz="3000">
                <a:solidFill>
                  <a:srgbClr val="000000"/>
                </a:solidFill>
                <a:latin typeface="Public Sans"/>
                <a:ea typeface="Public Sans"/>
                <a:cs typeface="Public Sans"/>
                <a:sym typeface="Public Sans"/>
              </a:rPr>
              <a:t>Missing value:</a:t>
            </a:r>
          </a:p>
          <a:p>
            <a:pPr marL="647700" lvl="1" indent="-323850" algn="just">
              <a:lnSpc>
                <a:spcPts val="4200"/>
              </a:lnSpc>
              <a:buFont typeface="Arial"/>
              <a:buChar char="•"/>
            </a:pPr>
            <a:r>
              <a:rPr lang="en-US" sz="3000">
                <a:solidFill>
                  <a:srgbClr val="000000"/>
                </a:solidFill>
                <a:latin typeface="Public Sans"/>
                <a:ea typeface="Public Sans"/>
                <a:cs typeface="Public Sans"/>
                <a:sym typeface="Public Sans"/>
              </a:rPr>
              <a:t>Age: thiếu gần 20%</a:t>
            </a:r>
          </a:p>
          <a:p>
            <a:pPr marL="647700" lvl="1" indent="-323850" algn="just">
              <a:lnSpc>
                <a:spcPts val="4200"/>
              </a:lnSpc>
              <a:buFont typeface="Arial"/>
              <a:buChar char="•"/>
            </a:pPr>
            <a:r>
              <a:rPr lang="en-US" sz="3000">
                <a:solidFill>
                  <a:srgbClr val="000000"/>
                </a:solidFill>
                <a:latin typeface="Public Sans"/>
                <a:ea typeface="Public Sans"/>
                <a:cs typeface="Public Sans"/>
                <a:sym typeface="Public Sans"/>
              </a:rPr>
              <a:t>Cabin: thiếu gần 70%</a:t>
            </a:r>
          </a:p>
          <a:p>
            <a:pPr marL="647700" lvl="1" indent="-323850" algn="just">
              <a:lnSpc>
                <a:spcPts val="4200"/>
              </a:lnSpc>
              <a:buFont typeface="Arial"/>
              <a:buChar char="•"/>
            </a:pPr>
            <a:r>
              <a:rPr lang="en-US" sz="3000">
                <a:solidFill>
                  <a:srgbClr val="000000"/>
                </a:solidFill>
                <a:latin typeface="Public Sans"/>
                <a:ea typeface="Public Sans"/>
                <a:cs typeface="Public Sans"/>
                <a:sym typeface="Public Sans"/>
              </a:rPr>
              <a:t>Embarked: thiếu 2 giá trị</a:t>
            </a:r>
          </a:p>
          <a:p>
            <a:pPr algn="just">
              <a:lnSpc>
                <a:spcPts val="4200"/>
              </a:lnSpc>
            </a:pPr>
            <a:r>
              <a:rPr lang="en-US" sz="3000">
                <a:solidFill>
                  <a:srgbClr val="000000"/>
                </a:solidFill>
                <a:latin typeface="Public Sans"/>
                <a:ea typeface="Public Sans"/>
                <a:cs typeface="Public Sans"/>
                <a:sym typeface="Public Sans"/>
              </a:rPr>
              <a:t>=&gt; Dữ liệu cần được xử lý giá trị thiếu và chuyển đổi kiểu dữ liệu (đặc biệt với các biến phân loại) trước khi xây dựng mô hình.</a:t>
            </a:r>
          </a:p>
        </p:txBody>
      </p:sp>
      <p:sp>
        <p:nvSpPr>
          <p:cNvPr id="8" name="TextBox 8"/>
          <p:cNvSpPr txBox="1"/>
          <p:nvPr/>
        </p:nvSpPr>
        <p:spPr>
          <a:xfrm>
            <a:off x="1439680" y="2649987"/>
            <a:ext cx="5715834" cy="533346"/>
          </a:xfrm>
          <a:prstGeom prst="rect">
            <a:avLst/>
          </a:prstGeom>
        </p:spPr>
        <p:txBody>
          <a:bodyPr lIns="0" tIns="0" rIns="0" bIns="0" rtlCol="0" anchor="t">
            <a:spAutoFit/>
          </a:bodyPr>
          <a:lstStyle/>
          <a:p>
            <a:pPr algn="l">
              <a:lnSpc>
                <a:spcPts val="4200"/>
              </a:lnSpc>
            </a:pPr>
            <a:r>
              <a:rPr lang="en-US" sz="3000">
                <a:solidFill>
                  <a:srgbClr val="000000"/>
                </a:solidFill>
                <a:latin typeface="Public Sans"/>
                <a:ea typeface="Public Sans"/>
                <a:cs typeface="Public Sans"/>
                <a:sym typeface="Public Sans"/>
              </a:rPr>
              <a:t>Tập train:</a:t>
            </a:r>
          </a:p>
        </p:txBody>
      </p:sp>
      <p:sp>
        <p:nvSpPr>
          <p:cNvPr id="9" name="TextBox 9"/>
          <p:cNvSpPr txBox="1"/>
          <p:nvPr/>
        </p:nvSpPr>
        <p:spPr>
          <a:xfrm>
            <a:off x="1028700" y="914400"/>
            <a:ext cx="1333969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3. Phương pháp đề xuất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p:nvPr/>
        </p:nvGrpSpPr>
        <p:grpSpPr>
          <a:xfrm>
            <a:off x="2401710" y="2715582"/>
            <a:ext cx="4228780" cy="4002456"/>
            <a:chOff x="0" y="0"/>
            <a:chExt cx="1338216" cy="1266594"/>
          </a:xfrm>
        </p:grpSpPr>
        <p:sp>
          <p:nvSpPr>
            <p:cNvPr id="5" name="Freeform 5"/>
            <p:cNvSpPr/>
            <p:nvPr/>
          </p:nvSpPr>
          <p:spPr>
            <a:xfrm>
              <a:off x="0" y="0"/>
              <a:ext cx="1338216" cy="1266594"/>
            </a:xfrm>
            <a:custGeom>
              <a:avLst/>
              <a:gdLst/>
              <a:ahLst/>
              <a:cxnLst/>
              <a:rect l="l" t="t" r="r" b="b"/>
              <a:pathLst>
                <a:path w="1338216" h="1266594">
                  <a:moveTo>
                    <a:pt x="0" y="0"/>
                  </a:moveTo>
                  <a:lnTo>
                    <a:pt x="1338216" y="0"/>
                  </a:lnTo>
                  <a:lnTo>
                    <a:pt x="1338216" y="1266594"/>
                  </a:lnTo>
                  <a:lnTo>
                    <a:pt x="0" y="1266594"/>
                  </a:lnTo>
                  <a:close/>
                </a:path>
              </a:pathLst>
            </a:custGeom>
            <a:blipFill>
              <a:blip r:embed="rId3"/>
              <a:stretch>
                <a:fillRect t="-1185" b="-1185"/>
              </a:stretch>
            </a:blipFill>
          </p:spPr>
          <p:txBody>
            <a:bodyPr/>
            <a:lstStyle/>
            <a:p>
              <a:endParaRPr lang="en-US"/>
            </a:p>
          </p:txBody>
        </p:sp>
      </p:grpSp>
      <p:grpSp>
        <p:nvGrpSpPr>
          <p:cNvPr id="6" name="Group 6"/>
          <p:cNvGrpSpPr/>
          <p:nvPr/>
        </p:nvGrpSpPr>
        <p:grpSpPr>
          <a:xfrm>
            <a:off x="8753273" y="2462332"/>
            <a:ext cx="8341268" cy="4456646"/>
            <a:chOff x="0" y="0"/>
            <a:chExt cx="2370618" cy="1266594"/>
          </a:xfrm>
        </p:grpSpPr>
        <p:sp>
          <p:nvSpPr>
            <p:cNvPr id="7" name="Freeform 7"/>
            <p:cNvSpPr/>
            <p:nvPr/>
          </p:nvSpPr>
          <p:spPr>
            <a:xfrm>
              <a:off x="0" y="0"/>
              <a:ext cx="2370618" cy="1266594"/>
            </a:xfrm>
            <a:custGeom>
              <a:avLst/>
              <a:gdLst/>
              <a:ahLst/>
              <a:cxnLst/>
              <a:rect l="l" t="t" r="r" b="b"/>
              <a:pathLst>
                <a:path w="2370618" h="1266594">
                  <a:moveTo>
                    <a:pt x="0" y="0"/>
                  </a:moveTo>
                  <a:lnTo>
                    <a:pt x="2370618" y="0"/>
                  </a:lnTo>
                  <a:lnTo>
                    <a:pt x="2370618" y="1266594"/>
                  </a:lnTo>
                  <a:lnTo>
                    <a:pt x="0" y="1266594"/>
                  </a:lnTo>
                  <a:close/>
                </a:path>
              </a:pathLst>
            </a:custGeom>
            <a:blipFill>
              <a:blip r:embed="rId4"/>
              <a:stretch>
                <a:fillRect l="-4456" r="-4456"/>
              </a:stretch>
            </a:blipFill>
          </p:spPr>
          <p:txBody>
            <a:bodyPr/>
            <a:lstStyle/>
            <a:p>
              <a:endParaRPr lang="en-US"/>
            </a:p>
          </p:txBody>
        </p:sp>
      </p:grpSp>
      <p:sp>
        <p:nvSpPr>
          <p:cNvPr id="8" name="TextBox 8"/>
          <p:cNvSpPr txBox="1"/>
          <p:nvPr/>
        </p:nvSpPr>
        <p:spPr>
          <a:xfrm>
            <a:off x="1313795" y="1683241"/>
            <a:ext cx="5715676" cy="779091"/>
          </a:xfrm>
          <a:prstGeom prst="rect">
            <a:avLst/>
          </a:prstGeom>
        </p:spPr>
        <p:txBody>
          <a:bodyPr lIns="0" tIns="0" rIns="0" bIns="0" rtlCol="0" anchor="t">
            <a:spAutoFit/>
          </a:bodyPr>
          <a:lstStyle/>
          <a:p>
            <a:pPr algn="ctr">
              <a:lnSpc>
                <a:spcPts val="6119"/>
              </a:lnSpc>
              <a:spcBef>
                <a:spcPct val="0"/>
              </a:spcBef>
            </a:pPr>
            <a:r>
              <a:rPr lang="en-US" sz="3399" b="1">
                <a:solidFill>
                  <a:srgbClr val="000000"/>
                </a:solidFill>
                <a:latin typeface="Calibri (MS) Bold"/>
                <a:ea typeface="Calibri (MS) Bold"/>
                <a:cs typeface="Calibri (MS) Bold"/>
                <a:sym typeface="Calibri (MS) Bold"/>
              </a:rPr>
              <a:t>Exploratory data analysis  (EDA)</a:t>
            </a:r>
          </a:p>
        </p:txBody>
      </p:sp>
      <p:sp>
        <p:nvSpPr>
          <p:cNvPr id="9" name="TextBox 9"/>
          <p:cNvSpPr txBox="1"/>
          <p:nvPr/>
        </p:nvSpPr>
        <p:spPr>
          <a:xfrm>
            <a:off x="1313795" y="7162702"/>
            <a:ext cx="7404997" cy="1686141"/>
          </a:xfrm>
          <a:prstGeom prst="rect">
            <a:avLst/>
          </a:prstGeom>
        </p:spPr>
        <p:txBody>
          <a:bodyPr lIns="0" tIns="0" rIns="0" bIns="0" rtlCol="0" anchor="t">
            <a:spAutoFit/>
          </a:bodyPr>
          <a:lstStyle/>
          <a:p>
            <a:pPr marL="604516" lvl="1" indent="-302258" algn="l">
              <a:lnSpc>
                <a:spcPts val="3359"/>
              </a:lnSpc>
              <a:buFont typeface="Arial"/>
              <a:buChar char="•"/>
            </a:pPr>
            <a:r>
              <a:rPr lang="en-US" sz="2799">
                <a:solidFill>
                  <a:srgbClr val="000000"/>
                </a:solidFill>
                <a:latin typeface="Public Sans"/>
                <a:ea typeface="Public Sans"/>
                <a:cs typeface="Public Sans"/>
                <a:sym typeface="Public Sans"/>
              </a:rPr>
              <a:t>Tỉ  lệ sống sót ở nữ giới cao hơn  nam giới do ưu tiên “phụ nữ và trẻ em trước”.</a:t>
            </a:r>
          </a:p>
          <a:p>
            <a:pPr marL="604516" lvl="1" indent="-302258" algn="l">
              <a:lnSpc>
                <a:spcPts val="3359"/>
              </a:lnSpc>
              <a:buFont typeface="Arial"/>
              <a:buChar char="•"/>
            </a:pPr>
            <a:r>
              <a:rPr lang="en-US" sz="2799">
                <a:solidFill>
                  <a:srgbClr val="000000"/>
                </a:solidFill>
                <a:latin typeface="Public Sans"/>
                <a:ea typeface="Public Sans"/>
                <a:cs typeface="Public Sans"/>
                <a:sym typeface="Public Sans"/>
              </a:rPr>
              <a:t>Là  biến có sức ảnh hưởng mạnh đến khả năng sống sót</a:t>
            </a:r>
          </a:p>
        </p:txBody>
      </p:sp>
      <p:sp>
        <p:nvSpPr>
          <p:cNvPr id="10" name="TextBox 10"/>
          <p:cNvSpPr txBox="1"/>
          <p:nvPr/>
        </p:nvSpPr>
        <p:spPr>
          <a:xfrm>
            <a:off x="9842002" y="7162702"/>
            <a:ext cx="6903515" cy="1686141"/>
          </a:xfrm>
          <a:prstGeom prst="rect">
            <a:avLst/>
          </a:prstGeom>
        </p:spPr>
        <p:txBody>
          <a:bodyPr lIns="0" tIns="0" rIns="0" bIns="0" rtlCol="0" anchor="t">
            <a:spAutoFit/>
          </a:bodyPr>
          <a:lstStyle/>
          <a:p>
            <a:pPr marL="604516" lvl="1" indent="-302258" algn="l">
              <a:lnSpc>
                <a:spcPts val="3359"/>
              </a:lnSpc>
              <a:buFont typeface="Arial"/>
              <a:buChar char="•"/>
            </a:pPr>
            <a:r>
              <a:rPr lang="en-US" sz="2799">
                <a:solidFill>
                  <a:srgbClr val="000000"/>
                </a:solidFill>
                <a:latin typeface="Public Sans"/>
                <a:ea typeface="Public Sans"/>
                <a:cs typeface="Public Sans"/>
                <a:sym typeface="Public Sans"/>
              </a:rPr>
              <a:t>Phần đa hàng khách đều đi một mình.</a:t>
            </a:r>
          </a:p>
          <a:p>
            <a:pPr marL="604516" lvl="1" indent="-302258" algn="l">
              <a:lnSpc>
                <a:spcPts val="3359"/>
              </a:lnSpc>
              <a:buFont typeface="Arial"/>
              <a:buChar char="•"/>
            </a:pPr>
            <a:r>
              <a:rPr lang="en-US" sz="2799">
                <a:solidFill>
                  <a:srgbClr val="000000"/>
                </a:solidFill>
                <a:latin typeface="Public Sans"/>
                <a:ea typeface="Public Sans"/>
                <a:cs typeface="Public Sans"/>
                <a:sym typeface="Public Sans"/>
              </a:rPr>
              <a:t>Người đi cùng 1-2 người thân có cơ hội sống sót cao hơn so với đi một mình và gia đình có quy mô lớn</a:t>
            </a:r>
          </a:p>
        </p:txBody>
      </p:sp>
      <p:sp>
        <p:nvSpPr>
          <p:cNvPr id="11" name="TextBox 11"/>
          <p:cNvSpPr txBox="1"/>
          <p:nvPr/>
        </p:nvSpPr>
        <p:spPr>
          <a:xfrm>
            <a:off x="1028700" y="914400"/>
            <a:ext cx="1333969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3. Phương pháp đề xuất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p:nvPr/>
        </p:nvGrpSpPr>
        <p:grpSpPr>
          <a:xfrm>
            <a:off x="2824246" y="2708094"/>
            <a:ext cx="3991212" cy="3777602"/>
            <a:chOff x="0" y="0"/>
            <a:chExt cx="1338216" cy="1266594"/>
          </a:xfrm>
        </p:grpSpPr>
        <p:sp>
          <p:nvSpPr>
            <p:cNvPr id="5" name="Freeform 5"/>
            <p:cNvSpPr/>
            <p:nvPr/>
          </p:nvSpPr>
          <p:spPr>
            <a:xfrm>
              <a:off x="0" y="0"/>
              <a:ext cx="1338216" cy="1266594"/>
            </a:xfrm>
            <a:custGeom>
              <a:avLst/>
              <a:gdLst/>
              <a:ahLst/>
              <a:cxnLst/>
              <a:rect l="l" t="t" r="r" b="b"/>
              <a:pathLst>
                <a:path w="1338216" h="1266594">
                  <a:moveTo>
                    <a:pt x="0" y="0"/>
                  </a:moveTo>
                  <a:lnTo>
                    <a:pt x="1338216" y="0"/>
                  </a:lnTo>
                  <a:lnTo>
                    <a:pt x="1338216" y="1266594"/>
                  </a:lnTo>
                  <a:lnTo>
                    <a:pt x="0" y="1266594"/>
                  </a:lnTo>
                  <a:close/>
                </a:path>
              </a:pathLst>
            </a:custGeom>
            <a:blipFill>
              <a:blip r:embed="rId3"/>
              <a:stretch>
                <a:fillRect t="-6158" b="-6158"/>
              </a:stretch>
            </a:blipFill>
          </p:spPr>
          <p:txBody>
            <a:bodyPr/>
            <a:lstStyle/>
            <a:p>
              <a:endParaRPr lang="en-US"/>
            </a:p>
          </p:txBody>
        </p:sp>
      </p:grpSp>
      <p:grpSp>
        <p:nvGrpSpPr>
          <p:cNvPr id="6" name="Group 6"/>
          <p:cNvGrpSpPr/>
          <p:nvPr/>
        </p:nvGrpSpPr>
        <p:grpSpPr>
          <a:xfrm>
            <a:off x="11169606" y="2462332"/>
            <a:ext cx="4184909" cy="4032043"/>
            <a:chOff x="0" y="0"/>
            <a:chExt cx="1337937" cy="1289065"/>
          </a:xfrm>
        </p:grpSpPr>
        <p:sp>
          <p:nvSpPr>
            <p:cNvPr id="7" name="Freeform 7"/>
            <p:cNvSpPr/>
            <p:nvPr/>
          </p:nvSpPr>
          <p:spPr>
            <a:xfrm>
              <a:off x="0" y="0"/>
              <a:ext cx="1337937" cy="1289065"/>
            </a:xfrm>
            <a:custGeom>
              <a:avLst/>
              <a:gdLst/>
              <a:ahLst/>
              <a:cxnLst/>
              <a:rect l="l" t="t" r="r" b="b"/>
              <a:pathLst>
                <a:path w="1337937" h="1289065">
                  <a:moveTo>
                    <a:pt x="0" y="0"/>
                  </a:moveTo>
                  <a:lnTo>
                    <a:pt x="1337937" y="0"/>
                  </a:lnTo>
                  <a:lnTo>
                    <a:pt x="1337937" y="1289065"/>
                  </a:lnTo>
                  <a:lnTo>
                    <a:pt x="0" y="1289065"/>
                  </a:lnTo>
                  <a:close/>
                </a:path>
              </a:pathLst>
            </a:custGeom>
            <a:blipFill>
              <a:blip r:embed="rId4"/>
              <a:stretch>
                <a:fillRect t="-197" b="-197"/>
              </a:stretch>
            </a:blipFill>
          </p:spPr>
          <p:txBody>
            <a:bodyPr/>
            <a:lstStyle/>
            <a:p>
              <a:endParaRPr lang="en-US"/>
            </a:p>
          </p:txBody>
        </p:sp>
      </p:grpSp>
      <p:sp>
        <p:nvSpPr>
          <p:cNvPr id="8" name="TextBox 8"/>
          <p:cNvSpPr txBox="1"/>
          <p:nvPr/>
        </p:nvSpPr>
        <p:spPr>
          <a:xfrm>
            <a:off x="1313795" y="1683241"/>
            <a:ext cx="5715676" cy="779091"/>
          </a:xfrm>
          <a:prstGeom prst="rect">
            <a:avLst/>
          </a:prstGeom>
        </p:spPr>
        <p:txBody>
          <a:bodyPr lIns="0" tIns="0" rIns="0" bIns="0" rtlCol="0" anchor="t">
            <a:spAutoFit/>
          </a:bodyPr>
          <a:lstStyle/>
          <a:p>
            <a:pPr algn="ctr">
              <a:lnSpc>
                <a:spcPts val="6119"/>
              </a:lnSpc>
              <a:spcBef>
                <a:spcPct val="0"/>
              </a:spcBef>
            </a:pPr>
            <a:r>
              <a:rPr lang="en-US" sz="3399" b="1">
                <a:solidFill>
                  <a:srgbClr val="000000"/>
                </a:solidFill>
                <a:latin typeface="Calibri (MS) Bold"/>
                <a:ea typeface="Calibri (MS) Bold"/>
                <a:cs typeface="Calibri (MS) Bold"/>
                <a:sym typeface="Calibri (MS) Bold"/>
              </a:rPr>
              <a:t>Exploratory data analysis  (EDA)</a:t>
            </a:r>
          </a:p>
        </p:txBody>
      </p:sp>
      <p:sp>
        <p:nvSpPr>
          <p:cNvPr id="9" name="TextBox 9"/>
          <p:cNvSpPr txBox="1"/>
          <p:nvPr/>
        </p:nvSpPr>
        <p:spPr>
          <a:xfrm>
            <a:off x="1313795" y="6721933"/>
            <a:ext cx="7517254" cy="2943604"/>
          </a:xfrm>
          <a:prstGeom prst="rect">
            <a:avLst/>
          </a:prstGeom>
        </p:spPr>
        <p:txBody>
          <a:bodyPr lIns="0" tIns="0" rIns="0" bIns="0" rtlCol="0" anchor="t">
            <a:spAutoFit/>
          </a:bodyPr>
          <a:lstStyle/>
          <a:p>
            <a:pPr marL="604519" lvl="1" indent="-302260" algn="l">
              <a:lnSpc>
                <a:spcPts val="3359"/>
              </a:lnSpc>
              <a:buFont typeface="Arial"/>
              <a:buChar char="•"/>
            </a:pPr>
            <a:r>
              <a:rPr lang="en-US" sz="2799">
                <a:solidFill>
                  <a:srgbClr val="000000"/>
                </a:solidFill>
                <a:latin typeface="Public Sans"/>
                <a:ea typeface="Public Sans"/>
                <a:cs typeface="Public Sans"/>
                <a:sym typeface="Public Sans"/>
              </a:rPr>
              <a:t>Hạng vé 1: có khả năng sống cao nhất trong 3 hạng vé</a:t>
            </a:r>
          </a:p>
          <a:p>
            <a:pPr marL="604519" lvl="1" indent="-302260" algn="l">
              <a:lnSpc>
                <a:spcPts val="3359"/>
              </a:lnSpc>
              <a:buFont typeface="Arial"/>
              <a:buChar char="•"/>
            </a:pPr>
            <a:r>
              <a:rPr lang="en-US" sz="2799">
                <a:solidFill>
                  <a:srgbClr val="000000"/>
                </a:solidFill>
                <a:latin typeface="Public Sans"/>
                <a:ea typeface="Public Sans"/>
                <a:cs typeface="Public Sans"/>
                <a:sym typeface="Public Sans"/>
              </a:rPr>
              <a:t>Hạng vé  3: chiếm đa số nhưng tử vong nhiều hơn  </a:t>
            </a:r>
          </a:p>
          <a:p>
            <a:pPr algn="l">
              <a:lnSpc>
                <a:spcPts val="3359"/>
              </a:lnSpc>
            </a:pPr>
            <a:r>
              <a:rPr lang="en-US" sz="2799">
                <a:solidFill>
                  <a:srgbClr val="000000"/>
                </a:solidFill>
                <a:latin typeface="Public Sans"/>
                <a:ea typeface="Public Sans"/>
                <a:cs typeface="Public Sans"/>
                <a:sym typeface="Public Sans"/>
              </a:rPr>
              <a:t>    =&gt; địa vị xã hội và vị trí khoang tàu ảnh hưởng mạnh đến cơ hội sống sót.</a:t>
            </a:r>
          </a:p>
          <a:p>
            <a:pPr algn="l">
              <a:lnSpc>
                <a:spcPts val="3359"/>
              </a:lnSpc>
            </a:pPr>
            <a:endParaRPr lang="en-US" sz="2799">
              <a:solidFill>
                <a:srgbClr val="000000"/>
              </a:solidFill>
              <a:latin typeface="Public Sans"/>
              <a:ea typeface="Public Sans"/>
              <a:cs typeface="Public Sans"/>
              <a:sym typeface="Public Sans"/>
            </a:endParaRPr>
          </a:p>
        </p:txBody>
      </p:sp>
      <p:sp>
        <p:nvSpPr>
          <p:cNvPr id="10" name="TextBox 10"/>
          <p:cNvSpPr txBox="1"/>
          <p:nvPr/>
        </p:nvSpPr>
        <p:spPr>
          <a:xfrm>
            <a:off x="9893857" y="6721933"/>
            <a:ext cx="7129293" cy="2524450"/>
          </a:xfrm>
          <a:prstGeom prst="rect">
            <a:avLst/>
          </a:prstGeom>
        </p:spPr>
        <p:txBody>
          <a:bodyPr lIns="0" tIns="0" rIns="0" bIns="0" rtlCol="0" anchor="t">
            <a:spAutoFit/>
          </a:bodyPr>
          <a:lstStyle/>
          <a:p>
            <a:pPr marL="604519" lvl="1" indent="-302260" algn="l">
              <a:lnSpc>
                <a:spcPts val="3359"/>
              </a:lnSpc>
              <a:buFont typeface="Arial"/>
              <a:buChar char="•"/>
            </a:pPr>
            <a:r>
              <a:rPr lang="en-US" sz="2799">
                <a:solidFill>
                  <a:srgbClr val="000000"/>
                </a:solidFill>
                <a:latin typeface="Public Sans"/>
                <a:ea typeface="Public Sans"/>
                <a:cs typeface="Public Sans"/>
                <a:sym typeface="Public Sans"/>
              </a:rPr>
              <a:t>Cảng S: số lượng khách đông nhất và có tỉ lệ không sống sót cao nhất</a:t>
            </a:r>
          </a:p>
          <a:p>
            <a:pPr marL="604519" lvl="1" indent="-302260" algn="l">
              <a:lnSpc>
                <a:spcPts val="3359"/>
              </a:lnSpc>
              <a:buFont typeface="Arial"/>
              <a:buChar char="•"/>
            </a:pPr>
            <a:r>
              <a:rPr lang="en-US" sz="2799">
                <a:solidFill>
                  <a:srgbClr val="000000"/>
                </a:solidFill>
                <a:latin typeface="Public Sans"/>
                <a:ea typeface="Public Sans"/>
                <a:cs typeface="Public Sans"/>
                <a:sym typeface="Public Sans"/>
              </a:rPr>
              <a:t>Cảng C: số người sống sót và không sống sót gần bằng nhau nhưng tỉ lệ sống sót cao nhất trong 3 cảng.</a:t>
            </a:r>
          </a:p>
          <a:p>
            <a:pPr algn="l">
              <a:lnSpc>
                <a:spcPts val="3359"/>
              </a:lnSpc>
            </a:pPr>
            <a:endParaRPr lang="en-US" sz="2799">
              <a:solidFill>
                <a:srgbClr val="000000"/>
              </a:solidFill>
              <a:latin typeface="Public Sans"/>
              <a:ea typeface="Public Sans"/>
              <a:cs typeface="Public Sans"/>
              <a:sym typeface="Public Sans"/>
            </a:endParaRPr>
          </a:p>
        </p:txBody>
      </p:sp>
      <p:sp>
        <p:nvSpPr>
          <p:cNvPr id="11" name="TextBox 11"/>
          <p:cNvSpPr txBox="1"/>
          <p:nvPr/>
        </p:nvSpPr>
        <p:spPr>
          <a:xfrm>
            <a:off x="1028700" y="914400"/>
            <a:ext cx="1333969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3. Phương pháp đề xuất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p:nvPr/>
        </p:nvGrpSpPr>
        <p:grpSpPr>
          <a:xfrm>
            <a:off x="2138379" y="2593504"/>
            <a:ext cx="5642824" cy="4323324"/>
            <a:chOff x="0" y="0"/>
            <a:chExt cx="1653165" cy="1266594"/>
          </a:xfrm>
        </p:grpSpPr>
        <p:sp>
          <p:nvSpPr>
            <p:cNvPr id="5" name="Freeform 5"/>
            <p:cNvSpPr/>
            <p:nvPr/>
          </p:nvSpPr>
          <p:spPr>
            <a:xfrm>
              <a:off x="0" y="0"/>
              <a:ext cx="1653165" cy="1266594"/>
            </a:xfrm>
            <a:custGeom>
              <a:avLst/>
              <a:gdLst/>
              <a:ahLst/>
              <a:cxnLst/>
              <a:rect l="l" t="t" r="r" b="b"/>
              <a:pathLst>
                <a:path w="1653165" h="1266594">
                  <a:moveTo>
                    <a:pt x="0" y="0"/>
                  </a:moveTo>
                  <a:lnTo>
                    <a:pt x="1653165" y="0"/>
                  </a:lnTo>
                  <a:lnTo>
                    <a:pt x="1653165" y="1266594"/>
                  </a:lnTo>
                  <a:lnTo>
                    <a:pt x="0" y="1266594"/>
                  </a:lnTo>
                  <a:close/>
                </a:path>
              </a:pathLst>
            </a:custGeom>
            <a:blipFill>
              <a:blip r:embed="rId3"/>
              <a:stretch>
                <a:fillRect t="-576" b="-576"/>
              </a:stretch>
            </a:blipFill>
          </p:spPr>
          <p:txBody>
            <a:bodyPr/>
            <a:lstStyle/>
            <a:p>
              <a:endParaRPr lang="en-US"/>
            </a:p>
          </p:txBody>
        </p:sp>
      </p:grpSp>
      <p:grpSp>
        <p:nvGrpSpPr>
          <p:cNvPr id="6" name="Group 6"/>
          <p:cNvGrpSpPr/>
          <p:nvPr/>
        </p:nvGrpSpPr>
        <p:grpSpPr>
          <a:xfrm>
            <a:off x="10919151" y="2593504"/>
            <a:ext cx="5374620" cy="4117836"/>
            <a:chOff x="0" y="0"/>
            <a:chExt cx="1653165" cy="1266594"/>
          </a:xfrm>
        </p:grpSpPr>
        <p:sp>
          <p:nvSpPr>
            <p:cNvPr id="7" name="Freeform 7"/>
            <p:cNvSpPr/>
            <p:nvPr/>
          </p:nvSpPr>
          <p:spPr>
            <a:xfrm>
              <a:off x="0" y="0"/>
              <a:ext cx="1653165" cy="1266594"/>
            </a:xfrm>
            <a:custGeom>
              <a:avLst/>
              <a:gdLst/>
              <a:ahLst/>
              <a:cxnLst/>
              <a:rect l="l" t="t" r="r" b="b"/>
              <a:pathLst>
                <a:path w="1653165" h="1266594">
                  <a:moveTo>
                    <a:pt x="0" y="0"/>
                  </a:moveTo>
                  <a:lnTo>
                    <a:pt x="1653165" y="0"/>
                  </a:lnTo>
                  <a:lnTo>
                    <a:pt x="1653165" y="1266594"/>
                  </a:lnTo>
                  <a:lnTo>
                    <a:pt x="0" y="1266594"/>
                  </a:lnTo>
                  <a:close/>
                </a:path>
              </a:pathLst>
            </a:custGeom>
            <a:blipFill>
              <a:blip r:embed="rId4"/>
              <a:stretch>
                <a:fillRect t="-1640" b="-1640"/>
              </a:stretch>
            </a:blipFill>
          </p:spPr>
          <p:txBody>
            <a:bodyPr/>
            <a:lstStyle/>
            <a:p>
              <a:endParaRPr lang="en-US"/>
            </a:p>
          </p:txBody>
        </p:sp>
      </p:grpSp>
      <p:sp>
        <p:nvSpPr>
          <p:cNvPr id="8" name="TextBox 8"/>
          <p:cNvSpPr txBox="1"/>
          <p:nvPr/>
        </p:nvSpPr>
        <p:spPr>
          <a:xfrm>
            <a:off x="1028700" y="914400"/>
            <a:ext cx="1333969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3. Phương pháp đề xuất</a:t>
            </a:r>
          </a:p>
        </p:txBody>
      </p:sp>
      <p:sp>
        <p:nvSpPr>
          <p:cNvPr id="9" name="TextBox 9"/>
          <p:cNvSpPr txBox="1"/>
          <p:nvPr/>
        </p:nvSpPr>
        <p:spPr>
          <a:xfrm>
            <a:off x="1313795" y="1683241"/>
            <a:ext cx="5715676" cy="779091"/>
          </a:xfrm>
          <a:prstGeom prst="rect">
            <a:avLst/>
          </a:prstGeom>
        </p:spPr>
        <p:txBody>
          <a:bodyPr lIns="0" tIns="0" rIns="0" bIns="0" rtlCol="0" anchor="t">
            <a:spAutoFit/>
          </a:bodyPr>
          <a:lstStyle/>
          <a:p>
            <a:pPr algn="ctr">
              <a:lnSpc>
                <a:spcPts val="6119"/>
              </a:lnSpc>
              <a:spcBef>
                <a:spcPct val="0"/>
              </a:spcBef>
            </a:pPr>
            <a:r>
              <a:rPr lang="en-US" sz="3399" b="1">
                <a:solidFill>
                  <a:srgbClr val="000000"/>
                </a:solidFill>
                <a:latin typeface="Calibri (MS) Bold"/>
                <a:ea typeface="Calibri (MS) Bold"/>
                <a:cs typeface="Calibri (MS) Bold"/>
                <a:sym typeface="Calibri (MS) Bold"/>
              </a:rPr>
              <a:t>Exploratory data analysis  (EDA)</a:t>
            </a:r>
          </a:p>
        </p:txBody>
      </p:sp>
      <p:sp>
        <p:nvSpPr>
          <p:cNvPr id="10" name="TextBox 10"/>
          <p:cNvSpPr txBox="1"/>
          <p:nvPr/>
        </p:nvSpPr>
        <p:spPr>
          <a:xfrm>
            <a:off x="1313795" y="7185030"/>
            <a:ext cx="7728703" cy="2201274"/>
          </a:xfrm>
          <a:prstGeom prst="rect">
            <a:avLst/>
          </a:prstGeom>
        </p:spPr>
        <p:txBody>
          <a:bodyPr lIns="0" tIns="0" rIns="0" bIns="0" rtlCol="0" anchor="t">
            <a:spAutoFit/>
          </a:bodyPr>
          <a:lstStyle/>
          <a:p>
            <a:pPr marL="604521" lvl="1" indent="-302261" algn="l">
              <a:lnSpc>
                <a:spcPts val="3500"/>
              </a:lnSpc>
              <a:buFont typeface="Arial"/>
              <a:buChar char="•"/>
            </a:pPr>
            <a:r>
              <a:rPr lang="en-US" sz="2800">
                <a:solidFill>
                  <a:srgbClr val="000000"/>
                </a:solidFill>
                <a:latin typeface="Public Sans"/>
                <a:ea typeface="Public Sans"/>
                <a:cs typeface="Public Sans"/>
                <a:sym typeface="Public Sans"/>
              </a:rPr>
              <a:t>Biến Age phân bố gần chuẩn, tập trung chủ yếu ở 18–40 tuổi.</a:t>
            </a:r>
          </a:p>
          <a:p>
            <a:pPr marL="604521" lvl="1" indent="-302261" algn="l">
              <a:lnSpc>
                <a:spcPts val="3500"/>
              </a:lnSpc>
              <a:buFont typeface="Arial"/>
              <a:buChar char="•"/>
            </a:pPr>
            <a:r>
              <a:rPr lang="en-US" sz="2800">
                <a:solidFill>
                  <a:srgbClr val="000000"/>
                </a:solidFill>
                <a:latin typeface="Public Sans"/>
                <a:ea typeface="Public Sans"/>
                <a:cs typeface="Public Sans"/>
                <a:sym typeface="Public Sans"/>
              </a:rPr>
              <a:t>Người tử vong phần lớn trong nhóm 20–40, trong khi trẻ em (&lt;10) có tỷ lệ sống cao hơn → tuổi càng nhỏ, cơ hội sống càng lớn</a:t>
            </a:r>
          </a:p>
        </p:txBody>
      </p:sp>
      <p:sp>
        <p:nvSpPr>
          <p:cNvPr id="11" name="TextBox 11"/>
          <p:cNvSpPr txBox="1"/>
          <p:nvPr/>
        </p:nvSpPr>
        <p:spPr>
          <a:xfrm>
            <a:off x="9722576" y="7194555"/>
            <a:ext cx="7767770" cy="2629845"/>
          </a:xfrm>
          <a:prstGeom prst="rect">
            <a:avLst/>
          </a:prstGeom>
        </p:spPr>
        <p:txBody>
          <a:bodyPr lIns="0" tIns="0" rIns="0" bIns="0" rtlCol="0" anchor="t">
            <a:spAutoFit/>
          </a:bodyPr>
          <a:lstStyle/>
          <a:p>
            <a:pPr marL="604519" lvl="1" indent="-302260" algn="l">
              <a:lnSpc>
                <a:spcPts val="3499"/>
              </a:lnSpc>
              <a:buFont typeface="Arial"/>
              <a:buChar char="•"/>
            </a:pPr>
            <a:r>
              <a:rPr lang="en-US" sz="2799">
                <a:solidFill>
                  <a:srgbClr val="000000"/>
                </a:solidFill>
                <a:latin typeface="Public Sans"/>
                <a:ea typeface="Public Sans"/>
                <a:cs typeface="Public Sans"/>
                <a:sym typeface="Public Sans"/>
              </a:rPr>
              <a:t>Hành khách hạng 1 có giá vé cao nhất và tỉ lệ sống sót lớn hơn rõ rệt.</a:t>
            </a:r>
          </a:p>
          <a:p>
            <a:pPr marL="604519" lvl="1" indent="-302260" algn="l">
              <a:lnSpc>
                <a:spcPts val="3499"/>
              </a:lnSpc>
              <a:buFont typeface="Arial"/>
              <a:buChar char="•"/>
            </a:pPr>
            <a:r>
              <a:rPr lang="en-US" sz="2799">
                <a:solidFill>
                  <a:srgbClr val="000000"/>
                </a:solidFill>
                <a:latin typeface="Public Sans"/>
                <a:ea typeface="Public Sans"/>
                <a:cs typeface="Public Sans"/>
                <a:sym typeface="Public Sans"/>
              </a:rPr>
              <a:t>Hạng 3 có giá vé thấp nhất, đa phần không sống sót.</a:t>
            </a:r>
          </a:p>
          <a:p>
            <a:pPr algn="l">
              <a:lnSpc>
                <a:spcPts val="3499"/>
              </a:lnSpc>
            </a:pPr>
            <a:r>
              <a:rPr lang="en-US" sz="2799">
                <a:solidFill>
                  <a:srgbClr val="000000"/>
                </a:solidFill>
                <a:latin typeface="Public Sans"/>
                <a:ea typeface="Public Sans"/>
                <a:cs typeface="Public Sans"/>
                <a:sym typeface="Public Sans"/>
              </a:rPr>
              <a:t>=&gt; Trong mỗi hạng vé, người trả giá vé cao hơn có xu hướng sống sót cao hơn.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p:nvPr/>
        </p:nvGrpSpPr>
        <p:grpSpPr>
          <a:xfrm>
            <a:off x="1028700" y="2809188"/>
            <a:ext cx="7340574" cy="5472943"/>
            <a:chOff x="0" y="0"/>
            <a:chExt cx="1917545" cy="1429672"/>
          </a:xfrm>
        </p:grpSpPr>
        <p:sp>
          <p:nvSpPr>
            <p:cNvPr id="5" name="Freeform 5"/>
            <p:cNvSpPr/>
            <p:nvPr/>
          </p:nvSpPr>
          <p:spPr>
            <a:xfrm>
              <a:off x="0" y="0"/>
              <a:ext cx="1917545" cy="1429672"/>
            </a:xfrm>
            <a:custGeom>
              <a:avLst/>
              <a:gdLst/>
              <a:ahLst/>
              <a:cxnLst/>
              <a:rect l="l" t="t" r="r" b="b"/>
              <a:pathLst>
                <a:path w="1917545" h="1429672">
                  <a:moveTo>
                    <a:pt x="0" y="0"/>
                  </a:moveTo>
                  <a:lnTo>
                    <a:pt x="1917545" y="0"/>
                  </a:lnTo>
                  <a:lnTo>
                    <a:pt x="1917545" y="1429672"/>
                  </a:lnTo>
                  <a:lnTo>
                    <a:pt x="0" y="1429672"/>
                  </a:lnTo>
                  <a:close/>
                </a:path>
              </a:pathLst>
            </a:custGeom>
            <a:blipFill>
              <a:blip r:embed="rId3"/>
              <a:stretch>
                <a:fillRect l="-126" r="-126"/>
              </a:stretch>
            </a:blipFill>
          </p:spPr>
          <p:txBody>
            <a:bodyPr/>
            <a:lstStyle/>
            <a:p>
              <a:endParaRPr lang="en-US"/>
            </a:p>
          </p:txBody>
        </p:sp>
      </p:grpSp>
      <p:sp>
        <p:nvSpPr>
          <p:cNvPr id="6" name="TextBox 6"/>
          <p:cNvSpPr txBox="1"/>
          <p:nvPr/>
        </p:nvSpPr>
        <p:spPr>
          <a:xfrm>
            <a:off x="1028700" y="914400"/>
            <a:ext cx="1333969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3. Phương pháp đề xuất</a:t>
            </a:r>
          </a:p>
        </p:txBody>
      </p:sp>
      <p:sp>
        <p:nvSpPr>
          <p:cNvPr id="7" name="TextBox 7"/>
          <p:cNvSpPr txBox="1"/>
          <p:nvPr/>
        </p:nvSpPr>
        <p:spPr>
          <a:xfrm>
            <a:off x="1313795" y="1683241"/>
            <a:ext cx="5715676" cy="779091"/>
          </a:xfrm>
          <a:prstGeom prst="rect">
            <a:avLst/>
          </a:prstGeom>
        </p:spPr>
        <p:txBody>
          <a:bodyPr lIns="0" tIns="0" rIns="0" bIns="0" rtlCol="0" anchor="t">
            <a:spAutoFit/>
          </a:bodyPr>
          <a:lstStyle/>
          <a:p>
            <a:pPr algn="ctr">
              <a:lnSpc>
                <a:spcPts val="6119"/>
              </a:lnSpc>
              <a:spcBef>
                <a:spcPct val="0"/>
              </a:spcBef>
            </a:pPr>
            <a:r>
              <a:rPr lang="en-US" sz="3399" b="1">
                <a:solidFill>
                  <a:srgbClr val="000000"/>
                </a:solidFill>
                <a:latin typeface="Calibri (MS) Bold"/>
                <a:ea typeface="Calibri (MS) Bold"/>
                <a:cs typeface="Calibri (MS) Bold"/>
                <a:sym typeface="Calibri (MS) Bold"/>
              </a:rPr>
              <a:t>Exploratory data analysis  (EDA)</a:t>
            </a:r>
          </a:p>
        </p:txBody>
      </p:sp>
      <p:sp>
        <p:nvSpPr>
          <p:cNvPr id="8" name="TextBox 8"/>
          <p:cNvSpPr txBox="1"/>
          <p:nvPr/>
        </p:nvSpPr>
        <p:spPr>
          <a:xfrm>
            <a:off x="9378545" y="3238690"/>
            <a:ext cx="7880755" cy="3733421"/>
          </a:xfrm>
          <a:prstGeom prst="rect">
            <a:avLst/>
          </a:prstGeom>
        </p:spPr>
        <p:txBody>
          <a:bodyPr lIns="0" tIns="0" rIns="0" bIns="0" rtlCol="0" anchor="t">
            <a:spAutoFit/>
          </a:bodyPr>
          <a:lstStyle/>
          <a:p>
            <a:pPr marL="647700" lvl="1" indent="-323850" algn="l">
              <a:lnSpc>
                <a:spcPts val="4200"/>
              </a:lnSpc>
              <a:buFont typeface="Arial"/>
              <a:buChar char="•"/>
            </a:pPr>
            <a:r>
              <a:rPr lang="en-US" sz="3000">
                <a:solidFill>
                  <a:srgbClr val="000000"/>
                </a:solidFill>
                <a:latin typeface="Public Sans"/>
                <a:ea typeface="Public Sans"/>
                <a:cs typeface="Public Sans"/>
                <a:sym typeface="Public Sans"/>
              </a:rPr>
              <a:t>Biểu đồ cho thấy Sex, Pclass, Fare và Cabin có ảnh hưởng mạnh nhất đến khả năng sống sót.</a:t>
            </a:r>
          </a:p>
          <a:p>
            <a:pPr marL="647700" lvl="1" indent="-323850" algn="l">
              <a:lnSpc>
                <a:spcPts val="4200"/>
              </a:lnSpc>
              <a:buFont typeface="Arial"/>
              <a:buChar char="•"/>
            </a:pPr>
            <a:r>
              <a:rPr lang="en-US" sz="3000">
                <a:solidFill>
                  <a:srgbClr val="000000"/>
                </a:solidFill>
                <a:latin typeface="Public Sans"/>
                <a:ea typeface="Public Sans"/>
                <a:cs typeface="Public Sans"/>
                <a:sym typeface="Public Sans"/>
              </a:rPr>
              <a:t> Cụ thể, nữ giới, hạng vé cao, và vé đắt có tỷ lệ sống cao hơn, trong khi các biến khác như Age, SibSp, Parch ảnh hưởng yếu hơn.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49467"/>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8590269" y="4931348"/>
            <a:ext cx="1903590" cy="0"/>
          </a:xfrm>
          <a:prstGeom prst="line">
            <a:avLst/>
          </a:prstGeom>
          <a:ln w="38100" cap="flat">
            <a:solidFill>
              <a:srgbClr val="000000"/>
            </a:solidFill>
            <a:prstDash val="solid"/>
            <a:headEnd type="none" w="sm" len="sm"/>
            <a:tailEnd type="arrow" w="med" len="sm"/>
          </a:ln>
        </p:spPr>
        <p:txBody>
          <a:bodyPr/>
          <a:lstStyle/>
          <a:p>
            <a:endParaRPr lang="en-US"/>
          </a:p>
        </p:txBody>
      </p:sp>
      <p:grpSp>
        <p:nvGrpSpPr>
          <p:cNvPr id="5" name="Group 5"/>
          <p:cNvGrpSpPr/>
          <p:nvPr/>
        </p:nvGrpSpPr>
        <p:grpSpPr>
          <a:xfrm>
            <a:off x="5330256" y="3258804"/>
            <a:ext cx="1790300" cy="690834"/>
            <a:chOff x="0" y="0"/>
            <a:chExt cx="471519" cy="181948"/>
          </a:xfrm>
        </p:grpSpPr>
        <p:sp>
          <p:nvSpPr>
            <p:cNvPr id="6" name="Freeform 6"/>
            <p:cNvSpPr/>
            <p:nvPr/>
          </p:nvSpPr>
          <p:spPr>
            <a:xfrm>
              <a:off x="0" y="0"/>
              <a:ext cx="471519" cy="181948"/>
            </a:xfrm>
            <a:custGeom>
              <a:avLst/>
              <a:gdLst/>
              <a:ahLst/>
              <a:cxnLst/>
              <a:rect l="l" t="t" r="r" b="b"/>
              <a:pathLst>
                <a:path w="471519" h="181948">
                  <a:moveTo>
                    <a:pt x="90974" y="0"/>
                  </a:moveTo>
                  <a:lnTo>
                    <a:pt x="380545" y="0"/>
                  </a:lnTo>
                  <a:cubicBezTo>
                    <a:pt x="430789" y="0"/>
                    <a:pt x="471519" y="40730"/>
                    <a:pt x="471519" y="90974"/>
                  </a:cubicBezTo>
                  <a:lnTo>
                    <a:pt x="471519" y="90974"/>
                  </a:lnTo>
                  <a:cubicBezTo>
                    <a:pt x="471519" y="141218"/>
                    <a:pt x="430789" y="181948"/>
                    <a:pt x="380545" y="181948"/>
                  </a:cubicBezTo>
                  <a:lnTo>
                    <a:pt x="90974" y="181948"/>
                  </a:lnTo>
                  <a:cubicBezTo>
                    <a:pt x="40730" y="181948"/>
                    <a:pt x="0" y="141218"/>
                    <a:pt x="0" y="90974"/>
                  </a:cubicBezTo>
                  <a:lnTo>
                    <a:pt x="0" y="90974"/>
                  </a:lnTo>
                  <a:cubicBezTo>
                    <a:pt x="0" y="40730"/>
                    <a:pt x="40730" y="0"/>
                    <a:pt x="90974" y="0"/>
                  </a:cubicBezTo>
                  <a:close/>
                </a:path>
              </a:pathLst>
            </a:custGeom>
            <a:solidFill>
              <a:srgbClr val="B6D7A8"/>
            </a:solidFill>
          </p:spPr>
          <p:txBody>
            <a:bodyPr/>
            <a:lstStyle/>
            <a:p>
              <a:endParaRPr lang="en-US"/>
            </a:p>
          </p:txBody>
        </p:sp>
        <p:sp>
          <p:nvSpPr>
            <p:cNvPr id="7" name="TextBox 7"/>
            <p:cNvSpPr txBox="1"/>
            <p:nvPr/>
          </p:nvSpPr>
          <p:spPr>
            <a:xfrm>
              <a:off x="0" y="-66675"/>
              <a:ext cx="471519" cy="248623"/>
            </a:xfrm>
            <a:prstGeom prst="rect">
              <a:avLst/>
            </a:prstGeom>
          </p:spPr>
          <p:txBody>
            <a:bodyPr lIns="50800" tIns="50800" rIns="50800" bIns="50800" rtlCol="0" anchor="ctr"/>
            <a:lstStyle/>
            <a:p>
              <a:pPr algn="ctr">
                <a:lnSpc>
                  <a:spcPts val="3639"/>
                </a:lnSpc>
              </a:pPr>
              <a:r>
                <a:rPr lang="en-US" sz="2599">
                  <a:solidFill>
                    <a:srgbClr val="000000"/>
                  </a:solidFill>
                  <a:latin typeface="Public Sans"/>
                  <a:ea typeface="Public Sans"/>
                  <a:cs typeface="Public Sans"/>
                  <a:sym typeface="Public Sans"/>
                </a:rPr>
                <a:t>Name</a:t>
              </a:r>
            </a:p>
          </p:txBody>
        </p:sp>
      </p:grpSp>
      <p:grpSp>
        <p:nvGrpSpPr>
          <p:cNvPr id="8" name="Group 8"/>
          <p:cNvGrpSpPr/>
          <p:nvPr/>
        </p:nvGrpSpPr>
        <p:grpSpPr>
          <a:xfrm>
            <a:off x="11760111" y="3258804"/>
            <a:ext cx="1790300" cy="690834"/>
            <a:chOff x="0" y="0"/>
            <a:chExt cx="471519" cy="181948"/>
          </a:xfrm>
        </p:grpSpPr>
        <p:sp>
          <p:nvSpPr>
            <p:cNvPr id="9" name="Freeform 9"/>
            <p:cNvSpPr/>
            <p:nvPr/>
          </p:nvSpPr>
          <p:spPr>
            <a:xfrm>
              <a:off x="0" y="0"/>
              <a:ext cx="471519" cy="181948"/>
            </a:xfrm>
            <a:custGeom>
              <a:avLst/>
              <a:gdLst/>
              <a:ahLst/>
              <a:cxnLst/>
              <a:rect l="l" t="t" r="r" b="b"/>
              <a:pathLst>
                <a:path w="471519" h="181948">
                  <a:moveTo>
                    <a:pt x="90974" y="0"/>
                  </a:moveTo>
                  <a:lnTo>
                    <a:pt x="380545" y="0"/>
                  </a:lnTo>
                  <a:cubicBezTo>
                    <a:pt x="430789" y="0"/>
                    <a:pt x="471519" y="40730"/>
                    <a:pt x="471519" y="90974"/>
                  </a:cubicBezTo>
                  <a:lnTo>
                    <a:pt x="471519" y="90974"/>
                  </a:lnTo>
                  <a:cubicBezTo>
                    <a:pt x="471519" y="141218"/>
                    <a:pt x="430789" y="181948"/>
                    <a:pt x="380545" y="181948"/>
                  </a:cubicBezTo>
                  <a:lnTo>
                    <a:pt x="90974" y="181948"/>
                  </a:lnTo>
                  <a:cubicBezTo>
                    <a:pt x="40730" y="181948"/>
                    <a:pt x="0" y="141218"/>
                    <a:pt x="0" y="90974"/>
                  </a:cubicBezTo>
                  <a:lnTo>
                    <a:pt x="0" y="90974"/>
                  </a:lnTo>
                  <a:cubicBezTo>
                    <a:pt x="0" y="40730"/>
                    <a:pt x="40730" y="0"/>
                    <a:pt x="90974" y="0"/>
                  </a:cubicBezTo>
                  <a:close/>
                </a:path>
              </a:pathLst>
            </a:custGeom>
            <a:solidFill>
              <a:srgbClr val="B6D7A8"/>
            </a:solidFill>
          </p:spPr>
          <p:txBody>
            <a:bodyPr/>
            <a:lstStyle/>
            <a:p>
              <a:endParaRPr lang="en-US"/>
            </a:p>
          </p:txBody>
        </p:sp>
        <p:sp>
          <p:nvSpPr>
            <p:cNvPr id="10" name="TextBox 10"/>
            <p:cNvSpPr txBox="1"/>
            <p:nvPr/>
          </p:nvSpPr>
          <p:spPr>
            <a:xfrm>
              <a:off x="0" y="-66675"/>
              <a:ext cx="471519" cy="248623"/>
            </a:xfrm>
            <a:prstGeom prst="rect">
              <a:avLst/>
            </a:prstGeom>
          </p:spPr>
          <p:txBody>
            <a:bodyPr lIns="50800" tIns="50800" rIns="50800" bIns="50800" rtlCol="0" anchor="ctr"/>
            <a:lstStyle/>
            <a:p>
              <a:pPr algn="ctr">
                <a:lnSpc>
                  <a:spcPts val="3639"/>
                </a:lnSpc>
              </a:pPr>
              <a:r>
                <a:rPr lang="en-US" sz="2599">
                  <a:solidFill>
                    <a:srgbClr val="000000"/>
                  </a:solidFill>
                  <a:latin typeface="Public Sans"/>
                  <a:ea typeface="Public Sans"/>
                  <a:cs typeface="Public Sans"/>
                  <a:sym typeface="Public Sans"/>
                </a:rPr>
                <a:t>Title</a:t>
              </a:r>
            </a:p>
          </p:txBody>
        </p:sp>
      </p:grpSp>
      <p:graphicFrame>
        <p:nvGraphicFramePr>
          <p:cNvPr id="11" name="Object 11"/>
          <p:cNvGraphicFramePr/>
          <p:nvPr/>
        </p:nvGraphicFramePr>
        <p:xfrm>
          <a:off x="4048168" y="7298627"/>
          <a:ext cx="7586157" cy="4274588"/>
        </p:xfrm>
        <a:graphic>
          <a:graphicData uri="http://schemas.openxmlformats.org/presentationml/2006/ole">
            <mc:AlternateContent xmlns:mc="http://schemas.openxmlformats.org/markup-compatibility/2006">
              <mc:Choice xmlns:v="urn:schemas-microsoft-com:vml" Requires="v">
                <p:oleObj name="Worksheet" r:id="rId3" imgW="9105900" imgH="5791200" progId="Excel.Sheet.12">
                  <p:embed/>
                </p:oleObj>
              </mc:Choice>
              <mc:Fallback>
                <p:oleObj name="Worksheet" r:id="rId3" imgW="9105900" imgH="5791200" progId="Excel.Sheet.12">
                  <p:embed/>
                  <p:pic>
                    <p:nvPicPr>
                      <p:cNvPr id="0" name=""/>
                      <p:cNvPicPr/>
                      <p:nvPr/>
                    </p:nvPicPr>
                    <p:blipFill>
                      <a:blip r:embed="rId4"/>
                      <a:stretch>
                        <a:fillRect/>
                      </a:stretch>
                    </p:blipFill>
                    <p:spPr>
                      <a:xfrm>
                        <a:off x="4048168" y="7298627"/>
                        <a:ext cx="7586157" cy="4274588"/>
                      </a:xfrm>
                      <a:prstGeom prst="rect">
                        <a:avLst/>
                      </a:prstGeom>
                    </p:spPr>
                  </p:pic>
                </p:oleObj>
              </mc:Fallback>
            </mc:AlternateContent>
          </a:graphicData>
        </a:graphic>
      </p:graphicFrame>
      <p:sp>
        <p:nvSpPr>
          <p:cNvPr id="12" name="AutoShape 12"/>
          <p:cNvSpPr/>
          <p:nvPr/>
        </p:nvSpPr>
        <p:spPr>
          <a:xfrm>
            <a:off x="8871529" y="8628300"/>
            <a:ext cx="1850951" cy="0"/>
          </a:xfrm>
          <a:prstGeom prst="line">
            <a:avLst/>
          </a:prstGeom>
          <a:ln w="38100" cap="flat">
            <a:solidFill>
              <a:srgbClr val="000000"/>
            </a:solidFill>
            <a:prstDash val="solid"/>
            <a:headEnd type="none" w="sm" len="sm"/>
            <a:tailEnd type="arrow" w="med" len="sm"/>
          </a:ln>
        </p:spPr>
        <p:txBody>
          <a:bodyPr/>
          <a:lstStyle/>
          <a:p>
            <a:endParaRPr lang="en-US"/>
          </a:p>
        </p:txBody>
      </p:sp>
      <p:graphicFrame>
        <p:nvGraphicFramePr>
          <p:cNvPr id="13" name="Object 13"/>
          <p:cNvGraphicFramePr/>
          <p:nvPr/>
        </p:nvGraphicFramePr>
        <p:xfrm>
          <a:off x="11605526" y="7298627"/>
          <a:ext cx="7586157" cy="4274588"/>
        </p:xfrm>
        <a:graphic>
          <a:graphicData uri="http://schemas.openxmlformats.org/presentationml/2006/ole">
            <mc:AlternateContent xmlns:mc="http://schemas.openxmlformats.org/markup-compatibility/2006">
              <mc:Choice xmlns:v="urn:schemas-microsoft-com:vml" Requires="v">
                <p:oleObj name="Worksheet" r:id="rId5" imgW="9105900" imgH="5791200" progId="Excel.Sheet.12">
                  <p:embed/>
                </p:oleObj>
              </mc:Choice>
              <mc:Fallback>
                <p:oleObj name="Worksheet" r:id="rId5" imgW="9105900" imgH="5791200" progId="Excel.Sheet.12">
                  <p:embed/>
                  <p:pic>
                    <p:nvPicPr>
                      <p:cNvPr id="0" name=""/>
                      <p:cNvPicPr/>
                      <p:nvPr/>
                    </p:nvPicPr>
                    <p:blipFill>
                      <a:blip r:embed="rId6"/>
                      <a:stretch>
                        <a:fillRect/>
                      </a:stretch>
                    </p:blipFill>
                    <p:spPr>
                      <a:xfrm>
                        <a:off x="11605526" y="7298627"/>
                        <a:ext cx="7586157" cy="4274588"/>
                      </a:xfrm>
                      <a:prstGeom prst="rect">
                        <a:avLst/>
                      </a:prstGeom>
                    </p:spPr>
                  </p:pic>
                </p:oleObj>
              </mc:Fallback>
            </mc:AlternateContent>
          </a:graphicData>
        </a:graphic>
      </p:graphicFrame>
      <p:sp>
        <p:nvSpPr>
          <p:cNvPr id="14" name="TextBox 14"/>
          <p:cNvSpPr txBox="1"/>
          <p:nvPr/>
        </p:nvSpPr>
        <p:spPr>
          <a:xfrm>
            <a:off x="1028700" y="1581096"/>
            <a:ext cx="3683090" cy="779091"/>
          </a:xfrm>
          <a:prstGeom prst="rect">
            <a:avLst/>
          </a:prstGeom>
        </p:spPr>
        <p:txBody>
          <a:bodyPr lIns="0" tIns="0" rIns="0" bIns="0" rtlCol="0" anchor="t">
            <a:spAutoFit/>
          </a:bodyPr>
          <a:lstStyle/>
          <a:p>
            <a:pPr algn="ctr">
              <a:lnSpc>
                <a:spcPts val="6119"/>
              </a:lnSpc>
              <a:spcBef>
                <a:spcPct val="0"/>
              </a:spcBef>
            </a:pPr>
            <a:r>
              <a:rPr lang="en-US" sz="3399" b="1">
                <a:solidFill>
                  <a:srgbClr val="000000"/>
                </a:solidFill>
                <a:latin typeface="Calibri (MS) Bold"/>
                <a:ea typeface="Calibri (MS) Bold"/>
                <a:cs typeface="Calibri (MS) Bold"/>
                <a:sym typeface="Calibri (MS) Bold"/>
              </a:rPr>
              <a:t>Feature engineering </a:t>
            </a:r>
          </a:p>
        </p:txBody>
      </p:sp>
      <p:sp>
        <p:nvSpPr>
          <p:cNvPr id="15" name="TextBox 15"/>
          <p:cNvSpPr txBox="1"/>
          <p:nvPr/>
        </p:nvSpPr>
        <p:spPr>
          <a:xfrm>
            <a:off x="1028700" y="914400"/>
            <a:ext cx="1333969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3. Phương pháp đề xuất</a:t>
            </a:r>
          </a:p>
        </p:txBody>
      </p:sp>
      <p:sp>
        <p:nvSpPr>
          <p:cNvPr id="16" name="TextBox 16"/>
          <p:cNvSpPr txBox="1"/>
          <p:nvPr/>
        </p:nvSpPr>
        <p:spPr>
          <a:xfrm>
            <a:off x="4016772" y="4016312"/>
            <a:ext cx="4417268" cy="2286635"/>
          </a:xfrm>
          <a:prstGeom prst="rect">
            <a:avLst/>
          </a:prstGeom>
        </p:spPr>
        <p:txBody>
          <a:bodyPr lIns="0" tIns="0" rIns="0" bIns="0" rtlCol="0" anchor="t">
            <a:spAutoFit/>
          </a:bodyPr>
          <a:lstStyle/>
          <a:p>
            <a:pPr algn="ctr">
              <a:lnSpc>
                <a:spcPts val="3639"/>
              </a:lnSpc>
            </a:pPr>
            <a:r>
              <a:rPr lang="en-US" sz="2599">
                <a:solidFill>
                  <a:srgbClr val="000000"/>
                </a:solidFill>
                <a:latin typeface="Public Sans"/>
                <a:ea typeface="Public Sans"/>
                <a:cs typeface="Public Sans"/>
                <a:sym typeface="Public Sans"/>
              </a:rPr>
              <a:t>Braund, Mr. Owen Harris</a:t>
            </a:r>
          </a:p>
          <a:p>
            <a:pPr algn="ctr">
              <a:lnSpc>
                <a:spcPts val="3639"/>
              </a:lnSpc>
            </a:pPr>
            <a:r>
              <a:rPr lang="en-US" sz="2599">
                <a:solidFill>
                  <a:srgbClr val="000000"/>
                </a:solidFill>
                <a:latin typeface="Public Sans"/>
                <a:ea typeface="Public Sans"/>
                <a:cs typeface="Public Sans"/>
                <a:sym typeface="Public Sans"/>
              </a:rPr>
              <a:t>Heikkinen, Miss. Laina</a:t>
            </a:r>
          </a:p>
          <a:p>
            <a:pPr algn="ctr">
              <a:lnSpc>
                <a:spcPts val="3639"/>
              </a:lnSpc>
            </a:pPr>
            <a:r>
              <a:rPr lang="en-US" sz="2599">
                <a:solidFill>
                  <a:srgbClr val="000000"/>
                </a:solidFill>
                <a:latin typeface="Public Sans"/>
                <a:ea typeface="Public Sans"/>
                <a:cs typeface="Public Sans"/>
                <a:sym typeface="Public Sans"/>
              </a:rPr>
              <a:t>...</a:t>
            </a:r>
          </a:p>
          <a:p>
            <a:pPr algn="ctr">
              <a:lnSpc>
                <a:spcPts val="3639"/>
              </a:lnSpc>
            </a:pPr>
            <a:r>
              <a:rPr lang="en-US" sz="2599">
                <a:solidFill>
                  <a:srgbClr val="000000"/>
                </a:solidFill>
                <a:latin typeface="Public Sans"/>
                <a:ea typeface="Public Sans"/>
                <a:cs typeface="Public Sans"/>
                <a:sym typeface="Public Sans"/>
              </a:rPr>
              <a:t>Palsson, Master. Gosta Leonard</a:t>
            </a:r>
          </a:p>
        </p:txBody>
      </p:sp>
      <p:sp>
        <p:nvSpPr>
          <p:cNvPr id="17" name="TextBox 17"/>
          <p:cNvSpPr txBox="1"/>
          <p:nvPr/>
        </p:nvSpPr>
        <p:spPr>
          <a:xfrm>
            <a:off x="11926875" y="3980834"/>
            <a:ext cx="1456772" cy="2286635"/>
          </a:xfrm>
          <a:prstGeom prst="rect">
            <a:avLst/>
          </a:prstGeom>
        </p:spPr>
        <p:txBody>
          <a:bodyPr lIns="0" tIns="0" rIns="0" bIns="0" rtlCol="0" anchor="t">
            <a:spAutoFit/>
          </a:bodyPr>
          <a:lstStyle/>
          <a:p>
            <a:pPr algn="ctr">
              <a:lnSpc>
                <a:spcPts val="3640"/>
              </a:lnSpc>
            </a:pPr>
            <a:r>
              <a:rPr lang="en-US" sz="2600">
                <a:solidFill>
                  <a:srgbClr val="000000"/>
                </a:solidFill>
                <a:latin typeface="Public Sans"/>
                <a:ea typeface="Public Sans"/>
                <a:cs typeface="Public Sans"/>
                <a:sym typeface="Public Sans"/>
              </a:rPr>
              <a:t>Mr, Mrs</a:t>
            </a:r>
          </a:p>
          <a:p>
            <a:pPr algn="ctr">
              <a:lnSpc>
                <a:spcPts val="3640"/>
              </a:lnSpc>
            </a:pPr>
            <a:r>
              <a:rPr lang="en-US" sz="2600">
                <a:solidFill>
                  <a:srgbClr val="000000"/>
                </a:solidFill>
                <a:latin typeface="Public Sans"/>
                <a:ea typeface="Public Sans"/>
                <a:cs typeface="Public Sans"/>
                <a:sym typeface="Public Sans"/>
              </a:rPr>
              <a:t>Miss</a:t>
            </a:r>
          </a:p>
          <a:p>
            <a:pPr algn="ctr">
              <a:lnSpc>
                <a:spcPts val="3640"/>
              </a:lnSpc>
            </a:pPr>
            <a:r>
              <a:rPr lang="en-US" sz="2600">
                <a:solidFill>
                  <a:srgbClr val="000000"/>
                </a:solidFill>
                <a:latin typeface="Public Sans"/>
                <a:ea typeface="Public Sans"/>
                <a:cs typeface="Public Sans"/>
                <a:sym typeface="Public Sans"/>
              </a:rPr>
              <a:t>Master </a:t>
            </a:r>
          </a:p>
          <a:p>
            <a:pPr algn="ctr">
              <a:lnSpc>
                <a:spcPts val="3640"/>
              </a:lnSpc>
            </a:pPr>
            <a:r>
              <a:rPr lang="en-US" sz="2600">
                <a:solidFill>
                  <a:srgbClr val="000000"/>
                </a:solidFill>
                <a:latin typeface="Public Sans"/>
                <a:ea typeface="Public Sans"/>
                <a:cs typeface="Public Sans"/>
                <a:sym typeface="Public Sans"/>
              </a:rPr>
              <a:t>Other</a:t>
            </a:r>
          </a:p>
          <a:p>
            <a:pPr algn="ctr">
              <a:lnSpc>
                <a:spcPts val="3640"/>
              </a:lnSpc>
            </a:pPr>
            <a:r>
              <a:rPr lang="en-US" sz="2600">
                <a:solidFill>
                  <a:srgbClr val="000000"/>
                </a:solidFill>
                <a:latin typeface="Public Sans"/>
                <a:ea typeface="Public Sans"/>
                <a:cs typeface="Public Sans"/>
                <a:sym typeface="Public Sans"/>
              </a:rPr>
              <a:t>Officer </a:t>
            </a:r>
          </a:p>
        </p:txBody>
      </p:sp>
      <p:sp>
        <p:nvSpPr>
          <p:cNvPr id="18" name="TextBox 18"/>
          <p:cNvSpPr txBox="1"/>
          <p:nvPr/>
        </p:nvSpPr>
        <p:spPr>
          <a:xfrm>
            <a:off x="1714507" y="2426863"/>
            <a:ext cx="9245738" cy="490855"/>
          </a:xfrm>
          <a:prstGeom prst="rect">
            <a:avLst/>
          </a:prstGeom>
        </p:spPr>
        <p:txBody>
          <a:bodyPr lIns="0" tIns="0" rIns="0" bIns="0" rtlCol="0" anchor="t">
            <a:spAutoFit/>
          </a:bodyPr>
          <a:lstStyle/>
          <a:p>
            <a:pPr marL="604523" lvl="1" indent="-302261" algn="l">
              <a:lnSpc>
                <a:spcPts val="3920"/>
              </a:lnSpc>
              <a:buFont typeface="Arial"/>
              <a:buChar char="•"/>
            </a:pPr>
            <a:r>
              <a:rPr lang="en-US" sz="2800" b="1">
                <a:solidFill>
                  <a:srgbClr val="000000"/>
                </a:solidFill>
                <a:latin typeface="Public Sans Bold"/>
                <a:ea typeface="Public Sans Bold"/>
                <a:cs typeface="Public Sans Bold"/>
                <a:sym typeface="Public Sans Bold"/>
              </a:rPr>
              <a:t>Title: </a:t>
            </a:r>
            <a:r>
              <a:rPr lang="en-US" sz="2800">
                <a:solidFill>
                  <a:srgbClr val="000000"/>
                </a:solidFill>
                <a:latin typeface="Public Sans"/>
                <a:ea typeface="Public Sans"/>
                <a:cs typeface="Public Sans"/>
                <a:sym typeface="Public Sans"/>
              </a:rPr>
              <a:t>Phản ánh giới tính, địa vị, tầng lớp xã hội.</a:t>
            </a:r>
          </a:p>
        </p:txBody>
      </p:sp>
      <p:sp>
        <p:nvSpPr>
          <p:cNvPr id="19" name="TextBox 19"/>
          <p:cNvSpPr txBox="1"/>
          <p:nvPr/>
        </p:nvSpPr>
        <p:spPr>
          <a:xfrm>
            <a:off x="1714507" y="6502973"/>
            <a:ext cx="9628369" cy="490855"/>
          </a:xfrm>
          <a:prstGeom prst="rect">
            <a:avLst/>
          </a:prstGeom>
        </p:spPr>
        <p:txBody>
          <a:bodyPr lIns="0" tIns="0" rIns="0" bIns="0" rtlCol="0" anchor="t">
            <a:spAutoFit/>
          </a:bodyPr>
          <a:lstStyle/>
          <a:p>
            <a:pPr marL="604523" lvl="1" indent="-302261" algn="l">
              <a:lnSpc>
                <a:spcPts val="3920"/>
              </a:lnSpc>
              <a:buFont typeface="Arial"/>
              <a:buChar char="•"/>
            </a:pPr>
            <a:r>
              <a:rPr lang="en-US" sz="2800" b="1">
                <a:solidFill>
                  <a:srgbClr val="000000"/>
                </a:solidFill>
                <a:latin typeface="Public Sans Bold"/>
                <a:ea typeface="Public Sans Bold"/>
                <a:cs typeface="Public Sans Bold"/>
                <a:sym typeface="Public Sans Bold"/>
              </a:rPr>
              <a:t>FamilySize: </a:t>
            </a:r>
            <a:r>
              <a:rPr lang="en-US" sz="2800">
                <a:solidFill>
                  <a:srgbClr val="000000"/>
                </a:solidFill>
                <a:latin typeface="Public Sans"/>
                <a:ea typeface="Public Sans"/>
                <a:cs typeface="Public Sans"/>
                <a:sym typeface="Public Sans"/>
              </a:rPr>
              <a:t>Quy mô gia đình ảnh hướng tới tỉ lệ sống</a:t>
            </a:r>
          </a:p>
        </p:txBody>
      </p:sp>
      <p:sp>
        <p:nvSpPr>
          <p:cNvPr id="20" name="TextBox 20"/>
          <p:cNvSpPr txBox="1"/>
          <p:nvPr/>
        </p:nvSpPr>
        <p:spPr>
          <a:xfrm>
            <a:off x="8590269" y="8045333"/>
            <a:ext cx="2413451" cy="415344"/>
          </a:xfrm>
          <a:prstGeom prst="rect">
            <a:avLst/>
          </a:prstGeom>
        </p:spPr>
        <p:txBody>
          <a:bodyPr lIns="0" tIns="0" rIns="0" bIns="0" rtlCol="0" anchor="t">
            <a:spAutoFit/>
          </a:bodyPr>
          <a:lstStyle/>
          <a:p>
            <a:pPr algn="ctr">
              <a:lnSpc>
                <a:spcPts val="3359"/>
              </a:lnSpc>
            </a:pPr>
            <a:r>
              <a:rPr lang="en-US" sz="2399">
                <a:solidFill>
                  <a:srgbClr val="000000"/>
                </a:solidFill>
                <a:latin typeface="Public Sans"/>
                <a:ea typeface="Public Sans"/>
                <a:cs typeface="Public Sans"/>
                <a:sym typeface="Public Sans"/>
              </a:rPr>
              <a:t>SibSp + Parch + 1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4762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aphicFrame>
        <p:nvGraphicFramePr>
          <p:cNvPr id="4" name="Object 4"/>
          <p:cNvGraphicFramePr/>
          <p:nvPr/>
        </p:nvGraphicFramePr>
        <p:xfrm>
          <a:off x="4795427" y="3364512"/>
          <a:ext cx="7586157" cy="4274588"/>
        </p:xfrm>
        <a:graphic>
          <a:graphicData uri="http://schemas.openxmlformats.org/presentationml/2006/ole">
            <mc:AlternateContent xmlns:mc="http://schemas.openxmlformats.org/markup-compatibility/2006">
              <mc:Choice xmlns:v="urn:schemas-microsoft-com:vml" Requires="v">
                <p:oleObj name="Worksheet" r:id="rId3" imgW="9105900" imgH="5791200" progId="Excel.Sheet.12">
                  <p:embed/>
                </p:oleObj>
              </mc:Choice>
              <mc:Fallback>
                <p:oleObj name="Worksheet" r:id="rId3" imgW="9105900" imgH="5791200" progId="Excel.Sheet.12">
                  <p:embed/>
                  <p:pic>
                    <p:nvPicPr>
                      <p:cNvPr id="0" name=""/>
                      <p:cNvPicPr/>
                      <p:nvPr/>
                    </p:nvPicPr>
                    <p:blipFill>
                      <a:blip r:embed="rId4"/>
                      <a:stretch>
                        <a:fillRect/>
                      </a:stretch>
                    </p:blipFill>
                    <p:spPr>
                      <a:xfrm>
                        <a:off x="4795427" y="3364512"/>
                        <a:ext cx="7586157" cy="4274588"/>
                      </a:xfrm>
                      <a:prstGeom prst="rect">
                        <a:avLst/>
                      </a:prstGeom>
                    </p:spPr>
                  </p:pic>
                </p:oleObj>
              </mc:Fallback>
            </mc:AlternateContent>
          </a:graphicData>
        </a:graphic>
      </p:graphicFrame>
      <p:sp>
        <p:nvSpPr>
          <p:cNvPr id="5" name="AutoShape 5"/>
          <p:cNvSpPr/>
          <p:nvPr/>
        </p:nvSpPr>
        <p:spPr>
          <a:xfrm flipV="1">
            <a:off x="7472134" y="4619518"/>
            <a:ext cx="2136692" cy="19049"/>
          </a:xfrm>
          <a:prstGeom prst="line">
            <a:avLst/>
          </a:prstGeom>
          <a:ln w="38100" cap="flat">
            <a:solidFill>
              <a:srgbClr val="000000"/>
            </a:solidFill>
            <a:prstDash val="solid"/>
            <a:headEnd type="none" w="sm" len="sm"/>
            <a:tailEnd type="arrow" w="med" len="sm"/>
          </a:ln>
        </p:spPr>
        <p:txBody>
          <a:bodyPr/>
          <a:lstStyle/>
          <a:p>
            <a:endParaRPr lang="en-US"/>
          </a:p>
        </p:txBody>
      </p:sp>
      <p:sp>
        <p:nvSpPr>
          <p:cNvPr id="6" name="TextBox 6"/>
          <p:cNvSpPr txBox="1"/>
          <p:nvPr/>
        </p:nvSpPr>
        <p:spPr>
          <a:xfrm>
            <a:off x="1028700" y="1581096"/>
            <a:ext cx="3683090" cy="779091"/>
          </a:xfrm>
          <a:prstGeom prst="rect">
            <a:avLst/>
          </a:prstGeom>
        </p:spPr>
        <p:txBody>
          <a:bodyPr lIns="0" tIns="0" rIns="0" bIns="0" rtlCol="0" anchor="t">
            <a:spAutoFit/>
          </a:bodyPr>
          <a:lstStyle/>
          <a:p>
            <a:pPr algn="ctr">
              <a:lnSpc>
                <a:spcPts val="6119"/>
              </a:lnSpc>
              <a:spcBef>
                <a:spcPct val="0"/>
              </a:spcBef>
            </a:pPr>
            <a:r>
              <a:rPr lang="en-US" sz="3399" b="1">
                <a:solidFill>
                  <a:srgbClr val="000000"/>
                </a:solidFill>
                <a:latin typeface="Calibri (MS) Bold"/>
                <a:ea typeface="Calibri (MS) Bold"/>
                <a:cs typeface="Calibri (MS) Bold"/>
                <a:sym typeface="Calibri (MS) Bold"/>
              </a:rPr>
              <a:t>Feature engineering </a:t>
            </a:r>
          </a:p>
        </p:txBody>
      </p:sp>
      <p:sp>
        <p:nvSpPr>
          <p:cNvPr id="7" name="TextBox 7"/>
          <p:cNvSpPr txBox="1"/>
          <p:nvPr/>
        </p:nvSpPr>
        <p:spPr>
          <a:xfrm>
            <a:off x="1028700" y="914400"/>
            <a:ext cx="1333969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3. Phương pháp đề xuất</a:t>
            </a:r>
          </a:p>
        </p:txBody>
      </p:sp>
      <p:sp>
        <p:nvSpPr>
          <p:cNvPr id="8" name="TextBox 8"/>
          <p:cNvSpPr txBox="1"/>
          <p:nvPr/>
        </p:nvSpPr>
        <p:spPr>
          <a:xfrm>
            <a:off x="1028700" y="2522565"/>
            <a:ext cx="11556430" cy="490882"/>
          </a:xfrm>
          <a:prstGeom prst="rect">
            <a:avLst/>
          </a:prstGeom>
        </p:spPr>
        <p:txBody>
          <a:bodyPr lIns="0" tIns="0" rIns="0" bIns="0" rtlCol="0" anchor="t">
            <a:spAutoFit/>
          </a:bodyPr>
          <a:lstStyle/>
          <a:p>
            <a:pPr marL="604523" lvl="1" indent="-302261" algn="l">
              <a:lnSpc>
                <a:spcPts val="3920"/>
              </a:lnSpc>
              <a:buFont typeface="Arial"/>
              <a:buChar char="•"/>
            </a:pPr>
            <a:r>
              <a:rPr lang="en-US" sz="2800" b="1">
                <a:solidFill>
                  <a:srgbClr val="000000"/>
                </a:solidFill>
                <a:latin typeface="Public Sans Bold"/>
                <a:ea typeface="Public Sans Bold"/>
                <a:cs typeface="Public Sans Bold"/>
                <a:sym typeface="Public Sans Bold"/>
              </a:rPr>
              <a:t>Deck: </a:t>
            </a:r>
            <a:r>
              <a:rPr lang="en-US" sz="2800">
                <a:solidFill>
                  <a:srgbClr val="000000"/>
                </a:solidFill>
                <a:latin typeface="Public Sans"/>
                <a:ea typeface="Public Sans"/>
                <a:cs typeface="Public Sans"/>
                <a:sym typeface="Public Sans"/>
              </a:rPr>
              <a:t>Boong tàu - Deck thấp → gần đáy tàu → nguy hiểm hơn.</a:t>
            </a:r>
          </a:p>
        </p:txBody>
      </p:sp>
      <p:sp>
        <p:nvSpPr>
          <p:cNvPr id="9" name="TextBox 9"/>
          <p:cNvSpPr txBox="1"/>
          <p:nvPr/>
        </p:nvSpPr>
        <p:spPr>
          <a:xfrm>
            <a:off x="7471989" y="4204174"/>
            <a:ext cx="2136837" cy="415344"/>
          </a:xfrm>
          <a:prstGeom prst="rect">
            <a:avLst/>
          </a:prstGeom>
        </p:spPr>
        <p:txBody>
          <a:bodyPr lIns="0" tIns="0" rIns="0" bIns="0" rtlCol="0" anchor="t">
            <a:spAutoFit/>
          </a:bodyPr>
          <a:lstStyle/>
          <a:p>
            <a:pPr algn="ctr">
              <a:lnSpc>
                <a:spcPts val="3359"/>
              </a:lnSpc>
            </a:pPr>
            <a:r>
              <a:rPr lang="en-US" sz="2400">
                <a:solidFill>
                  <a:srgbClr val="000000"/>
                </a:solidFill>
                <a:latin typeface="Public Sans"/>
                <a:ea typeface="Public Sans"/>
                <a:cs typeface="Public Sans"/>
                <a:sym typeface="Public Sans"/>
              </a:rPr>
              <a:t>kí tự đầu tiên</a:t>
            </a:r>
          </a:p>
        </p:txBody>
      </p:sp>
      <p:graphicFrame>
        <p:nvGraphicFramePr>
          <p:cNvPr id="10" name="Object 10"/>
          <p:cNvGraphicFramePr/>
          <p:nvPr/>
        </p:nvGraphicFramePr>
        <p:xfrm>
          <a:off x="10310901" y="3364512"/>
          <a:ext cx="7586157" cy="4274588"/>
        </p:xfrm>
        <a:graphic>
          <a:graphicData uri="http://schemas.openxmlformats.org/presentationml/2006/ole">
            <mc:AlternateContent xmlns:mc="http://schemas.openxmlformats.org/markup-compatibility/2006">
              <mc:Choice xmlns:v="urn:schemas-microsoft-com:vml" Requires="v">
                <p:oleObj name="Worksheet" r:id="rId5" imgW="9105900" imgH="5791200" progId="Excel.Sheet.12">
                  <p:embed/>
                </p:oleObj>
              </mc:Choice>
              <mc:Fallback>
                <p:oleObj name="Worksheet" r:id="rId5" imgW="9105900" imgH="5791200" progId="Excel.Sheet.12">
                  <p:embed/>
                  <p:pic>
                    <p:nvPicPr>
                      <p:cNvPr id="0" name=""/>
                      <p:cNvPicPr/>
                      <p:nvPr/>
                    </p:nvPicPr>
                    <p:blipFill>
                      <a:blip r:embed="rId6"/>
                      <a:stretch>
                        <a:fillRect/>
                      </a:stretch>
                    </p:blipFill>
                    <p:spPr>
                      <a:xfrm>
                        <a:off x="10310901" y="3364512"/>
                        <a:ext cx="7586157" cy="4274588"/>
                      </a:xfrm>
                      <a:prstGeom prst="rect">
                        <a:avLst/>
                      </a:prstGeom>
                    </p:spPr>
                  </p:pic>
                </p:oleObj>
              </mc:Fallback>
            </mc:AlternateContent>
          </a:graphicData>
        </a:graphic>
      </p:graphicFrame>
      <p:sp>
        <p:nvSpPr>
          <p:cNvPr id="11" name="TextBox 11"/>
          <p:cNvSpPr txBox="1"/>
          <p:nvPr/>
        </p:nvSpPr>
        <p:spPr>
          <a:xfrm>
            <a:off x="1028700" y="6112649"/>
            <a:ext cx="16041045" cy="2782205"/>
          </a:xfrm>
          <a:prstGeom prst="rect">
            <a:avLst/>
          </a:prstGeom>
        </p:spPr>
        <p:txBody>
          <a:bodyPr lIns="0" tIns="0" rIns="0" bIns="0" rtlCol="0" anchor="t">
            <a:spAutoFit/>
          </a:bodyPr>
          <a:lstStyle/>
          <a:p>
            <a:pPr marL="604523" lvl="1" indent="-302261" algn="l">
              <a:lnSpc>
                <a:spcPts val="4480"/>
              </a:lnSpc>
              <a:buFont typeface="Arial"/>
              <a:buChar char="•"/>
            </a:pPr>
            <a:r>
              <a:rPr lang="en-US" sz="2800" b="1">
                <a:solidFill>
                  <a:srgbClr val="000000"/>
                </a:solidFill>
                <a:latin typeface="Public Sans Bold"/>
                <a:ea typeface="Public Sans Bold"/>
                <a:cs typeface="Public Sans Bold"/>
                <a:sym typeface="Public Sans Bold"/>
              </a:rPr>
              <a:t>IsChild:</a:t>
            </a:r>
            <a:r>
              <a:rPr lang="en-US" sz="2800">
                <a:solidFill>
                  <a:srgbClr val="000000"/>
                </a:solidFill>
                <a:latin typeface="Public Sans"/>
                <a:ea typeface="Public Sans"/>
                <a:cs typeface="Public Sans"/>
                <a:sym typeface="Public Sans"/>
              </a:rPr>
              <a:t> hàng khách dưới 12 tuổi - được cứu trước theo nguyên tắc  “women and children first”.</a:t>
            </a:r>
          </a:p>
          <a:p>
            <a:pPr marL="604523" lvl="1" indent="-302261" algn="l">
              <a:lnSpc>
                <a:spcPts val="4480"/>
              </a:lnSpc>
              <a:buFont typeface="Arial"/>
              <a:buChar char="•"/>
            </a:pPr>
            <a:r>
              <a:rPr lang="en-US" sz="2800" b="1">
                <a:solidFill>
                  <a:srgbClr val="000000"/>
                </a:solidFill>
                <a:latin typeface="Public Sans Bold"/>
                <a:ea typeface="Public Sans Bold"/>
                <a:cs typeface="Public Sans Bold"/>
                <a:sym typeface="Public Sans Bold"/>
              </a:rPr>
              <a:t>IsMother:</a:t>
            </a:r>
            <a:r>
              <a:rPr lang="en-US" sz="2800">
                <a:solidFill>
                  <a:srgbClr val="000000"/>
                </a:solidFill>
                <a:latin typeface="Public Sans"/>
                <a:ea typeface="Public Sans"/>
                <a:cs typeface="Public Sans"/>
                <a:sym typeface="Public Sans"/>
              </a:rPr>
              <a:t> Đánh dấu phụ nữ trưởng thành có con đi cùng.</a:t>
            </a:r>
          </a:p>
          <a:p>
            <a:pPr marL="604523" lvl="1" indent="-302261" algn="l">
              <a:lnSpc>
                <a:spcPts val="4480"/>
              </a:lnSpc>
              <a:buFont typeface="Arial"/>
              <a:buChar char="•"/>
            </a:pPr>
            <a:r>
              <a:rPr lang="en-US" sz="2800" b="1">
                <a:solidFill>
                  <a:srgbClr val="000000"/>
                </a:solidFill>
                <a:latin typeface="Public Sans Bold"/>
                <a:ea typeface="Public Sans Bold"/>
                <a:cs typeface="Public Sans Bold"/>
                <a:sym typeface="Public Sans Bold"/>
              </a:rPr>
              <a:t>TicketPrefix</a:t>
            </a:r>
            <a:r>
              <a:rPr lang="en-US" sz="2800">
                <a:solidFill>
                  <a:srgbClr val="000000"/>
                </a:solidFill>
                <a:latin typeface="Public Sans"/>
                <a:ea typeface="Public Sans"/>
                <a:cs typeface="Public Sans"/>
                <a:sym typeface="Public Sans"/>
              </a:rPr>
              <a:t>: Phần đầu của mã vé cho biết hãng tàu hoặc loại vé.</a:t>
            </a:r>
          </a:p>
          <a:p>
            <a:pPr marL="604523" lvl="1" indent="-302261" algn="l">
              <a:lnSpc>
                <a:spcPts val="4480"/>
              </a:lnSpc>
              <a:buFont typeface="Arial"/>
              <a:buChar char="•"/>
            </a:pPr>
            <a:r>
              <a:rPr lang="en-US" sz="2800" b="1">
                <a:solidFill>
                  <a:srgbClr val="000000"/>
                </a:solidFill>
                <a:latin typeface="Public Sans Bold"/>
                <a:ea typeface="Public Sans Bold"/>
                <a:cs typeface="Public Sans Bold"/>
                <a:sym typeface="Public Sans Bold"/>
              </a:rPr>
              <a:t>Age*Pclass</a:t>
            </a:r>
            <a:r>
              <a:rPr lang="en-US" sz="2800">
                <a:solidFill>
                  <a:srgbClr val="000000"/>
                </a:solidFill>
                <a:latin typeface="Public Sans"/>
                <a:ea typeface="Public Sans"/>
                <a:cs typeface="Public Sans"/>
                <a:sym typeface="Public Sans"/>
              </a:rPr>
              <a:t>: Kết hợp tuổi và hạng vé – phản ánh tầng lớp xã hội theo tuổi.</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p:nvPr/>
        </p:nvGrpSpPr>
        <p:grpSpPr>
          <a:xfrm>
            <a:off x="10880791" y="5539952"/>
            <a:ext cx="5100123" cy="4372579"/>
            <a:chOff x="0" y="0"/>
            <a:chExt cx="2699323" cy="2314259"/>
          </a:xfrm>
        </p:grpSpPr>
        <p:sp>
          <p:nvSpPr>
            <p:cNvPr id="5" name="Freeform 5"/>
            <p:cNvSpPr/>
            <p:nvPr/>
          </p:nvSpPr>
          <p:spPr>
            <a:xfrm>
              <a:off x="0" y="0"/>
              <a:ext cx="2699323" cy="2314259"/>
            </a:xfrm>
            <a:custGeom>
              <a:avLst/>
              <a:gdLst/>
              <a:ahLst/>
              <a:cxnLst/>
              <a:rect l="l" t="t" r="r" b="b"/>
              <a:pathLst>
                <a:path w="2699323" h="2314259">
                  <a:moveTo>
                    <a:pt x="0" y="0"/>
                  </a:moveTo>
                  <a:lnTo>
                    <a:pt x="2699323" y="0"/>
                  </a:lnTo>
                  <a:lnTo>
                    <a:pt x="2699323" y="2314259"/>
                  </a:lnTo>
                  <a:lnTo>
                    <a:pt x="0" y="2314259"/>
                  </a:lnTo>
                  <a:close/>
                </a:path>
              </a:pathLst>
            </a:custGeom>
            <a:blipFill>
              <a:blip r:embed="rId3"/>
              <a:stretch>
                <a:fillRect l="-386" r="-386"/>
              </a:stretch>
            </a:blipFill>
          </p:spPr>
          <p:txBody>
            <a:bodyPr/>
            <a:lstStyle/>
            <a:p>
              <a:endParaRPr lang="en-US"/>
            </a:p>
          </p:txBody>
        </p:sp>
      </p:grpSp>
      <p:sp>
        <p:nvSpPr>
          <p:cNvPr id="6" name="TextBox 6"/>
          <p:cNvSpPr txBox="1"/>
          <p:nvPr/>
        </p:nvSpPr>
        <p:spPr>
          <a:xfrm>
            <a:off x="1028700" y="1884440"/>
            <a:ext cx="16230600" cy="3424245"/>
          </a:xfrm>
          <a:prstGeom prst="rect">
            <a:avLst/>
          </a:prstGeom>
        </p:spPr>
        <p:txBody>
          <a:bodyPr lIns="0" tIns="0" rIns="0" bIns="0" rtlCol="0" anchor="t">
            <a:spAutoFit/>
          </a:bodyPr>
          <a:lstStyle/>
          <a:p>
            <a:pPr algn="l">
              <a:lnSpc>
                <a:spcPts val="4479"/>
              </a:lnSpc>
            </a:pPr>
            <a:r>
              <a:rPr lang="en-US" sz="3199" b="1">
                <a:solidFill>
                  <a:srgbClr val="000000"/>
                </a:solidFill>
                <a:latin typeface="Calibri (MS) Bold"/>
                <a:ea typeface="Calibri (MS) Bold"/>
                <a:cs typeface="Calibri (MS) Bold"/>
                <a:sym typeface="Calibri (MS) Bold"/>
              </a:rPr>
              <a:t>Tiền xử lí dữ liệu: </a:t>
            </a:r>
          </a:p>
          <a:p>
            <a:pPr marL="690874" lvl="1" indent="-345437" algn="l">
              <a:lnSpc>
                <a:spcPts val="4479"/>
              </a:lnSpc>
              <a:buFont typeface="Arial"/>
              <a:buChar char="•"/>
            </a:pPr>
            <a:r>
              <a:rPr lang="en-US" sz="3199">
                <a:solidFill>
                  <a:srgbClr val="000000"/>
                </a:solidFill>
                <a:latin typeface="Calibri (MS)"/>
                <a:ea typeface="Calibri (MS)"/>
                <a:cs typeface="Calibri (MS)"/>
                <a:sym typeface="Calibri (MS)"/>
              </a:rPr>
              <a:t>Xử lí các giá trị bị thiếu  </a:t>
            </a:r>
          </a:p>
          <a:p>
            <a:pPr marL="1381748" lvl="2" indent="-460583" algn="l">
              <a:lnSpc>
                <a:spcPts val="4479"/>
              </a:lnSpc>
              <a:buFont typeface="Arial"/>
              <a:buChar char="⚬"/>
            </a:pPr>
            <a:r>
              <a:rPr lang="en-US" sz="3199">
                <a:solidFill>
                  <a:srgbClr val="000000"/>
                </a:solidFill>
                <a:latin typeface="Calibri (MS)"/>
                <a:ea typeface="Calibri (MS)"/>
                <a:cs typeface="Calibri (MS)"/>
                <a:sym typeface="Calibri (MS)"/>
              </a:rPr>
              <a:t>Age (thiếu 20%): Điền bằng median dựa trên nhóm (Sex, Pclass, Title) để ước tính tuổi chính xác hơn.</a:t>
            </a:r>
          </a:p>
          <a:p>
            <a:pPr marL="1381748" lvl="2" indent="-460583" algn="l">
              <a:lnSpc>
                <a:spcPts val="4479"/>
              </a:lnSpc>
              <a:buFont typeface="Arial"/>
              <a:buChar char="⚬"/>
            </a:pPr>
            <a:r>
              <a:rPr lang="en-US" sz="3199">
                <a:solidFill>
                  <a:srgbClr val="000000"/>
                </a:solidFill>
                <a:latin typeface="Calibri (MS)"/>
                <a:ea typeface="Calibri (MS)"/>
                <a:cs typeface="Calibri (MS)"/>
                <a:sym typeface="Calibri (MS)"/>
              </a:rPr>
              <a:t>Fare (thiếu 1): Điền bằng median của nhóm Pclass tương ứng.</a:t>
            </a:r>
          </a:p>
          <a:p>
            <a:pPr marL="1381748" lvl="2" indent="-460583" algn="l">
              <a:lnSpc>
                <a:spcPts val="4479"/>
              </a:lnSpc>
              <a:buFont typeface="Arial"/>
              <a:buChar char="⚬"/>
            </a:pPr>
            <a:r>
              <a:rPr lang="en-US" sz="3199">
                <a:solidFill>
                  <a:srgbClr val="000000"/>
                </a:solidFill>
                <a:latin typeface="Calibri (MS)"/>
                <a:ea typeface="Calibri (MS)"/>
                <a:cs typeface="Calibri (MS)"/>
                <a:sym typeface="Calibri (MS)"/>
              </a:rPr>
              <a:t>Embarked (thiếu 2): Điền bằng giá trị phổ biến nhất.</a:t>
            </a:r>
          </a:p>
        </p:txBody>
      </p:sp>
      <p:graphicFrame>
        <p:nvGraphicFramePr>
          <p:cNvPr id="7" name="Object 7"/>
          <p:cNvGraphicFramePr/>
          <p:nvPr/>
        </p:nvGraphicFramePr>
        <p:xfrm>
          <a:off x="2442782" y="5488579"/>
          <a:ext cx="7586157" cy="4274588"/>
        </p:xfrm>
        <a:graphic>
          <a:graphicData uri="http://schemas.openxmlformats.org/presentationml/2006/ole">
            <mc:AlternateContent xmlns:mc="http://schemas.openxmlformats.org/markup-compatibility/2006">
              <mc:Choice xmlns:v="urn:schemas-microsoft-com:vml" Requires="v">
                <p:oleObj name="Worksheet" r:id="rId4" imgW="9105900" imgH="5791200" progId="Excel.Sheet.12">
                  <p:embed/>
                </p:oleObj>
              </mc:Choice>
              <mc:Fallback>
                <p:oleObj name="Worksheet" r:id="rId4" imgW="9105900" imgH="5791200" progId="Excel.Sheet.12">
                  <p:embed/>
                  <p:pic>
                    <p:nvPicPr>
                      <p:cNvPr id="0" name=""/>
                      <p:cNvPicPr/>
                      <p:nvPr/>
                    </p:nvPicPr>
                    <p:blipFill>
                      <a:blip r:embed="rId5"/>
                      <a:stretch>
                        <a:fillRect/>
                      </a:stretch>
                    </p:blipFill>
                    <p:spPr>
                      <a:xfrm>
                        <a:off x="2442782" y="5488579"/>
                        <a:ext cx="7586157" cy="4274588"/>
                      </a:xfrm>
                      <a:prstGeom prst="rect">
                        <a:avLst/>
                      </a:prstGeom>
                    </p:spPr>
                  </p:pic>
                </p:oleObj>
              </mc:Fallback>
            </mc:AlternateContent>
          </a:graphicData>
        </a:graphic>
      </p:graphicFrame>
      <p:sp>
        <p:nvSpPr>
          <p:cNvPr id="8" name="TextBox 8"/>
          <p:cNvSpPr txBox="1"/>
          <p:nvPr/>
        </p:nvSpPr>
        <p:spPr>
          <a:xfrm>
            <a:off x="1028700" y="914400"/>
            <a:ext cx="1333969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3. Phương pháp đề xuất</a:t>
            </a:r>
          </a:p>
        </p:txBody>
      </p:sp>
      <p:graphicFrame>
        <p:nvGraphicFramePr>
          <p:cNvPr id="9" name="Object 9"/>
          <p:cNvGraphicFramePr/>
          <p:nvPr/>
        </p:nvGraphicFramePr>
        <p:xfrm>
          <a:off x="2399198" y="7726242"/>
          <a:ext cx="7586157" cy="4274588"/>
        </p:xfrm>
        <a:graphic>
          <a:graphicData uri="http://schemas.openxmlformats.org/presentationml/2006/ole">
            <mc:AlternateContent xmlns:mc="http://schemas.openxmlformats.org/markup-compatibility/2006">
              <mc:Choice xmlns:v="urn:schemas-microsoft-com:vml" Requires="v">
                <p:oleObj name="Worksheet" r:id="rId6" imgW="9105900" imgH="5791200" progId="Excel.Sheet.12">
                  <p:embed/>
                </p:oleObj>
              </mc:Choice>
              <mc:Fallback>
                <p:oleObj name="Worksheet" r:id="rId6" imgW="9105900" imgH="5791200" progId="Excel.Sheet.12">
                  <p:embed/>
                  <p:pic>
                    <p:nvPicPr>
                      <p:cNvPr id="0" name=""/>
                      <p:cNvPicPr/>
                      <p:nvPr/>
                    </p:nvPicPr>
                    <p:blipFill>
                      <a:blip r:embed="rId7"/>
                      <a:stretch>
                        <a:fillRect/>
                      </a:stretch>
                    </p:blipFill>
                    <p:spPr>
                      <a:xfrm>
                        <a:off x="2399198" y="7726242"/>
                        <a:ext cx="7586157" cy="4274588"/>
                      </a:xfrm>
                      <a:prstGeom prst="rect">
                        <a:avLst/>
                      </a:prstGeom>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4762" y="1905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aphicFrame>
        <p:nvGraphicFramePr>
          <p:cNvPr id="4" name="Object 4"/>
          <p:cNvGraphicFramePr/>
          <p:nvPr/>
        </p:nvGraphicFramePr>
        <p:xfrm>
          <a:off x="2513236" y="4875152"/>
          <a:ext cx="7586157" cy="4274588"/>
        </p:xfrm>
        <a:graphic>
          <a:graphicData uri="http://schemas.openxmlformats.org/presentationml/2006/ole">
            <mc:AlternateContent xmlns:mc="http://schemas.openxmlformats.org/markup-compatibility/2006">
              <mc:Choice xmlns:v="urn:schemas-microsoft-com:vml" Requires="v">
                <p:oleObj name="Worksheet" r:id="rId3" imgW="9105900" imgH="5791200" progId="Excel.Sheet.12">
                  <p:embed/>
                </p:oleObj>
              </mc:Choice>
              <mc:Fallback>
                <p:oleObj name="Worksheet" r:id="rId3" imgW="9105900" imgH="5791200" progId="Excel.Sheet.12">
                  <p:embed/>
                  <p:pic>
                    <p:nvPicPr>
                      <p:cNvPr id="0" name=""/>
                      <p:cNvPicPr/>
                      <p:nvPr/>
                    </p:nvPicPr>
                    <p:blipFill>
                      <a:blip r:embed="rId4"/>
                      <a:stretch>
                        <a:fillRect/>
                      </a:stretch>
                    </p:blipFill>
                    <p:spPr>
                      <a:xfrm>
                        <a:off x="2513236" y="4875152"/>
                        <a:ext cx="7586157" cy="4274588"/>
                      </a:xfrm>
                      <a:prstGeom prst="rect">
                        <a:avLst/>
                      </a:prstGeom>
                    </p:spPr>
                  </p:pic>
                </p:oleObj>
              </mc:Fallback>
            </mc:AlternateContent>
          </a:graphicData>
        </a:graphic>
      </p:graphicFrame>
      <p:graphicFrame>
        <p:nvGraphicFramePr>
          <p:cNvPr id="5" name="Object 5"/>
          <p:cNvGraphicFramePr/>
          <p:nvPr/>
        </p:nvGraphicFramePr>
        <p:xfrm>
          <a:off x="8314944" y="4875152"/>
          <a:ext cx="7586157" cy="4274588"/>
        </p:xfrm>
        <a:graphic>
          <a:graphicData uri="http://schemas.openxmlformats.org/presentationml/2006/ole">
            <mc:AlternateContent xmlns:mc="http://schemas.openxmlformats.org/markup-compatibility/2006">
              <mc:Choice xmlns:v="urn:schemas-microsoft-com:vml" Requires="v">
                <p:oleObj name="Worksheet" r:id="rId5" imgW="9105900" imgH="5791200" progId="Excel.Sheet.12">
                  <p:embed/>
                </p:oleObj>
              </mc:Choice>
              <mc:Fallback>
                <p:oleObj name="Worksheet" r:id="rId5" imgW="9105900" imgH="5791200" progId="Excel.Sheet.12">
                  <p:embed/>
                  <p:pic>
                    <p:nvPicPr>
                      <p:cNvPr id="0" name=""/>
                      <p:cNvPicPr/>
                      <p:nvPr/>
                    </p:nvPicPr>
                    <p:blipFill>
                      <a:blip r:embed="rId6"/>
                      <a:stretch>
                        <a:fillRect/>
                      </a:stretch>
                    </p:blipFill>
                    <p:spPr>
                      <a:xfrm>
                        <a:off x="8314944" y="4875152"/>
                        <a:ext cx="7586157" cy="4274588"/>
                      </a:xfrm>
                      <a:prstGeom prst="rect">
                        <a:avLst/>
                      </a:prstGeom>
                    </p:spPr>
                  </p:pic>
                </p:oleObj>
              </mc:Fallback>
            </mc:AlternateContent>
          </a:graphicData>
        </a:graphic>
      </p:graphicFrame>
      <p:sp>
        <p:nvSpPr>
          <p:cNvPr id="6" name="AutoShape 6"/>
          <p:cNvSpPr/>
          <p:nvPr/>
        </p:nvSpPr>
        <p:spPr>
          <a:xfrm>
            <a:off x="5609691" y="6579369"/>
            <a:ext cx="1874823" cy="0"/>
          </a:xfrm>
          <a:prstGeom prst="line">
            <a:avLst/>
          </a:prstGeom>
          <a:ln w="38100" cap="flat">
            <a:solidFill>
              <a:srgbClr val="474B4F"/>
            </a:solidFill>
            <a:prstDash val="solid"/>
            <a:headEnd type="none" w="sm" len="sm"/>
            <a:tailEnd type="arrow" w="med" len="sm"/>
          </a:ln>
        </p:spPr>
        <p:txBody>
          <a:bodyPr/>
          <a:lstStyle/>
          <a:p>
            <a:endParaRPr lang="en-US"/>
          </a:p>
        </p:txBody>
      </p:sp>
      <p:sp>
        <p:nvSpPr>
          <p:cNvPr id="7" name="TextBox 7"/>
          <p:cNvSpPr txBox="1"/>
          <p:nvPr/>
        </p:nvSpPr>
        <p:spPr>
          <a:xfrm>
            <a:off x="1028700" y="914400"/>
            <a:ext cx="1333969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3. Phương pháp đề xuất</a:t>
            </a:r>
          </a:p>
        </p:txBody>
      </p:sp>
      <p:sp>
        <p:nvSpPr>
          <p:cNvPr id="8" name="TextBox 8"/>
          <p:cNvSpPr txBox="1"/>
          <p:nvPr/>
        </p:nvSpPr>
        <p:spPr>
          <a:xfrm>
            <a:off x="1286606" y="1913927"/>
            <a:ext cx="1913794" cy="670506"/>
          </a:xfrm>
          <a:prstGeom prst="rect">
            <a:avLst/>
          </a:prstGeom>
        </p:spPr>
        <p:txBody>
          <a:bodyPr wrap="square" lIns="0" tIns="0" rIns="0" bIns="0" rtlCol="0" anchor="t">
            <a:spAutoFit/>
          </a:bodyPr>
          <a:lstStyle/>
          <a:p>
            <a:pPr algn="ctr">
              <a:lnSpc>
                <a:spcPts val="5760"/>
              </a:lnSpc>
              <a:spcBef>
                <a:spcPct val="0"/>
              </a:spcBef>
            </a:pPr>
            <a:r>
              <a:rPr lang="en-US" sz="3200" b="1" dirty="0" err="1">
                <a:solidFill>
                  <a:srgbClr val="000000"/>
                </a:solidFill>
                <a:latin typeface="Public Sans Bold"/>
                <a:ea typeface="Public Sans Bold"/>
                <a:cs typeface="Public Sans Bold"/>
                <a:sym typeface="Public Sans Bold"/>
              </a:rPr>
              <a:t>Mã</a:t>
            </a:r>
            <a:r>
              <a:rPr lang="en-US" sz="3200" b="1" dirty="0">
                <a:solidFill>
                  <a:srgbClr val="000000"/>
                </a:solidFill>
                <a:latin typeface="Public Sans Bold"/>
                <a:ea typeface="Public Sans Bold"/>
                <a:cs typeface="Public Sans Bold"/>
                <a:sym typeface="Public Sans Bold"/>
              </a:rPr>
              <a:t> </a:t>
            </a:r>
            <a:r>
              <a:rPr lang="en-US" sz="3200" b="1" dirty="0" err="1">
                <a:solidFill>
                  <a:srgbClr val="000000"/>
                </a:solidFill>
                <a:latin typeface="Public Sans Bold"/>
                <a:ea typeface="Public Sans Bold"/>
                <a:cs typeface="Public Sans Bold"/>
                <a:sym typeface="Public Sans Bold"/>
              </a:rPr>
              <a:t>hóa</a:t>
            </a:r>
            <a:r>
              <a:rPr lang="en-US" sz="3200" b="1" dirty="0">
                <a:solidFill>
                  <a:srgbClr val="000000"/>
                </a:solidFill>
                <a:latin typeface="Public Sans Bold"/>
                <a:ea typeface="Public Sans Bold"/>
                <a:cs typeface="Public Sans Bold"/>
                <a:sym typeface="Public Sans Bold"/>
              </a:rPr>
              <a:t>:</a:t>
            </a:r>
          </a:p>
        </p:txBody>
      </p:sp>
      <p:sp>
        <p:nvSpPr>
          <p:cNvPr id="9" name="TextBox 9"/>
          <p:cNvSpPr txBox="1"/>
          <p:nvPr/>
        </p:nvSpPr>
        <p:spPr>
          <a:xfrm>
            <a:off x="1028700" y="2764863"/>
            <a:ext cx="15749306" cy="1600037"/>
          </a:xfrm>
          <a:prstGeom prst="rect">
            <a:avLst/>
          </a:prstGeom>
        </p:spPr>
        <p:txBody>
          <a:bodyPr lIns="0" tIns="0" rIns="0" bIns="0" rtlCol="0" anchor="t">
            <a:spAutoFit/>
          </a:bodyPr>
          <a:lstStyle/>
          <a:p>
            <a:pPr marL="647702" lvl="1" indent="-323851" algn="l">
              <a:lnSpc>
                <a:spcPts val="4200"/>
              </a:lnSpc>
              <a:buFont typeface="Arial"/>
              <a:buChar char="•"/>
            </a:pPr>
            <a:r>
              <a:rPr lang="en-US" sz="3000" dirty="0">
                <a:solidFill>
                  <a:srgbClr val="000000"/>
                </a:solidFill>
                <a:latin typeface="Public Sans"/>
                <a:ea typeface="Public Sans"/>
                <a:cs typeface="Public Sans"/>
                <a:sym typeface="Public Sans"/>
              </a:rPr>
              <a:t>Các </a:t>
            </a:r>
            <a:r>
              <a:rPr lang="en-US" sz="3000" dirty="0" err="1">
                <a:solidFill>
                  <a:srgbClr val="000000"/>
                </a:solidFill>
                <a:latin typeface="Public Sans"/>
                <a:ea typeface="Public Sans"/>
                <a:cs typeface="Public Sans"/>
                <a:sym typeface="Public Sans"/>
              </a:rPr>
              <a:t>đặc</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trưng</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phân</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loại</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Pclass</a:t>
            </a:r>
            <a:r>
              <a:rPr lang="en-US" sz="3000" dirty="0">
                <a:solidFill>
                  <a:srgbClr val="000000"/>
                </a:solidFill>
                <a:latin typeface="Public Sans"/>
                <a:ea typeface="Public Sans"/>
                <a:cs typeface="Public Sans"/>
                <a:sym typeface="Public Sans"/>
              </a:rPr>
              <a:t>, Sex, Embarked, Title, … → </a:t>
            </a:r>
            <a:r>
              <a:rPr lang="en-US" sz="3000" dirty="0" err="1">
                <a:solidFill>
                  <a:srgbClr val="000000"/>
                </a:solidFill>
                <a:latin typeface="Public Sans"/>
                <a:ea typeface="Public Sans"/>
                <a:cs typeface="Public Sans"/>
                <a:sym typeface="Public Sans"/>
              </a:rPr>
              <a:t>OneHotEncoder</a:t>
            </a:r>
            <a:endParaRPr lang="en-US" sz="3000" dirty="0">
              <a:solidFill>
                <a:srgbClr val="000000"/>
              </a:solidFill>
              <a:latin typeface="Public Sans"/>
              <a:ea typeface="Public Sans"/>
              <a:cs typeface="Public Sans"/>
              <a:sym typeface="Public Sans"/>
            </a:endParaRPr>
          </a:p>
          <a:p>
            <a:pPr marL="647702" lvl="1" indent="-323851" algn="l">
              <a:lnSpc>
                <a:spcPts val="4200"/>
              </a:lnSpc>
              <a:buFont typeface="Arial"/>
              <a:buChar char="•"/>
            </a:pPr>
            <a:r>
              <a:rPr lang="en-US" sz="3000" dirty="0" err="1">
                <a:solidFill>
                  <a:srgbClr val="000000"/>
                </a:solidFill>
                <a:latin typeface="Public Sans"/>
                <a:ea typeface="Public Sans"/>
                <a:cs typeface="Public Sans"/>
                <a:sym typeface="Public Sans"/>
              </a:rPr>
              <a:t>Biến</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đổi</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thành</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biểu</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diễn</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nhị</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phân</a:t>
            </a:r>
            <a:r>
              <a:rPr lang="en-US" sz="3000" dirty="0">
                <a:solidFill>
                  <a:srgbClr val="000000"/>
                </a:solidFill>
                <a:latin typeface="Public Sans"/>
                <a:ea typeface="Public Sans"/>
                <a:cs typeface="Public Sans"/>
                <a:sym typeface="Public Sans"/>
              </a:rPr>
              <a:t> (0/1) </a:t>
            </a:r>
            <a:r>
              <a:rPr lang="en-US" sz="3000" dirty="0" err="1">
                <a:solidFill>
                  <a:srgbClr val="000000"/>
                </a:solidFill>
                <a:latin typeface="Public Sans"/>
                <a:ea typeface="Public Sans"/>
                <a:cs typeface="Public Sans"/>
                <a:sym typeface="Public Sans"/>
              </a:rPr>
              <a:t>để</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mô</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hình</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hiểu</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được</a:t>
            </a:r>
            <a:r>
              <a:rPr lang="en-US" sz="3000" dirty="0">
                <a:solidFill>
                  <a:srgbClr val="000000"/>
                </a:solidFill>
                <a:latin typeface="Public Sans"/>
                <a:ea typeface="Public Sans"/>
                <a:cs typeface="Public Sans"/>
                <a:sym typeface="Public Sans"/>
              </a:rPr>
              <a:t>.</a:t>
            </a:r>
          </a:p>
          <a:p>
            <a:pPr marL="647702" lvl="1" indent="-323851" algn="l">
              <a:lnSpc>
                <a:spcPts val="4200"/>
              </a:lnSpc>
              <a:buFont typeface="Arial"/>
              <a:buChar char="•"/>
            </a:pPr>
            <a:r>
              <a:rPr lang="en-US" sz="3000" dirty="0" err="1">
                <a:solidFill>
                  <a:srgbClr val="000000"/>
                </a:solidFill>
                <a:latin typeface="Public Sans"/>
                <a:ea typeface="Public Sans"/>
                <a:cs typeface="Public Sans"/>
                <a:sym typeface="Public Sans"/>
              </a:rPr>
              <a:t>Tránh</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việc</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mô</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hình</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hiểu</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sai</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thứ</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tự</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giữa</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các</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giá</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trị</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phân</a:t>
            </a:r>
            <a:r>
              <a:rPr lang="en-US" sz="3000" dirty="0">
                <a:solidFill>
                  <a:srgbClr val="000000"/>
                </a:solidFill>
                <a:latin typeface="Public Sans"/>
                <a:ea typeface="Public Sans"/>
                <a:cs typeface="Public Sans"/>
                <a:sym typeface="Public Sans"/>
              </a:rPr>
              <a:t> </a:t>
            </a:r>
            <a:r>
              <a:rPr lang="en-US" sz="3000" dirty="0" err="1">
                <a:solidFill>
                  <a:srgbClr val="000000"/>
                </a:solidFill>
                <a:latin typeface="Public Sans"/>
                <a:ea typeface="Public Sans"/>
                <a:cs typeface="Public Sans"/>
                <a:sym typeface="Public Sans"/>
              </a:rPr>
              <a:t>loại</a:t>
            </a:r>
            <a:r>
              <a:rPr lang="en-US" sz="3000" dirty="0">
                <a:solidFill>
                  <a:srgbClr val="000000"/>
                </a:solidFill>
                <a:latin typeface="Public Sans"/>
                <a:ea typeface="Public Sans"/>
                <a:cs typeface="Public Sans"/>
                <a:sym typeface="Public Sans"/>
              </a:rPr>
              <a:t>.</a:t>
            </a:r>
          </a:p>
        </p:txBody>
      </p:sp>
      <p:sp>
        <p:nvSpPr>
          <p:cNvPr id="10" name="TextBox 10"/>
          <p:cNvSpPr txBox="1"/>
          <p:nvPr/>
        </p:nvSpPr>
        <p:spPr>
          <a:xfrm>
            <a:off x="9139238" y="4619652"/>
            <a:ext cx="9525" cy="933396"/>
          </a:xfrm>
          <a:prstGeom prst="rect">
            <a:avLst/>
          </a:prstGeom>
        </p:spPr>
        <p:txBody>
          <a:bodyPr lIns="0" tIns="0" rIns="0" bIns="0" rtlCol="0" anchor="t">
            <a:spAutoFit/>
          </a:bodyPr>
          <a:lstStyle/>
          <a:p>
            <a:pPr algn="ctr">
              <a:lnSpc>
                <a:spcPts val="6479"/>
              </a:lnSpc>
              <a:spcBef>
                <a:spcPct val="0"/>
              </a:spcBef>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73402"/>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p:nvPr/>
        </p:nvGrpSpPr>
        <p:grpSpPr>
          <a:xfrm>
            <a:off x="1937292" y="4053386"/>
            <a:ext cx="14413416" cy="4976170"/>
            <a:chOff x="0" y="0"/>
            <a:chExt cx="6923780" cy="2390406"/>
          </a:xfrm>
        </p:grpSpPr>
        <p:sp>
          <p:nvSpPr>
            <p:cNvPr id="5" name="Freeform 5"/>
            <p:cNvSpPr/>
            <p:nvPr/>
          </p:nvSpPr>
          <p:spPr>
            <a:xfrm>
              <a:off x="0" y="0"/>
              <a:ext cx="6923780" cy="2390406"/>
            </a:xfrm>
            <a:custGeom>
              <a:avLst/>
              <a:gdLst/>
              <a:ahLst/>
              <a:cxnLst/>
              <a:rect l="l" t="t" r="r" b="b"/>
              <a:pathLst>
                <a:path w="6923780" h="2390406">
                  <a:moveTo>
                    <a:pt x="0" y="0"/>
                  </a:moveTo>
                  <a:lnTo>
                    <a:pt x="6923780" y="0"/>
                  </a:lnTo>
                  <a:lnTo>
                    <a:pt x="6923780" y="2390406"/>
                  </a:lnTo>
                  <a:lnTo>
                    <a:pt x="0" y="2390406"/>
                  </a:lnTo>
                  <a:close/>
                </a:path>
              </a:pathLst>
            </a:custGeom>
            <a:blipFill>
              <a:blip r:embed="rId3"/>
              <a:stretch>
                <a:fillRect t="-869" b="-869"/>
              </a:stretch>
            </a:blipFill>
          </p:spPr>
          <p:txBody>
            <a:bodyPr/>
            <a:lstStyle/>
            <a:p>
              <a:endParaRPr lang="en-US"/>
            </a:p>
          </p:txBody>
        </p:sp>
      </p:grpSp>
      <p:sp>
        <p:nvSpPr>
          <p:cNvPr id="6" name="TextBox 6"/>
          <p:cNvSpPr txBox="1"/>
          <p:nvPr/>
        </p:nvSpPr>
        <p:spPr>
          <a:xfrm>
            <a:off x="1028700" y="914400"/>
            <a:ext cx="1333969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3. Phương pháp đề xuất</a:t>
            </a:r>
          </a:p>
        </p:txBody>
      </p:sp>
      <p:sp>
        <p:nvSpPr>
          <p:cNvPr id="7" name="TextBox 7"/>
          <p:cNvSpPr txBox="1"/>
          <p:nvPr/>
        </p:nvSpPr>
        <p:spPr>
          <a:xfrm>
            <a:off x="1028700" y="1913382"/>
            <a:ext cx="2628900" cy="670506"/>
          </a:xfrm>
          <a:prstGeom prst="rect">
            <a:avLst/>
          </a:prstGeom>
        </p:spPr>
        <p:txBody>
          <a:bodyPr wrap="square" lIns="0" tIns="0" rIns="0" bIns="0" rtlCol="0" anchor="t">
            <a:spAutoFit/>
          </a:bodyPr>
          <a:lstStyle/>
          <a:p>
            <a:pPr algn="ctr">
              <a:lnSpc>
                <a:spcPts val="5760"/>
              </a:lnSpc>
              <a:spcBef>
                <a:spcPct val="0"/>
              </a:spcBef>
            </a:pPr>
            <a:r>
              <a:rPr lang="en-US" sz="3200" b="1" dirty="0" err="1">
                <a:solidFill>
                  <a:srgbClr val="000000"/>
                </a:solidFill>
                <a:latin typeface="Public Sans Bold"/>
                <a:ea typeface="Public Sans Bold"/>
                <a:cs typeface="Public Sans Bold"/>
                <a:sym typeface="Public Sans Bold"/>
              </a:rPr>
              <a:t>Chuẩn</a:t>
            </a:r>
            <a:r>
              <a:rPr lang="en-US" sz="3200" b="1" dirty="0">
                <a:solidFill>
                  <a:srgbClr val="000000"/>
                </a:solidFill>
                <a:latin typeface="Public Sans Bold"/>
                <a:ea typeface="Public Sans Bold"/>
                <a:cs typeface="Public Sans Bold"/>
                <a:sym typeface="Public Sans Bold"/>
              </a:rPr>
              <a:t> </a:t>
            </a:r>
            <a:r>
              <a:rPr lang="en-US" sz="3200" b="1" dirty="0" err="1">
                <a:solidFill>
                  <a:srgbClr val="000000"/>
                </a:solidFill>
                <a:latin typeface="Public Sans Bold"/>
                <a:ea typeface="Public Sans Bold"/>
                <a:cs typeface="Public Sans Bold"/>
                <a:sym typeface="Public Sans Bold"/>
              </a:rPr>
              <a:t>hóa</a:t>
            </a:r>
            <a:r>
              <a:rPr lang="en-US" sz="3200" b="1" dirty="0">
                <a:solidFill>
                  <a:srgbClr val="000000"/>
                </a:solidFill>
                <a:latin typeface="Public Sans Bold"/>
                <a:ea typeface="Public Sans Bold"/>
                <a:cs typeface="Public Sans Bold"/>
                <a:sym typeface="Public Sans Bold"/>
              </a:rPr>
              <a:t>:</a:t>
            </a:r>
          </a:p>
        </p:txBody>
      </p:sp>
      <p:sp>
        <p:nvSpPr>
          <p:cNvPr id="8" name="TextBox 8"/>
          <p:cNvSpPr txBox="1"/>
          <p:nvPr/>
        </p:nvSpPr>
        <p:spPr>
          <a:xfrm>
            <a:off x="1028700" y="2774388"/>
            <a:ext cx="15749306" cy="1021823"/>
          </a:xfrm>
          <a:prstGeom prst="rect">
            <a:avLst/>
          </a:prstGeom>
        </p:spPr>
        <p:txBody>
          <a:bodyPr lIns="0" tIns="0" rIns="0" bIns="0" rtlCol="0" anchor="t">
            <a:spAutoFit/>
          </a:bodyPr>
          <a:lstStyle/>
          <a:p>
            <a:pPr algn="l">
              <a:lnSpc>
                <a:spcPts val="4060"/>
              </a:lnSpc>
            </a:pPr>
            <a:r>
              <a:rPr lang="en-US" sz="2900">
                <a:solidFill>
                  <a:srgbClr val="000000"/>
                </a:solidFill>
                <a:latin typeface="Public Sans"/>
                <a:ea typeface="Public Sans"/>
                <a:cs typeface="Public Sans"/>
                <a:sym typeface="Public Sans"/>
              </a:rPr>
              <a:t>Áp dụng Log Transformation (log (1 + x)  cho Fare và Age  →  giảm độ lệch phải  (skewness) → dữ liệu ổn định hơn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p:nvPr/>
        </p:nvGrpSpPr>
        <p:grpSpPr>
          <a:xfrm>
            <a:off x="4741077" y="4394906"/>
            <a:ext cx="8805847" cy="5414765"/>
            <a:chOff x="0" y="0"/>
            <a:chExt cx="7127697" cy="4382862"/>
          </a:xfrm>
        </p:grpSpPr>
        <p:sp>
          <p:nvSpPr>
            <p:cNvPr id="5" name="Freeform 5"/>
            <p:cNvSpPr/>
            <p:nvPr/>
          </p:nvSpPr>
          <p:spPr>
            <a:xfrm>
              <a:off x="0" y="0"/>
              <a:ext cx="7127697" cy="4382862"/>
            </a:xfrm>
            <a:custGeom>
              <a:avLst/>
              <a:gdLst/>
              <a:ahLst/>
              <a:cxnLst/>
              <a:rect l="l" t="t" r="r" b="b"/>
              <a:pathLst>
                <a:path w="7127697" h="4382862">
                  <a:moveTo>
                    <a:pt x="0" y="0"/>
                  </a:moveTo>
                  <a:lnTo>
                    <a:pt x="7127697" y="0"/>
                  </a:lnTo>
                  <a:lnTo>
                    <a:pt x="7127697" y="4382862"/>
                  </a:lnTo>
                  <a:lnTo>
                    <a:pt x="0" y="4382862"/>
                  </a:lnTo>
                  <a:close/>
                </a:path>
              </a:pathLst>
            </a:custGeom>
            <a:blipFill>
              <a:blip r:embed="rId3"/>
              <a:stretch>
                <a:fillRect t="-820" b="-820"/>
              </a:stretch>
            </a:blipFill>
          </p:spPr>
          <p:txBody>
            <a:bodyPr/>
            <a:lstStyle/>
            <a:p>
              <a:endParaRPr lang="en-US"/>
            </a:p>
          </p:txBody>
        </p:sp>
      </p:grpSp>
      <p:sp>
        <p:nvSpPr>
          <p:cNvPr id="6" name="TextBox 6"/>
          <p:cNvSpPr txBox="1"/>
          <p:nvPr/>
        </p:nvSpPr>
        <p:spPr>
          <a:xfrm>
            <a:off x="1028700" y="971363"/>
            <a:ext cx="1333969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3. Phương pháp đề xuất</a:t>
            </a:r>
          </a:p>
        </p:txBody>
      </p:sp>
      <p:sp>
        <p:nvSpPr>
          <p:cNvPr id="7" name="TextBox 7"/>
          <p:cNvSpPr txBox="1"/>
          <p:nvPr/>
        </p:nvSpPr>
        <p:spPr>
          <a:xfrm>
            <a:off x="1028700" y="2651278"/>
            <a:ext cx="15458238" cy="1600037"/>
          </a:xfrm>
          <a:prstGeom prst="rect">
            <a:avLst/>
          </a:prstGeom>
        </p:spPr>
        <p:txBody>
          <a:bodyPr lIns="0" tIns="0" rIns="0" bIns="0" rtlCol="0" anchor="t">
            <a:spAutoFit/>
          </a:bodyPr>
          <a:lstStyle/>
          <a:p>
            <a:pPr marL="647702" lvl="1" indent="-323851" algn="l">
              <a:lnSpc>
                <a:spcPts val="4200"/>
              </a:lnSpc>
              <a:buFont typeface="Arial"/>
              <a:buChar char="•"/>
            </a:pPr>
            <a:r>
              <a:rPr lang="en-US" sz="3000">
                <a:solidFill>
                  <a:srgbClr val="000000"/>
                </a:solidFill>
                <a:latin typeface="Public Sans"/>
                <a:ea typeface="Public Sans"/>
                <a:cs typeface="Public Sans"/>
                <a:sym typeface="Public Sans"/>
              </a:rPr>
              <a:t>Các đặc trưng số : Age, Fare, FamilySize, … → StandardScaler</a:t>
            </a:r>
          </a:p>
          <a:p>
            <a:pPr marL="647702" lvl="1" indent="-323851" algn="l">
              <a:lnSpc>
                <a:spcPts val="4200"/>
              </a:lnSpc>
              <a:buFont typeface="Arial"/>
              <a:buChar char="•"/>
            </a:pPr>
            <a:r>
              <a:rPr lang="en-US" sz="3000">
                <a:solidFill>
                  <a:srgbClr val="000000"/>
                </a:solidFill>
                <a:latin typeface="Public Sans"/>
                <a:ea typeface="Public Sans"/>
                <a:cs typeface="Public Sans"/>
                <a:sym typeface="Public Sans"/>
              </a:rPr>
              <a:t>Đưa các giá trị về cùng trung bình = 0, độ lệch chuẩn = 1.</a:t>
            </a:r>
          </a:p>
          <a:p>
            <a:pPr marL="647702" lvl="1" indent="-323851" algn="l">
              <a:lnSpc>
                <a:spcPts val="4200"/>
              </a:lnSpc>
              <a:buFont typeface="Arial"/>
              <a:buChar char="•"/>
            </a:pPr>
            <a:r>
              <a:rPr lang="en-US" sz="3000">
                <a:solidFill>
                  <a:srgbClr val="000000"/>
                </a:solidFill>
                <a:latin typeface="Public Sans"/>
                <a:ea typeface="Public Sans"/>
                <a:cs typeface="Public Sans"/>
                <a:sym typeface="Public Sans"/>
              </a:rPr>
              <a:t>Giúp mô hình hội tụ nhanh hơn và cân bằng giữa các đặc trưng.</a:t>
            </a:r>
          </a:p>
        </p:txBody>
      </p:sp>
      <p:sp>
        <p:nvSpPr>
          <p:cNvPr id="8" name="TextBox 8"/>
          <p:cNvSpPr txBox="1"/>
          <p:nvPr/>
        </p:nvSpPr>
        <p:spPr>
          <a:xfrm>
            <a:off x="1317168" y="1857134"/>
            <a:ext cx="2492832" cy="670506"/>
          </a:xfrm>
          <a:prstGeom prst="rect">
            <a:avLst/>
          </a:prstGeom>
        </p:spPr>
        <p:txBody>
          <a:bodyPr wrap="square" lIns="0" tIns="0" rIns="0" bIns="0" rtlCol="0" anchor="t">
            <a:spAutoFit/>
          </a:bodyPr>
          <a:lstStyle/>
          <a:p>
            <a:pPr algn="ctr">
              <a:lnSpc>
                <a:spcPts val="5760"/>
              </a:lnSpc>
              <a:spcBef>
                <a:spcPct val="0"/>
              </a:spcBef>
            </a:pPr>
            <a:r>
              <a:rPr lang="en-US" sz="3200" b="1" dirty="0" err="1">
                <a:solidFill>
                  <a:srgbClr val="000000"/>
                </a:solidFill>
                <a:latin typeface="Public Sans Bold"/>
                <a:ea typeface="Public Sans Bold"/>
                <a:cs typeface="Public Sans Bold"/>
                <a:sym typeface="Public Sans Bold"/>
              </a:rPr>
              <a:t>Chuẩn</a:t>
            </a:r>
            <a:r>
              <a:rPr lang="en-US" sz="3200" b="1" dirty="0">
                <a:solidFill>
                  <a:srgbClr val="000000"/>
                </a:solidFill>
                <a:latin typeface="Public Sans Bold"/>
                <a:ea typeface="Public Sans Bold"/>
                <a:cs typeface="Public Sans Bold"/>
                <a:sym typeface="Public Sans Bold"/>
              </a:rPr>
              <a:t> </a:t>
            </a:r>
            <a:r>
              <a:rPr lang="en-US" sz="3200" b="1" dirty="0" err="1">
                <a:solidFill>
                  <a:srgbClr val="000000"/>
                </a:solidFill>
                <a:latin typeface="Public Sans Bold"/>
                <a:ea typeface="Public Sans Bold"/>
                <a:cs typeface="Public Sans Bold"/>
                <a:sym typeface="Public Sans Bold"/>
              </a:rPr>
              <a:t>hóa</a:t>
            </a:r>
            <a:r>
              <a:rPr lang="en-US" sz="3200" b="1" dirty="0">
                <a:solidFill>
                  <a:srgbClr val="000000"/>
                </a:solidFill>
                <a:latin typeface="Public Sans Bold"/>
                <a:ea typeface="Public Sans Bold"/>
                <a:cs typeface="Public Sans Bold"/>
                <a:sym typeface="Public Sans Bold"/>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TextBox 4"/>
          <p:cNvSpPr txBox="1"/>
          <p:nvPr/>
        </p:nvSpPr>
        <p:spPr>
          <a:xfrm>
            <a:off x="1429456" y="1714446"/>
            <a:ext cx="16230600" cy="614100"/>
          </a:xfrm>
          <a:prstGeom prst="rect">
            <a:avLst/>
          </a:prstGeom>
        </p:spPr>
        <p:txBody>
          <a:bodyPr lIns="0" tIns="0" rIns="0" bIns="0" rtlCol="0" anchor="t">
            <a:spAutoFit/>
          </a:bodyPr>
          <a:lstStyle/>
          <a:p>
            <a:pPr algn="l">
              <a:lnSpc>
                <a:spcPts val="4479"/>
              </a:lnSpc>
            </a:pPr>
            <a:r>
              <a:rPr lang="en-US" sz="3199" b="1">
                <a:solidFill>
                  <a:srgbClr val="000000"/>
                </a:solidFill>
                <a:latin typeface="Calibri (MS) Bold"/>
                <a:ea typeface="Calibri (MS) Bold"/>
                <a:cs typeface="Calibri (MS) Bold"/>
                <a:sym typeface="Calibri (MS) Bold"/>
              </a:rPr>
              <a:t>Model training:</a:t>
            </a:r>
          </a:p>
        </p:txBody>
      </p:sp>
      <p:sp>
        <p:nvSpPr>
          <p:cNvPr id="5" name="TextBox 5"/>
          <p:cNvSpPr txBox="1"/>
          <p:nvPr/>
        </p:nvSpPr>
        <p:spPr>
          <a:xfrm>
            <a:off x="1028700" y="914400"/>
            <a:ext cx="1333969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3. Phương pháp đề xuất</a:t>
            </a:r>
          </a:p>
        </p:txBody>
      </p:sp>
      <p:grpSp>
        <p:nvGrpSpPr>
          <p:cNvPr id="6" name="Group 6"/>
          <p:cNvGrpSpPr/>
          <p:nvPr/>
        </p:nvGrpSpPr>
        <p:grpSpPr>
          <a:xfrm>
            <a:off x="2787940" y="2442837"/>
            <a:ext cx="4427160" cy="3454022"/>
            <a:chOff x="0" y="0"/>
            <a:chExt cx="1437093" cy="1121204"/>
          </a:xfrm>
        </p:grpSpPr>
        <p:sp>
          <p:nvSpPr>
            <p:cNvPr id="7" name="Freeform 7"/>
            <p:cNvSpPr/>
            <p:nvPr/>
          </p:nvSpPr>
          <p:spPr>
            <a:xfrm>
              <a:off x="0" y="0"/>
              <a:ext cx="1437093" cy="1121204"/>
            </a:xfrm>
            <a:custGeom>
              <a:avLst/>
              <a:gdLst/>
              <a:ahLst/>
              <a:cxnLst/>
              <a:rect l="l" t="t" r="r" b="b"/>
              <a:pathLst>
                <a:path w="1437093" h="1121204">
                  <a:moveTo>
                    <a:pt x="0" y="0"/>
                  </a:moveTo>
                  <a:lnTo>
                    <a:pt x="1437093" y="0"/>
                  </a:lnTo>
                  <a:lnTo>
                    <a:pt x="1437093" y="1121204"/>
                  </a:lnTo>
                  <a:lnTo>
                    <a:pt x="0" y="1121204"/>
                  </a:lnTo>
                  <a:close/>
                </a:path>
              </a:pathLst>
            </a:custGeom>
            <a:blipFill>
              <a:blip r:embed="rId3"/>
              <a:stretch>
                <a:fillRect t="-6661" b="-6661"/>
              </a:stretch>
            </a:blipFill>
          </p:spPr>
          <p:txBody>
            <a:bodyPr/>
            <a:lstStyle/>
            <a:p>
              <a:endParaRPr lang="en-US"/>
            </a:p>
          </p:txBody>
        </p:sp>
      </p:grpSp>
      <p:grpSp>
        <p:nvGrpSpPr>
          <p:cNvPr id="8" name="Group 8"/>
          <p:cNvGrpSpPr/>
          <p:nvPr/>
        </p:nvGrpSpPr>
        <p:grpSpPr>
          <a:xfrm>
            <a:off x="2444281" y="6011159"/>
            <a:ext cx="4770819" cy="3604398"/>
            <a:chOff x="0" y="0"/>
            <a:chExt cx="1484037" cy="1121204"/>
          </a:xfrm>
        </p:grpSpPr>
        <p:sp>
          <p:nvSpPr>
            <p:cNvPr id="9" name="Freeform 9"/>
            <p:cNvSpPr/>
            <p:nvPr/>
          </p:nvSpPr>
          <p:spPr>
            <a:xfrm>
              <a:off x="0" y="0"/>
              <a:ext cx="1484037" cy="1121204"/>
            </a:xfrm>
            <a:custGeom>
              <a:avLst/>
              <a:gdLst/>
              <a:ahLst/>
              <a:cxnLst/>
              <a:rect l="l" t="t" r="r" b="b"/>
              <a:pathLst>
                <a:path w="1484037" h="1121204">
                  <a:moveTo>
                    <a:pt x="0" y="0"/>
                  </a:moveTo>
                  <a:lnTo>
                    <a:pt x="1484037" y="0"/>
                  </a:lnTo>
                  <a:lnTo>
                    <a:pt x="1484037" y="1121204"/>
                  </a:lnTo>
                  <a:lnTo>
                    <a:pt x="0" y="1121204"/>
                  </a:lnTo>
                  <a:close/>
                </a:path>
              </a:pathLst>
            </a:custGeom>
            <a:blipFill>
              <a:blip r:embed="rId4"/>
              <a:stretch>
                <a:fillRect t="-682" b="-682"/>
              </a:stretch>
            </a:blipFill>
          </p:spPr>
          <p:txBody>
            <a:bodyPr/>
            <a:lstStyle/>
            <a:p>
              <a:endParaRPr lang="en-US"/>
            </a:p>
          </p:txBody>
        </p:sp>
      </p:grpSp>
      <p:grpSp>
        <p:nvGrpSpPr>
          <p:cNvPr id="10" name="Group 10"/>
          <p:cNvGrpSpPr/>
          <p:nvPr/>
        </p:nvGrpSpPr>
        <p:grpSpPr>
          <a:xfrm>
            <a:off x="10298520" y="6233389"/>
            <a:ext cx="5742495" cy="3636620"/>
            <a:chOff x="0" y="0"/>
            <a:chExt cx="1737157" cy="1100111"/>
          </a:xfrm>
        </p:grpSpPr>
        <p:sp>
          <p:nvSpPr>
            <p:cNvPr id="11" name="Freeform 11"/>
            <p:cNvSpPr/>
            <p:nvPr/>
          </p:nvSpPr>
          <p:spPr>
            <a:xfrm>
              <a:off x="0" y="0"/>
              <a:ext cx="1737157" cy="1100111"/>
            </a:xfrm>
            <a:custGeom>
              <a:avLst/>
              <a:gdLst/>
              <a:ahLst/>
              <a:cxnLst/>
              <a:rect l="l" t="t" r="r" b="b"/>
              <a:pathLst>
                <a:path w="1737157" h="1100111">
                  <a:moveTo>
                    <a:pt x="0" y="0"/>
                  </a:moveTo>
                  <a:lnTo>
                    <a:pt x="1737157" y="0"/>
                  </a:lnTo>
                  <a:lnTo>
                    <a:pt x="1737157" y="1100111"/>
                  </a:lnTo>
                  <a:lnTo>
                    <a:pt x="0" y="1100111"/>
                  </a:lnTo>
                  <a:close/>
                </a:path>
              </a:pathLst>
            </a:custGeom>
            <a:blipFill>
              <a:blip r:embed="rId5"/>
              <a:stretch>
                <a:fillRect t="-470" b="-470"/>
              </a:stretch>
            </a:blipFill>
          </p:spPr>
          <p:txBody>
            <a:bodyPr/>
            <a:lstStyle/>
            <a:p>
              <a:endParaRPr lang="en-US"/>
            </a:p>
          </p:txBody>
        </p:sp>
      </p:grpSp>
      <p:grpSp>
        <p:nvGrpSpPr>
          <p:cNvPr id="12" name="Group 12"/>
          <p:cNvGrpSpPr/>
          <p:nvPr/>
        </p:nvGrpSpPr>
        <p:grpSpPr>
          <a:xfrm>
            <a:off x="9948238" y="2106289"/>
            <a:ext cx="6607913" cy="4127100"/>
            <a:chOff x="0" y="0"/>
            <a:chExt cx="1795163" cy="1121204"/>
          </a:xfrm>
        </p:grpSpPr>
        <p:sp>
          <p:nvSpPr>
            <p:cNvPr id="13" name="Freeform 13"/>
            <p:cNvSpPr/>
            <p:nvPr/>
          </p:nvSpPr>
          <p:spPr>
            <a:xfrm>
              <a:off x="0" y="0"/>
              <a:ext cx="1795163" cy="1121204"/>
            </a:xfrm>
            <a:custGeom>
              <a:avLst/>
              <a:gdLst/>
              <a:ahLst/>
              <a:cxnLst/>
              <a:rect l="l" t="t" r="r" b="b"/>
              <a:pathLst>
                <a:path w="1795163" h="1121204">
                  <a:moveTo>
                    <a:pt x="0" y="0"/>
                  </a:moveTo>
                  <a:lnTo>
                    <a:pt x="1795163" y="0"/>
                  </a:lnTo>
                  <a:lnTo>
                    <a:pt x="1795163" y="1121204"/>
                  </a:lnTo>
                  <a:lnTo>
                    <a:pt x="0" y="1121204"/>
                  </a:lnTo>
                  <a:close/>
                </a:path>
              </a:pathLst>
            </a:custGeom>
            <a:blipFill>
              <a:blip r:embed="rId6"/>
              <a:stretch>
                <a:fillRect l="-5517" r="-5517"/>
              </a:stretch>
            </a:blipFill>
          </p:spPr>
          <p:txBody>
            <a:bodyPr/>
            <a:lstStyle/>
            <a:p>
              <a:endParaRPr lang="en-US"/>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TextBox 4"/>
          <p:cNvSpPr txBox="1"/>
          <p:nvPr/>
        </p:nvSpPr>
        <p:spPr>
          <a:xfrm>
            <a:off x="1028700" y="2001056"/>
            <a:ext cx="15765840" cy="3657601"/>
          </a:xfrm>
          <a:prstGeom prst="rect">
            <a:avLst/>
          </a:prstGeom>
        </p:spPr>
        <p:txBody>
          <a:bodyPr lIns="0" tIns="0" rIns="0" bIns="0" rtlCol="0" anchor="t">
            <a:spAutoFit/>
          </a:bodyPr>
          <a:lstStyle/>
          <a:p>
            <a:pPr algn="l">
              <a:lnSpc>
                <a:spcPts val="4199"/>
              </a:lnSpc>
            </a:pPr>
            <a:r>
              <a:rPr lang="en-US" sz="2999" b="1">
                <a:solidFill>
                  <a:srgbClr val="000000"/>
                </a:solidFill>
                <a:latin typeface="Public Sans Bold"/>
                <a:ea typeface="Public Sans Bold"/>
                <a:cs typeface="Public Sans Bold"/>
                <a:sym typeface="Public Sans Bold"/>
              </a:rPr>
              <a:t>Model evaluation:</a:t>
            </a:r>
          </a:p>
          <a:p>
            <a:pPr marL="647695" lvl="1" indent="-323848" algn="l">
              <a:lnSpc>
                <a:spcPts val="4199"/>
              </a:lnSpc>
              <a:buFont typeface="Arial"/>
              <a:buChar char="•"/>
            </a:pPr>
            <a:r>
              <a:rPr lang="en-US" sz="2999" b="1">
                <a:solidFill>
                  <a:srgbClr val="000000"/>
                </a:solidFill>
                <a:latin typeface="Public Sans Bold"/>
                <a:ea typeface="Public Sans Bold"/>
                <a:cs typeface="Public Sans Bold"/>
                <a:sym typeface="Public Sans Bold"/>
              </a:rPr>
              <a:t>Đánh giá bằng Cross-Validation:</a:t>
            </a:r>
          </a:p>
          <a:p>
            <a:pPr marL="1295390" lvl="2" indent="-431797" algn="l">
              <a:lnSpc>
                <a:spcPts val="4199"/>
              </a:lnSpc>
              <a:buFont typeface="Arial"/>
              <a:buChar char="⚬"/>
            </a:pPr>
            <a:r>
              <a:rPr lang="en-US" sz="2999">
                <a:solidFill>
                  <a:srgbClr val="000000"/>
                </a:solidFill>
                <a:latin typeface="Public Sans"/>
                <a:ea typeface="Public Sans"/>
                <a:cs typeface="Public Sans"/>
                <a:sym typeface="Public Sans"/>
              </a:rPr>
              <a:t>Dùng 10-fold Cross-Validation để đánh giá độ ổn định và khả năng tổng quát của mô hình.</a:t>
            </a:r>
          </a:p>
          <a:p>
            <a:pPr marL="1295390" lvl="2" indent="-431797" algn="l">
              <a:lnSpc>
                <a:spcPts val="4199"/>
              </a:lnSpc>
              <a:buFont typeface="Arial"/>
              <a:buChar char="⚬"/>
            </a:pPr>
            <a:r>
              <a:rPr lang="en-US" sz="2999">
                <a:solidFill>
                  <a:srgbClr val="000000"/>
                </a:solidFill>
                <a:latin typeface="Public Sans"/>
                <a:ea typeface="Public Sans"/>
                <a:cs typeface="Public Sans"/>
                <a:sym typeface="Public Sans"/>
              </a:rPr>
              <a:t>Giữ tỉ lệ Survived (~38%) đồng đều giữa các tập con.</a:t>
            </a:r>
          </a:p>
          <a:p>
            <a:pPr marL="1295390" lvl="2" indent="-431797" algn="l">
              <a:lnSpc>
                <a:spcPts val="4199"/>
              </a:lnSpc>
              <a:buFont typeface="Arial"/>
              <a:buChar char="⚬"/>
            </a:pPr>
            <a:r>
              <a:rPr lang="en-US" sz="2999">
                <a:solidFill>
                  <a:srgbClr val="000000"/>
                </a:solidFill>
                <a:latin typeface="Public Sans"/>
                <a:ea typeface="Public Sans"/>
                <a:cs typeface="Public Sans"/>
                <a:sym typeface="Public Sans"/>
              </a:rPr>
              <a:t>Kết quả được lấy trung bình qua 10 lần huấn luyện theo các chỉ số: Accuracy, F1-score, ROC-AUC.</a:t>
            </a:r>
          </a:p>
        </p:txBody>
      </p:sp>
      <p:sp>
        <p:nvSpPr>
          <p:cNvPr id="5" name="TextBox 5"/>
          <p:cNvSpPr txBox="1"/>
          <p:nvPr/>
        </p:nvSpPr>
        <p:spPr>
          <a:xfrm>
            <a:off x="1028700" y="914400"/>
            <a:ext cx="1333969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3. Phương pháp đề xuất</a:t>
            </a:r>
          </a:p>
        </p:txBody>
      </p:sp>
      <p:grpSp>
        <p:nvGrpSpPr>
          <p:cNvPr id="6" name="Group 6"/>
          <p:cNvGrpSpPr/>
          <p:nvPr/>
        </p:nvGrpSpPr>
        <p:grpSpPr>
          <a:xfrm>
            <a:off x="3379478" y="5878591"/>
            <a:ext cx="11529044" cy="3576570"/>
            <a:chOff x="0" y="0"/>
            <a:chExt cx="7756262" cy="2406168"/>
          </a:xfrm>
        </p:grpSpPr>
        <p:sp>
          <p:nvSpPr>
            <p:cNvPr id="7" name="Freeform 7"/>
            <p:cNvSpPr/>
            <p:nvPr/>
          </p:nvSpPr>
          <p:spPr>
            <a:xfrm>
              <a:off x="0" y="0"/>
              <a:ext cx="7756262" cy="2406168"/>
            </a:xfrm>
            <a:custGeom>
              <a:avLst/>
              <a:gdLst/>
              <a:ahLst/>
              <a:cxnLst/>
              <a:rect l="l" t="t" r="r" b="b"/>
              <a:pathLst>
                <a:path w="7756262" h="2406168">
                  <a:moveTo>
                    <a:pt x="0" y="0"/>
                  </a:moveTo>
                  <a:lnTo>
                    <a:pt x="7756262" y="0"/>
                  </a:lnTo>
                  <a:lnTo>
                    <a:pt x="7756262" y="2406168"/>
                  </a:lnTo>
                  <a:lnTo>
                    <a:pt x="0" y="2406168"/>
                  </a:lnTo>
                  <a:close/>
                </a:path>
              </a:pathLst>
            </a:custGeom>
            <a:blipFill>
              <a:blip r:embed="rId3"/>
              <a:stretch>
                <a:fillRect t="-5820" b="-5820"/>
              </a:stretch>
            </a:blipFill>
          </p:spPr>
          <p:txBody>
            <a:bodyPr/>
            <a:lstStyle/>
            <a:p>
              <a:endParaRPr lang="en-US"/>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p:nvPr/>
        </p:nvGrpSpPr>
        <p:grpSpPr>
          <a:xfrm>
            <a:off x="12058113" y="1847796"/>
            <a:ext cx="4620555" cy="3989680"/>
            <a:chOff x="0" y="0"/>
            <a:chExt cx="3940244" cy="3402256"/>
          </a:xfrm>
        </p:grpSpPr>
        <p:sp>
          <p:nvSpPr>
            <p:cNvPr id="5" name="Freeform 5"/>
            <p:cNvSpPr/>
            <p:nvPr/>
          </p:nvSpPr>
          <p:spPr>
            <a:xfrm>
              <a:off x="0" y="0"/>
              <a:ext cx="3940244" cy="3402256"/>
            </a:xfrm>
            <a:custGeom>
              <a:avLst/>
              <a:gdLst/>
              <a:ahLst/>
              <a:cxnLst/>
              <a:rect l="l" t="t" r="r" b="b"/>
              <a:pathLst>
                <a:path w="3940244" h="3402256">
                  <a:moveTo>
                    <a:pt x="0" y="0"/>
                  </a:moveTo>
                  <a:lnTo>
                    <a:pt x="3940244" y="0"/>
                  </a:lnTo>
                  <a:lnTo>
                    <a:pt x="3940244" y="3402256"/>
                  </a:lnTo>
                  <a:lnTo>
                    <a:pt x="0" y="3402256"/>
                  </a:lnTo>
                  <a:close/>
                </a:path>
              </a:pathLst>
            </a:custGeom>
            <a:blipFill>
              <a:blip r:embed="rId3"/>
              <a:stretch>
                <a:fillRect l="-2341" r="-2341"/>
              </a:stretch>
            </a:blipFill>
          </p:spPr>
          <p:txBody>
            <a:bodyPr/>
            <a:lstStyle/>
            <a:p>
              <a:endParaRPr lang="en-US"/>
            </a:p>
          </p:txBody>
        </p:sp>
      </p:grpSp>
      <p:sp>
        <p:nvSpPr>
          <p:cNvPr id="6" name="TextBox 6"/>
          <p:cNvSpPr txBox="1"/>
          <p:nvPr/>
        </p:nvSpPr>
        <p:spPr>
          <a:xfrm>
            <a:off x="1028700" y="2131822"/>
            <a:ext cx="10069741" cy="2666729"/>
          </a:xfrm>
          <a:prstGeom prst="rect">
            <a:avLst/>
          </a:prstGeom>
        </p:spPr>
        <p:txBody>
          <a:bodyPr lIns="0" tIns="0" rIns="0" bIns="0" rtlCol="0" anchor="t">
            <a:spAutoFit/>
          </a:bodyPr>
          <a:lstStyle/>
          <a:p>
            <a:pPr algn="just">
              <a:lnSpc>
                <a:spcPts val="4200"/>
              </a:lnSpc>
            </a:pPr>
            <a:r>
              <a:rPr lang="en-US" sz="3000" b="1">
                <a:solidFill>
                  <a:srgbClr val="000000"/>
                </a:solidFill>
                <a:latin typeface="Public Sans Bold"/>
                <a:ea typeface="Public Sans Bold"/>
                <a:cs typeface="Public Sans Bold"/>
                <a:sym typeface="Public Sans Bold"/>
              </a:rPr>
              <a:t>Tunning model: </a:t>
            </a:r>
          </a:p>
          <a:p>
            <a:pPr marL="647700" lvl="1" indent="-323850" algn="just">
              <a:lnSpc>
                <a:spcPts val="4200"/>
              </a:lnSpc>
              <a:buFont typeface="Arial"/>
              <a:buChar char="•"/>
            </a:pPr>
            <a:r>
              <a:rPr lang="en-US" sz="3000" b="1">
                <a:solidFill>
                  <a:srgbClr val="000000"/>
                </a:solidFill>
                <a:latin typeface="Public Sans Bold"/>
                <a:ea typeface="Public Sans Bold"/>
                <a:cs typeface="Public Sans Bold"/>
                <a:sym typeface="Public Sans Bold"/>
              </a:rPr>
              <a:t>Grid Search cv:</a:t>
            </a:r>
            <a:r>
              <a:rPr lang="en-US" sz="3000">
                <a:solidFill>
                  <a:srgbClr val="000000"/>
                </a:solidFill>
                <a:latin typeface="Public Sans"/>
                <a:ea typeface="Public Sans"/>
                <a:cs typeface="Public Sans"/>
                <a:sym typeface="Public Sans"/>
              </a:rPr>
              <a:t> Là phương pháp tìm tổ hợp</a:t>
            </a:r>
            <a:r>
              <a:rPr lang="en-US" sz="3000" i="1">
                <a:solidFill>
                  <a:srgbClr val="000000"/>
                </a:solidFill>
                <a:latin typeface="Public Sans Italics"/>
                <a:ea typeface="Public Sans Italics"/>
                <a:cs typeface="Public Sans Italics"/>
                <a:sym typeface="Public Sans Italics"/>
              </a:rPr>
              <a:t> tham số tối ưu</a:t>
            </a:r>
            <a:r>
              <a:rPr lang="en-US" sz="3000">
                <a:solidFill>
                  <a:srgbClr val="000000"/>
                </a:solidFill>
                <a:latin typeface="Public Sans"/>
                <a:ea typeface="Public Sans"/>
                <a:cs typeface="Public Sans"/>
                <a:sym typeface="Public Sans"/>
              </a:rPr>
              <a:t> cho mô hình bằng cách thử nghiệm có hệ thống nhiều giá trị khác nhau, kết hợp với Cross-Validation để chọn ra bộ tham số cho hiệu suất tốt nhất.</a:t>
            </a:r>
          </a:p>
        </p:txBody>
      </p:sp>
      <p:sp>
        <p:nvSpPr>
          <p:cNvPr id="7" name="TextBox 7"/>
          <p:cNvSpPr txBox="1"/>
          <p:nvPr/>
        </p:nvSpPr>
        <p:spPr>
          <a:xfrm>
            <a:off x="1028700" y="6070349"/>
            <a:ext cx="7638365" cy="2133383"/>
          </a:xfrm>
          <a:prstGeom prst="rect">
            <a:avLst/>
          </a:prstGeom>
        </p:spPr>
        <p:txBody>
          <a:bodyPr lIns="0" tIns="0" rIns="0" bIns="0" rtlCol="0" anchor="t">
            <a:spAutoFit/>
          </a:bodyPr>
          <a:lstStyle/>
          <a:p>
            <a:pPr algn="l">
              <a:lnSpc>
                <a:spcPts val="4200"/>
              </a:lnSpc>
            </a:pPr>
            <a:r>
              <a:rPr lang="en-US" sz="3000" b="1">
                <a:solidFill>
                  <a:srgbClr val="000000"/>
                </a:solidFill>
                <a:latin typeface="Public Sans Bold"/>
                <a:ea typeface="Public Sans Bold"/>
                <a:cs typeface="Public Sans Bold"/>
                <a:sym typeface="Public Sans Bold"/>
              </a:rPr>
              <a:t>Ensemble learning: </a:t>
            </a:r>
          </a:p>
          <a:p>
            <a:pPr marL="647700" lvl="1" indent="-323850" algn="l">
              <a:lnSpc>
                <a:spcPts val="4200"/>
              </a:lnSpc>
              <a:buFont typeface="Arial"/>
              <a:buChar char="•"/>
            </a:pPr>
            <a:r>
              <a:rPr lang="en-US" sz="3000" b="1">
                <a:solidFill>
                  <a:srgbClr val="000000"/>
                </a:solidFill>
                <a:latin typeface="Public Sans Bold"/>
                <a:ea typeface="Public Sans Bold"/>
                <a:cs typeface="Public Sans Bold"/>
                <a:sym typeface="Public Sans Bold"/>
              </a:rPr>
              <a:t>Stacking classifier:  </a:t>
            </a:r>
            <a:r>
              <a:rPr lang="en-US" sz="3000">
                <a:solidFill>
                  <a:srgbClr val="000000"/>
                </a:solidFill>
                <a:latin typeface="Public Sans"/>
                <a:ea typeface="Public Sans"/>
                <a:cs typeface="Public Sans"/>
                <a:sym typeface="Public Sans"/>
              </a:rPr>
              <a:t>Kết hợp nhiều mô hình “học cơ sở” và dùng một mô hình meta → tổng hợp kết quả từ chúng.</a:t>
            </a:r>
          </a:p>
        </p:txBody>
      </p:sp>
      <p:grpSp>
        <p:nvGrpSpPr>
          <p:cNvPr id="8" name="Group 8"/>
          <p:cNvGrpSpPr/>
          <p:nvPr/>
        </p:nvGrpSpPr>
        <p:grpSpPr>
          <a:xfrm>
            <a:off x="9144000" y="6067432"/>
            <a:ext cx="8207414" cy="3190868"/>
            <a:chOff x="0" y="0"/>
            <a:chExt cx="8280306" cy="3219206"/>
          </a:xfrm>
        </p:grpSpPr>
        <p:sp>
          <p:nvSpPr>
            <p:cNvPr id="9" name="Freeform 9"/>
            <p:cNvSpPr/>
            <p:nvPr/>
          </p:nvSpPr>
          <p:spPr>
            <a:xfrm>
              <a:off x="0" y="0"/>
              <a:ext cx="8280306" cy="3219206"/>
            </a:xfrm>
            <a:custGeom>
              <a:avLst/>
              <a:gdLst/>
              <a:ahLst/>
              <a:cxnLst/>
              <a:rect l="l" t="t" r="r" b="b"/>
              <a:pathLst>
                <a:path w="8280306" h="3219206">
                  <a:moveTo>
                    <a:pt x="0" y="0"/>
                  </a:moveTo>
                  <a:lnTo>
                    <a:pt x="8280306" y="0"/>
                  </a:lnTo>
                  <a:lnTo>
                    <a:pt x="8280306" y="3219206"/>
                  </a:lnTo>
                  <a:lnTo>
                    <a:pt x="0" y="3219206"/>
                  </a:lnTo>
                  <a:close/>
                </a:path>
              </a:pathLst>
            </a:custGeom>
            <a:blipFill>
              <a:blip r:embed="rId4"/>
              <a:stretch>
                <a:fillRect t="-1764" b="-1764"/>
              </a:stretch>
            </a:blipFill>
          </p:spPr>
          <p:txBody>
            <a:bodyPr/>
            <a:lstStyle/>
            <a:p>
              <a:endParaRPr lang="en-US"/>
            </a:p>
          </p:txBody>
        </p:sp>
      </p:grpSp>
      <p:sp>
        <p:nvSpPr>
          <p:cNvPr id="10" name="TextBox 10"/>
          <p:cNvSpPr txBox="1"/>
          <p:nvPr/>
        </p:nvSpPr>
        <p:spPr>
          <a:xfrm>
            <a:off x="1028700" y="914400"/>
            <a:ext cx="1333969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3. Phương pháp đề xuất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p:nvPr/>
        </p:nvGrpSpPr>
        <p:grpSpPr>
          <a:xfrm>
            <a:off x="8729034" y="2087387"/>
            <a:ext cx="9265511" cy="2867152"/>
            <a:chOff x="0" y="0"/>
            <a:chExt cx="10994756" cy="3402256"/>
          </a:xfrm>
        </p:grpSpPr>
        <p:sp>
          <p:nvSpPr>
            <p:cNvPr id="5" name="Freeform 5"/>
            <p:cNvSpPr/>
            <p:nvPr/>
          </p:nvSpPr>
          <p:spPr>
            <a:xfrm>
              <a:off x="0" y="0"/>
              <a:ext cx="10994756" cy="3402256"/>
            </a:xfrm>
            <a:custGeom>
              <a:avLst/>
              <a:gdLst/>
              <a:ahLst/>
              <a:cxnLst/>
              <a:rect l="l" t="t" r="r" b="b"/>
              <a:pathLst>
                <a:path w="10994756" h="3402256">
                  <a:moveTo>
                    <a:pt x="0" y="0"/>
                  </a:moveTo>
                  <a:lnTo>
                    <a:pt x="10994756" y="0"/>
                  </a:lnTo>
                  <a:lnTo>
                    <a:pt x="10994756" y="3402256"/>
                  </a:lnTo>
                  <a:lnTo>
                    <a:pt x="0" y="3402256"/>
                  </a:lnTo>
                  <a:close/>
                </a:path>
              </a:pathLst>
            </a:custGeom>
            <a:blipFill>
              <a:blip r:embed="rId3"/>
              <a:stretch>
                <a:fillRect l="-452" r="-452"/>
              </a:stretch>
            </a:blipFill>
          </p:spPr>
          <p:txBody>
            <a:bodyPr/>
            <a:lstStyle/>
            <a:p>
              <a:endParaRPr lang="en-US"/>
            </a:p>
          </p:txBody>
        </p:sp>
      </p:grpSp>
      <p:sp>
        <p:nvSpPr>
          <p:cNvPr id="6" name="TextBox 6"/>
          <p:cNvSpPr txBox="1"/>
          <p:nvPr/>
        </p:nvSpPr>
        <p:spPr>
          <a:xfrm>
            <a:off x="1028700" y="914400"/>
            <a:ext cx="13339690"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3. Phương pháp đề xuất</a:t>
            </a:r>
          </a:p>
        </p:txBody>
      </p:sp>
      <p:sp>
        <p:nvSpPr>
          <p:cNvPr id="7" name="TextBox 7"/>
          <p:cNvSpPr txBox="1"/>
          <p:nvPr/>
        </p:nvSpPr>
        <p:spPr>
          <a:xfrm>
            <a:off x="790882" y="2554755"/>
            <a:ext cx="7273496" cy="1600200"/>
          </a:xfrm>
          <a:prstGeom prst="rect">
            <a:avLst/>
          </a:prstGeom>
        </p:spPr>
        <p:txBody>
          <a:bodyPr lIns="0" tIns="0" rIns="0" bIns="0" rtlCol="0" anchor="t">
            <a:spAutoFit/>
          </a:bodyPr>
          <a:lstStyle/>
          <a:p>
            <a:pPr marL="647700" lvl="1" indent="-323850" algn="just">
              <a:lnSpc>
                <a:spcPts val="4200"/>
              </a:lnSpc>
              <a:buFont typeface="Arial"/>
              <a:buChar char="•"/>
            </a:pPr>
            <a:r>
              <a:rPr lang="en-US" sz="3000" b="1">
                <a:solidFill>
                  <a:srgbClr val="000000"/>
                </a:solidFill>
                <a:latin typeface="Public Sans Bold"/>
                <a:ea typeface="Public Sans Bold"/>
                <a:cs typeface="Public Sans Bold"/>
                <a:sym typeface="Public Sans Bold"/>
              </a:rPr>
              <a:t>Voting Classifier (Soft Voting): </a:t>
            </a:r>
            <a:r>
              <a:rPr lang="en-US" sz="3000">
                <a:solidFill>
                  <a:srgbClr val="000000"/>
                </a:solidFill>
                <a:latin typeface="Public Sans"/>
                <a:ea typeface="Public Sans"/>
                <a:cs typeface="Public Sans"/>
                <a:sym typeface="Public Sans"/>
              </a:rPr>
              <a:t>Kết hợp dự đoán của nhiều mô hình bằng cách lấy trung bình xác suất.</a:t>
            </a:r>
          </a:p>
        </p:txBody>
      </p:sp>
      <p:sp>
        <p:nvSpPr>
          <p:cNvPr id="8" name="TextBox 8"/>
          <p:cNvSpPr txBox="1"/>
          <p:nvPr/>
        </p:nvSpPr>
        <p:spPr>
          <a:xfrm>
            <a:off x="790882" y="6014417"/>
            <a:ext cx="7511313" cy="2133600"/>
          </a:xfrm>
          <a:prstGeom prst="rect">
            <a:avLst/>
          </a:prstGeom>
        </p:spPr>
        <p:txBody>
          <a:bodyPr lIns="0" tIns="0" rIns="0" bIns="0" rtlCol="0" anchor="t">
            <a:spAutoFit/>
          </a:bodyPr>
          <a:lstStyle/>
          <a:p>
            <a:pPr marL="647700" lvl="1" indent="-323850" algn="just">
              <a:lnSpc>
                <a:spcPts val="4200"/>
              </a:lnSpc>
              <a:buFont typeface="Arial"/>
              <a:buChar char="•"/>
            </a:pPr>
            <a:r>
              <a:rPr lang="en-US" sz="3000" b="1">
                <a:solidFill>
                  <a:srgbClr val="000000"/>
                </a:solidFill>
                <a:latin typeface="Public Sans Bold"/>
                <a:ea typeface="Public Sans Bold"/>
                <a:cs typeface="Public Sans Bold"/>
                <a:sym typeface="Public Sans Bold"/>
              </a:rPr>
              <a:t>Weighted Average Ensemble: </a:t>
            </a:r>
            <a:r>
              <a:rPr lang="en-US" sz="3000">
                <a:solidFill>
                  <a:srgbClr val="000000"/>
                </a:solidFill>
                <a:latin typeface="Public Sans"/>
                <a:ea typeface="Public Sans"/>
                <a:cs typeface="Public Sans"/>
                <a:sym typeface="Public Sans"/>
              </a:rPr>
              <a:t>kết hợp dự đoán của nhiều mô hình bằng cách gán trọng số khác nhau cho từng mô hình tùy theo độ chính xác của chúng.</a:t>
            </a:r>
          </a:p>
        </p:txBody>
      </p:sp>
      <p:grpSp>
        <p:nvGrpSpPr>
          <p:cNvPr id="9" name="Group 9"/>
          <p:cNvGrpSpPr/>
          <p:nvPr/>
        </p:nvGrpSpPr>
        <p:grpSpPr>
          <a:xfrm>
            <a:off x="8729034" y="4954540"/>
            <a:ext cx="9265511" cy="4329553"/>
            <a:chOff x="0" y="0"/>
            <a:chExt cx="10994756" cy="5137588"/>
          </a:xfrm>
        </p:grpSpPr>
        <p:sp>
          <p:nvSpPr>
            <p:cNvPr id="10" name="Freeform 10"/>
            <p:cNvSpPr/>
            <p:nvPr/>
          </p:nvSpPr>
          <p:spPr>
            <a:xfrm>
              <a:off x="0" y="0"/>
              <a:ext cx="10994756" cy="5137588"/>
            </a:xfrm>
            <a:custGeom>
              <a:avLst/>
              <a:gdLst/>
              <a:ahLst/>
              <a:cxnLst/>
              <a:rect l="l" t="t" r="r" b="b"/>
              <a:pathLst>
                <a:path w="10994756" h="5137588">
                  <a:moveTo>
                    <a:pt x="0" y="0"/>
                  </a:moveTo>
                  <a:lnTo>
                    <a:pt x="10994756" y="0"/>
                  </a:lnTo>
                  <a:lnTo>
                    <a:pt x="10994756" y="5137588"/>
                  </a:lnTo>
                  <a:lnTo>
                    <a:pt x="0" y="5137588"/>
                  </a:lnTo>
                  <a:close/>
                </a:path>
              </a:pathLst>
            </a:custGeom>
            <a:blipFill>
              <a:blip r:embed="rId4"/>
              <a:stretch>
                <a:fillRect l="-431" r="-431"/>
              </a:stretch>
            </a:blipFill>
          </p:spPr>
          <p:txBody>
            <a:bodyPr/>
            <a:lstStyle/>
            <a:p>
              <a:endParaRPr lang="en-US"/>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p:nvPr/>
        </p:nvGrpSpPr>
        <p:grpSpPr>
          <a:xfrm>
            <a:off x="10336207" y="2186395"/>
            <a:ext cx="4048905" cy="3471320"/>
            <a:chOff x="0" y="0"/>
            <a:chExt cx="2699323" cy="2314259"/>
          </a:xfrm>
        </p:grpSpPr>
        <p:sp>
          <p:nvSpPr>
            <p:cNvPr id="5" name="Freeform 5"/>
            <p:cNvSpPr/>
            <p:nvPr/>
          </p:nvSpPr>
          <p:spPr>
            <a:xfrm>
              <a:off x="0" y="0"/>
              <a:ext cx="2699323" cy="2314259"/>
            </a:xfrm>
            <a:custGeom>
              <a:avLst/>
              <a:gdLst/>
              <a:ahLst/>
              <a:cxnLst/>
              <a:rect l="l" t="t" r="r" b="b"/>
              <a:pathLst>
                <a:path w="2699323" h="2314259">
                  <a:moveTo>
                    <a:pt x="0" y="0"/>
                  </a:moveTo>
                  <a:lnTo>
                    <a:pt x="2699323" y="0"/>
                  </a:lnTo>
                  <a:lnTo>
                    <a:pt x="2699323" y="2314259"/>
                  </a:lnTo>
                  <a:lnTo>
                    <a:pt x="0" y="2314259"/>
                  </a:lnTo>
                  <a:close/>
                </a:path>
              </a:pathLst>
            </a:custGeom>
            <a:blipFill>
              <a:blip r:embed="rId3"/>
              <a:stretch>
                <a:fillRect l="-3821" r="-3821"/>
              </a:stretch>
            </a:blipFill>
          </p:spPr>
          <p:txBody>
            <a:bodyPr/>
            <a:lstStyle/>
            <a:p>
              <a:endParaRPr lang="en-US"/>
            </a:p>
          </p:txBody>
        </p:sp>
      </p:grpSp>
      <p:grpSp>
        <p:nvGrpSpPr>
          <p:cNvPr id="6" name="Group 6"/>
          <p:cNvGrpSpPr/>
          <p:nvPr/>
        </p:nvGrpSpPr>
        <p:grpSpPr>
          <a:xfrm>
            <a:off x="9144000" y="5996315"/>
            <a:ext cx="6433319" cy="4002125"/>
            <a:chOff x="0" y="0"/>
            <a:chExt cx="4082254" cy="2539543"/>
          </a:xfrm>
        </p:grpSpPr>
        <p:sp>
          <p:nvSpPr>
            <p:cNvPr id="7" name="Freeform 7"/>
            <p:cNvSpPr/>
            <p:nvPr/>
          </p:nvSpPr>
          <p:spPr>
            <a:xfrm>
              <a:off x="0" y="0"/>
              <a:ext cx="4082254" cy="2539543"/>
            </a:xfrm>
            <a:custGeom>
              <a:avLst/>
              <a:gdLst/>
              <a:ahLst/>
              <a:cxnLst/>
              <a:rect l="l" t="t" r="r" b="b"/>
              <a:pathLst>
                <a:path w="4082254" h="2539543">
                  <a:moveTo>
                    <a:pt x="0" y="0"/>
                  </a:moveTo>
                  <a:lnTo>
                    <a:pt x="4082254" y="0"/>
                  </a:lnTo>
                  <a:lnTo>
                    <a:pt x="4082254" y="2539543"/>
                  </a:lnTo>
                  <a:lnTo>
                    <a:pt x="0" y="2539543"/>
                  </a:lnTo>
                  <a:close/>
                </a:path>
              </a:pathLst>
            </a:custGeom>
            <a:blipFill>
              <a:blip r:embed="rId4"/>
              <a:stretch>
                <a:fillRect l="-1499" r="-1499"/>
              </a:stretch>
            </a:blipFill>
          </p:spPr>
          <p:txBody>
            <a:bodyPr/>
            <a:lstStyle/>
            <a:p>
              <a:endParaRPr lang="en-US"/>
            </a:p>
          </p:txBody>
        </p:sp>
      </p:grpSp>
      <p:sp>
        <p:nvSpPr>
          <p:cNvPr id="8" name="TextBox 8"/>
          <p:cNvSpPr txBox="1"/>
          <p:nvPr/>
        </p:nvSpPr>
        <p:spPr>
          <a:xfrm>
            <a:off x="1028700" y="914400"/>
            <a:ext cx="9789463"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4. Thực nghiệm và trao đổi</a:t>
            </a:r>
          </a:p>
        </p:txBody>
      </p:sp>
      <p:sp>
        <p:nvSpPr>
          <p:cNvPr id="9" name="TextBox 9"/>
          <p:cNvSpPr txBox="1"/>
          <p:nvPr/>
        </p:nvSpPr>
        <p:spPr>
          <a:xfrm>
            <a:off x="1631775" y="2401500"/>
            <a:ext cx="4560364" cy="758246"/>
          </a:xfrm>
          <a:prstGeom prst="rect">
            <a:avLst/>
          </a:prstGeom>
        </p:spPr>
        <p:txBody>
          <a:bodyPr lIns="0" tIns="0" rIns="0" bIns="0" rtlCol="0" anchor="t">
            <a:spAutoFit/>
          </a:bodyPr>
          <a:lstStyle/>
          <a:p>
            <a:pPr algn="ctr">
              <a:lnSpc>
                <a:spcPts val="5939"/>
              </a:lnSpc>
              <a:spcBef>
                <a:spcPct val="0"/>
              </a:spcBef>
            </a:pPr>
            <a:r>
              <a:rPr lang="en-US" sz="3299" b="1">
                <a:solidFill>
                  <a:srgbClr val="000000"/>
                </a:solidFill>
                <a:latin typeface="Calibri (MS) Bold"/>
                <a:ea typeface="Calibri (MS) Bold"/>
                <a:cs typeface="Calibri (MS) Bold"/>
                <a:sym typeface="Calibri (MS) Bold"/>
              </a:rPr>
              <a:t>Logistic Regression setup: </a:t>
            </a:r>
          </a:p>
        </p:txBody>
      </p:sp>
      <p:sp>
        <p:nvSpPr>
          <p:cNvPr id="10" name="TextBox 10"/>
          <p:cNvSpPr txBox="1"/>
          <p:nvPr/>
        </p:nvSpPr>
        <p:spPr>
          <a:xfrm>
            <a:off x="1631775" y="3102597"/>
            <a:ext cx="5395883" cy="1514313"/>
          </a:xfrm>
          <a:prstGeom prst="rect">
            <a:avLst/>
          </a:prstGeom>
        </p:spPr>
        <p:txBody>
          <a:bodyPr lIns="0" tIns="0" rIns="0" bIns="0" rtlCol="0" anchor="t">
            <a:spAutoFit/>
          </a:bodyPr>
          <a:lstStyle/>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Regularization strength: 1</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Max_iter: 1000</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solver: lbfgs</a:t>
            </a:r>
          </a:p>
        </p:txBody>
      </p:sp>
      <p:sp>
        <p:nvSpPr>
          <p:cNvPr id="11" name="TextBox 11"/>
          <p:cNvSpPr txBox="1"/>
          <p:nvPr/>
        </p:nvSpPr>
        <p:spPr>
          <a:xfrm>
            <a:off x="1631775" y="5671685"/>
            <a:ext cx="3921486" cy="758246"/>
          </a:xfrm>
          <a:prstGeom prst="rect">
            <a:avLst/>
          </a:prstGeom>
        </p:spPr>
        <p:txBody>
          <a:bodyPr lIns="0" tIns="0" rIns="0" bIns="0" rtlCol="0" anchor="t">
            <a:spAutoFit/>
          </a:bodyPr>
          <a:lstStyle/>
          <a:p>
            <a:pPr algn="ctr">
              <a:lnSpc>
                <a:spcPts val="5939"/>
              </a:lnSpc>
              <a:spcBef>
                <a:spcPct val="0"/>
              </a:spcBef>
            </a:pPr>
            <a:r>
              <a:rPr lang="en-US" sz="3299" b="1">
                <a:solidFill>
                  <a:srgbClr val="000000"/>
                </a:solidFill>
                <a:latin typeface="Calibri (MS) Bold"/>
                <a:ea typeface="Calibri (MS) Bold"/>
                <a:cs typeface="Calibri (MS) Bold"/>
                <a:sym typeface="Calibri (MS) Bold"/>
              </a:rPr>
              <a:t>Random Forest setup: </a:t>
            </a:r>
          </a:p>
        </p:txBody>
      </p:sp>
      <p:sp>
        <p:nvSpPr>
          <p:cNvPr id="12" name="TextBox 12"/>
          <p:cNvSpPr txBox="1"/>
          <p:nvPr/>
        </p:nvSpPr>
        <p:spPr>
          <a:xfrm>
            <a:off x="1631775" y="6620431"/>
            <a:ext cx="5395883" cy="2485754"/>
          </a:xfrm>
          <a:prstGeom prst="rect">
            <a:avLst/>
          </a:prstGeom>
        </p:spPr>
        <p:txBody>
          <a:bodyPr lIns="0" tIns="0" rIns="0" bIns="0" rtlCol="0" anchor="t">
            <a:spAutoFit/>
          </a:bodyPr>
          <a:lstStyle/>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Min simple split: 5</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Min simple leaf: 3</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n_estimators: 500</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n_jobs: -1</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Max depth: 5</a:t>
            </a:r>
          </a:p>
        </p:txBody>
      </p:sp>
      <p:sp>
        <p:nvSpPr>
          <p:cNvPr id="13" name="TextBox 13"/>
          <p:cNvSpPr txBox="1"/>
          <p:nvPr/>
        </p:nvSpPr>
        <p:spPr>
          <a:xfrm>
            <a:off x="1028700" y="1821105"/>
            <a:ext cx="2628900" cy="504946"/>
          </a:xfrm>
          <a:prstGeom prst="rect">
            <a:avLst/>
          </a:prstGeom>
        </p:spPr>
        <p:txBody>
          <a:bodyPr wrap="square" lIns="0" tIns="0" rIns="0" bIns="0" rtlCol="0" anchor="t">
            <a:spAutoFit/>
          </a:bodyPr>
          <a:lstStyle/>
          <a:p>
            <a:pPr algn="ctr">
              <a:lnSpc>
                <a:spcPts val="4340"/>
              </a:lnSpc>
            </a:pPr>
            <a:r>
              <a:rPr lang="en-US" sz="3100" b="1" dirty="0">
                <a:solidFill>
                  <a:srgbClr val="000000"/>
                </a:solidFill>
                <a:latin typeface="Public Sans Bold"/>
                <a:ea typeface="Public Sans Bold"/>
                <a:cs typeface="Public Sans Bold"/>
                <a:sym typeface="Public Sans Bold"/>
              </a:rPr>
              <a:t>Base Model: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TextBox 4"/>
          <p:cNvSpPr txBox="1"/>
          <p:nvPr/>
        </p:nvSpPr>
        <p:spPr>
          <a:xfrm>
            <a:off x="1922616" y="2507190"/>
            <a:ext cx="2773886" cy="758246"/>
          </a:xfrm>
          <a:prstGeom prst="rect">
            <a:avLst/>
          </a:prstGeom>
        </p:spPr>
        <p:txBody>
          <a:bodyPr lIns="0" tIns="0" rIns="0" bIns="0" rtlCol="0" anchor="t">
            <a:spAutoFit/>
          </a:bodyPr>
          <a:lstStyle/>
          <a:p>
            <a:pPr algn="ctr">
              <a:lnSpc>
                <a:spcPts val="5939"/>
              </a:lnSpc>
              <a:spcBef>
                <a:spcPct val="0"/>
              </a:spcBef>
            </a:pPr>
            <a:r>
              <a:rPr lang="en-US" sz="3299" b="1">
                <a:solidFill>
                  <a:srgbClr val="000000"/>
                </a:solidFill>
                <a:latin typeface="Calibri (MS) Bold"/>
                <a:ea typeface="Calibri (MS) Bold"/>
                <a:cs typeface="Calibri (MS) Bold"/>
                <a:sym typeface="Calibri (MS) Bold"/>
              </a:rPr>
              <a:t>XGBoost setup: </a:t>
            </a:r>
          </a:p>
        </p:txBody>
      </p:sp>
      <p:sp>
        <p:nvSpPr>
          <p:cNvPr id="5" name="TextBox 5"/>
          <p:cNvSpPr txBox="1"/>
          <p:nvPr/>
        </p:nvSpPr>
        <p:spPr>
          <a:xfrm>
            <a:off x="1789837" y="3208286"/>
            <a:ext cx="5395883" cy="2485754"/>
          </a:xfrm>
          <a:prstGeom prst="rect">
            <a:avLst/>
          </a:prstGeom>
        </p:spPr>
        <p:txBody>
          <a:bodyPr lIns="0" tIns="0" rIns="0" bIns="0" rtlCol="0" anchor="t">
            <a:spAutoFit/>
          </a:bodyPr>
          <a:lstStyle/>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n_estimators : 120</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learning rate: 0.08</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colsample_bytree : 0.6</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eval_metric: 'logloss'</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n_jobs: -1</a:t>
            </a:r>
          </a:p>
        </p:txBody>
      </p:sp>
      <p:sp>
        <p:nvSpPr>
          <p:cNvPr id="6" name="TextBox 6"/>
          <p:cNvSpPr txBox="1"/>
          <p:nvPr/>
        </p:nvSpPr>
        <p:spPr>
          <a:xfrm>
            <a:off x="1922616" y="6256016"/>
            <a:ext cx="2090359" cy="758246"/>
          </a:xfrm>
          <a:prstGeom prst="rect">
            <a:avLst/>
          </a:prstGeom>
        </p:spPr>
        <p:txBody>
          <a:bodyPr lIns="0" tIns="0" rIns="0" bIns="0" rtlCol="0" anchor="t">
            <a:spAutoFit/>
          </a:bodyPr>
          <a:lstStyle/>
          <a:p>
            <a:pPr algn="ctr">
              <a:lnSpc>
                <a:spcPts val="5939"/>
              </a:lnSpc>
              <a:spcBef>
                <a:spcPct val="0"/>
              </a:spcBef>
            </a:pPr>
            <a:r>
              <a:rPr lang="en-US" sz="3299" b="1">
                <a:solidFill>
                  <a:srgbClr val="000000"/>
                </a:solidFill>
                <a:latin typeface="Calibri (MS) Bold"/>
                <a:ea typeface="Calibri (MS) Bold"/>
                <a:cs typeface="Calibri (MS) Bold"/>
                <a:sym typeface="Calibri (MS) Bold"/>
              </a:rPr>
              <a:t>SVM setup: </a:t>
            </a:r>
          </a:p>
        </p:txBody>
      </p:sp>
      <p:sp>
        <p:nvSpPr>
          <p:cNvPr id="7" name="TextBox 7"/>
          <p:cNvSpPr txBox="1"/>
          <p:nvPr/>
        </p:nvSpPr>
        <p:spPr>
          <a:xfrm>
            <a:off x="1922616" y="7011924"/>
            <a:ext cx="5395883" cy="2000033"/>
          </a:xfrm>
          <a:prstGeom prst="rect">
            <a:avLst/>
          </a:prstGeom>
        </p:spPr>
        <p:txBody>
          <a:bodyPr lIns="0" tIns="0" rIns="0" bIns="0" rtlCol="0" anchor="t">
            <a:spAutoFit/>
          </a:bodyPr>
          <a:lstStyle/>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Regularization strength: 1.0</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gamma: 'scale'</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probability: True</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kernel: rbf</a:t>
            </a:r>
          </a:p>
        </p:txBody>
      </p:sp>
      <p:grpSp>
        <p:nvGrpSpPr>
          <p:cNvPr id="8" name="Group 8"/>
          <p:cNvGrpSpPr/>
          <p:nvPr/>
        </p:nvGrpSpPr>
        <p:grpSpPr>
          <a:xfrm>
            <a:off x="9428931" y="5928860"/>
            <a:ext cx="3744091" cy="3802821"/>
            <a:chOff x="0" y="0"/>
            <a:chExt cx="2699323" cy="2741665"/>
          </a:xfrm>
        </p:grpSpPr>
        <p:sp>
          <p:nvSpPr>
            <p:cNvPr id="9" name="Freeform 9"/>
            <p:cNvSpPr/>
            <p:nvPr/>
          </p:nvSpPr>
          <p:spPr>
            <a:xfrm>
              <a:off x="0" y="0"/>
              <a:ext cx="2699323" cy="2741665"/>
            </a:xfrm>
            <a:custGeom>
              <a:avLst/>
              <a:gdLst/>
              <a:ahLst/>
              <a:cxnLst/>
              <a:rect l="l" t="t" r="r" b="b"/>
              <a:pathLst>
                <a:path w="2699323" h="2741665">
                  <a:moveTo>
                    <a:pt x="0" y="0"/>
                  </a:moveTo>
                  <a:lnTo>
                    <a:pt x="2699323" y="0"/>
                  </a:lnTo>
                  <a:lnTo>
                    <a:pt x="2699323" y="2741665"/>
                  </a:lnTo>
                  <a:lnTo>
                    <a:pt x="0" y="2741665"/>
                  </a:lnTo>
                  <a:close/>
                </a:path>
              </a:pathLst>
            </a:custGeom>
            <a:blipFill>
              <a:blip r:embed="rId3"/>
              <a:stretch>
                <a:fillRect l="-784" r="-784"/>
              </a:stretch>
            </a:blipFill>
          </p:spPr>
          <p:txBody>
            <a:bodyPr/>
            <a:lstStyle/>
            <a:p>
              <a:endParaRPr lang="en-US"/>
            </a:p>
          </p:txBody>
        </p:sp>
      </p:grpSp>
      <p:grpSp>
        <p:nvGrpSpPr>
          <p:cNvPr id="10" name="Group 10"/>
          <p:cNvGrpSpPr/>
          <p:nvPr/>
        </p:nvGrpSpPr>
        <p:grpSpPr>
          <a:xfrm>
            <a:off x="9566085" y="2100800"/>
            <a:ext cx="4154997" cy="3321250"/>
            <a:chOff x="0" y="0"/>
            <a:chExt cx="2895217" cy="2314259"/>
          </a:xfrm>
        </p:grpSpPr>
        <p:sp>
          <p:nvSpPr>
            <p:cNvPr id="11" name="Freeform 11"/>
            <p:cNvSpPr/>
            <p:nvPr/>
          </p:nvSpPr>
          <p:spPr>
            <a:xfrm>
              <a:off x="0" y="0"/>
              <a:ext cx="2895217" cy="2314259"/>
            </a:xfrm>
            <a:custGeom>
              <a:avLst/>
              <a:gdLst/>
              <a:ahLst/>
              <a:cxnLst/>
              <a:rect l="l" t="t" r="r" b="b"/>
              <a:pathLst>
                <a:path w="2895217" h="2314259">
                  <a:moveTo>
                    <a:pt x="0" y="0"/>
                  </a:moveTo>
                  <a:lnTo>
                    <a:pt x="2895217" y="0"/>
                  </a:lnTo>
                  <a:lnTo>
                    <a:pt x="2895217" y="2314259"/>
                  </a:lnTo>
                  <a:lnTo>
                    <a:pt x="0" y="2314259"/>
                  </a:lnTo>
                  <a:close/>
                </a:path>
              </a:pathLst>
            </a:custGeom>
            <a:blipFill>
              <a:blip r:embed="rId4"/>
              <a:stretch>
                <a:fillRect l="-3112" r="-3112"/>
              </a:stretch>
            </a:blipFill>
          </p:spPr>
          <p:txBody>
            <a:bodyPr/>
            <a:lstStyle/>
            <a:p>
              <a:endParaRPr lang="en-US"/>
            </a:p>
          </p:txBody>
        </p:sp>
      </p:grpSp>
      <p:sp>
        <p:nvSpPr>
          <p:cNvPr id="12" name="TextBox 12"/>
          <p:cNvSpPr txBox="1"/>
          <p:nvPr/>
        </p:nvSpPr>
        <p:spPr>
          <a:xfrm>
            <a:off x="1317168" y="1909628"/>
            <a:ext cx="2695807" cy="504946"/>
          </a:xfrm>
          <a:prstGeom prst="rect">
            <a:avLst/>
          </a:prstGeom>
        </p:spPr>
        <p:txBody>
          <a:bodyPr wrap="square" lIns="0" tIns="0" rIns="0" bIns="0" rtlCol="0" anchor="t">
            <a:spAutoFit/>
          </a:bodyPr>
          <a:lstStyle/>
          <a:p>
            <a:pPr algn="ctr">
              <a:lnSpc>
                <a:spcPts val="4340"/>
              </a:lnSpc>
            </a:pPr>
            <a:r>
              <a:rPr lang="en-US" sz="3100" b="1" dirty="0">
                <a:solidFill>
                  <a:srgbClr val="000000"/>
                </a:solidFill>
                <a:latin typeface="Public Sans Bold"/>
                <a:ea typeface="Public Sans Bold"/>
                <a:cs typeface="Public Sans Bold"/>
                <a:sym typeface="Public Sans Bold"/>
              </a:rPr>
              <a:t>Base Model:</a:t>
            </a:r>
          </a:p>
        </p:txBody>
      </p:sp>
      <p:sp>
        <p:nvSpPr>
          <p:cNvPr id="13" name="TextBox 13"/>
          <p:cNvSpPr txBox="1"/>
          <p:nvPr/>
        </p:nvSpPr>
        <p:spPr>
          <a:xfrm>
            <a:off x="1028700" y="914400"/>
            <a:ext cx="9789463"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4. Thực nghiệm và trao đổi</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aphicFrame>
        <p:nvGraphicFramePr>
          <p:cNvPr id="4" name="Object 4"/>
          <p:cNvGraphicFramePr/>
          <p:nvPr/>
        </p:nvGraphicFramePr>
        <p:xfrm>
          <a:off x="1583113" y="3059232"/>
          <a:ext cx="7644642" cy="2574255"/>
        </p:xfrm>
        <a:graphic>
          <a:graphicData uri="http://schemas.openxmlformats.org/presentationml/2006/ole">
            <mc:AlternateContent xmlns:mc="http://schemas.openxmlformats.org/markup-compatibility/2006">
              <mc:Choice xmlns:v="urn:schemas-microsoft-com:vml" Requires="v">
                <p:oleObj name="Worksheet" r:id="rId3" imgW="9169400" imgH="4102100" progId="Excel.Sheet.12">
                  <p:embed/>
                </p:oleObj>
              </mc:Choice>
              <mc:Fallback>
                <p:oleObj name="Worksheet" r:id="rId3" imgW="9169400" imgH="4102100" progId="Excel.Sheet.12">
                  <p:embed/>
                  <p:pic>
                    <p:nvPicPr>
                      <p:cNvPr id="0" name=""/>
                      <p:cNvPicPr/>
                      <p:nvPr/>
                    </p:nvPicPr>
                    <p:blipFill>
                      <a:blip r:embed="rId4"/>
                      <a:stretch>
                        <a:fillRect/>
                      </a:stretch>
                    </p:blipFill>
                    <p:spPr>
                      <a:xfrm>
                        <a:off x="1583113" y="3059232"/>
                        <a:ext cx="7644642" cy="2574255"/>
                      </a:xfrm>
                      <a:prstGeom prst="rect">
                        <a:avLst/>
                      </a:prstGeom>
                    </p:spPr>
                  </p:pic>
                </p:oleObj>
              </mc:Fallback>
            </mc:AlternateContent>
          </a:graphicData>
        </a:graphic>
      </p:graphicFrame>
      <p:sp>
        <p:nvSpPr>
          <p:cNvPr id="5" name="TextBox 5"/>
          <p:cNvSpPr txBox="1"/>
          <p:nvPr/>
        </p:nvSpPr>
        <p:spPr>
          <a:xfrm>
            <a:off x="1028700" y="1958246"/>
            <a:ext cx="4738823" cy="737183"/>
          </a:xfrm>
          <a:prstGeom prst="rect">
            <a:avLst/>
          </a:prstGeom>
        </p:spPr>
        <p:txBody>
          <a:bodyPr lIns="0" tIns="0" rIns="0" bIns="0" rtlCol="0" anchor="t">
            <a:spAutoFit/>
          </a:bodyPr>
          <a:lstStyle/>
          <a:p>
            <a:pPr algn="ctr">
              <a:lnSpc>
                <a:spcPts val="5759"/>
              </a:lnSpc>
              <a:spcBef>
                <a:spcPct val="0"/>
              </a:spcBef>
            </a:pPr>
            <a:r>
              <a:rPr lang="en-US" sz="3199" b="1" dirty="0" err="1">
                <a:solidFill>
                  <a:srgbClr val="000000"/>
                </a:solidFill>
                <a:latin typeface="Calibri (MS) Bold"/>
                <a:ea typeface="Calibri (MS) Bold"/>
                <a:cs typeface="Calibri (MS) Bold"/>
                <a:sym typeface="Calibri (MS) Bold"/>
              </a:rPr>
              <a:t>Kết</a:t>
            </a:r>
            <a:r>
              <a:rPr lang="en-US" sz="3199" b="1" dirty="0">
                <a:solidFill>
                  <a:srgbClr val="000000"/>
                </a:solidFill>
                <a:latin typeface="Calibri (MS) Bold"/>
                <a:ea typeface="Calibri (MS) Bold"/>
                <a:cs typeface="Calibri (MS) Bold"/>
                <a:sym typeface="Calibri (MS) Bold"/>
              </a:rPr>
              <a:t> </a:t>
            </a:r>
            <a:r>
              <a:rPr lang="en-US" sz="3199" b="1" dirty="0" err="1">
                <a:solidFill>
                  <a:srgbClr val="000000"/>
                </a:solidFill>
                <a:latin typeface="Calibri (MS) Bold"/>
                <a:ea typeface="Calibri (MS) Bold"/>
                <a:cs typeface="Calibri (MS) Bold"/>
                <a:sym typeface="Calibri (MS) Bold"/>
              </a:rPr>
              <a:t>quả</a:t>
            </a:r>
            <a:r>
              <a:rPr lang="en-US" sz="3199" b="1" dirty="0">
                <a:solidFill>
                  <a:srgbClr val="000000"/>
                </a:solidFill>
                <a:latin typeface="Calibri (MS) Bold"/>
                <a:ea typeface="Calibri (MS) Bold"/>
                <a:cs typeface="Calibri (MS) Bold"/>
                <a:sym typeface="Calibri (MS) Bold"/>
              </a:rPr>
              <a:t> </a:t>
            </a:r>
            <a:r>
              <a:rPr lang="en-US" sz="3199" b="1" dirty="0" err="1">
                <a:solidFill>
                  <a:srgbClr val="000000"/>
                </a:solidFill>
                <a:latin typeface="Calibri (MS) Bold"/>
                <a:ea typeface="Calibri (MS) Bold"/>
                <a:cs typeface="Calibri (MS) Bold"/>
                <a:sym typeface="Calibri (MS) Bold"/>
              </a:rPr>
              <a:t>của</a:t>
            </a:r>
            <a:r>
              <a:rPr lang="en-US" sz="3199" b="1" dirty="0">
                <a:solidFill>
                  <a:srgbClr val="000000"/>
                </a:solidFill>
                <a:latin typeface="Calibri (MS) Bold"/>
                <a:ea typeface="Calibri (MS) Bold"/>
                <a:cs typeface="Calibri (MS) Bold"/>
                <a:sym typeface="Calibri (MS) Bold"/>
              </a:rPr>
              <a:t> cross-validation</a:t>
            </a:r>
          </a:p>
        </p:txBody>
      </p:sp>
      <p:sp>
        <p:nvSpPr>
          <p:cNvPr id="6" name="TextBox 6"/>
          <p:cNvSpPr txBox="1"/>
          <p:nvPr/>
        </p:nvSpPr>
        <p:spPr>
          <a:xfrm>
            <a:off x="1028700" y="6591571"/>
            <a:ext cx="16230600" cy="2133383"/>
          </a:xfrm>
          <a:prstGeom prst="rect">
            <a:avLst/>
          </a:prstGeom>
        </p:spPr>
        <p:txBody>
          <a:bodyPr lIns="0" tIns="0" rIns="0" bIns="0" rtlCol="0" anchor="t">
            <a:spAutoFit/>
          </a:bodyPr>
          <a:lstStyle/>
          <a:p>
            <a:pPr marL="647702" lvl="1" indent="-323851" algn="just">
              <a:lnSpc>
                <a:spcPts val="4200"/>
              </a:lnSpc>
              <a:buFont typeface="Arial"/>
              <a:buChar char="•"/>
            </a:pPr>
            <a:r>
              <a:rPr lang="en-US" sz="3000">
                <a:solidFill>
                  <a:srgbClr val="000000"/>
                </a:solidFill>
                <a:latin typeface="Public Sans"/>
                <a:ea typeface="Public Sans"/>
                <a:cs typeface="Public Sans"/>
                <a:sym typeface="Public Sans"/>
              </a:rPr>
              <a:t>Mô hình tốt nhất: SVM (đạt độ chính xác cao nhất, F1 tốt nhất, và ROC AUC cạnh tranh.)</a:t>
            </a:r>
          </a:p>
          <a:p>
            <a:pPr marL="647702" lvl="1" indent="-323851" algn="just">
              <a:lnSpc>
                <a:spcPts val="4200"/>
              </a:lnSpc>
              <a:buFont typeface="Arial"/>
              <a:buChar char="•"/>
            </a:pPr>
            <a:r>
              <a:rPr lang="en-US" sz="3000">
                <a:solidFill>
                  <a:srgbClr val="000000"/>
                </a:solidFill>
                <a:latin typeface="Public Sans"/>
                <a:ea typeface="Public Sans"/>
                <a:cs typeface="Public Sans"/>
                <a:sym typeface="Public Sans"/>
              </a:rPr>
              <a:t>Logistic Regression tuy đơn giản nhưng vẫn thể hiện khả năng phân biệt rất tốt.</a:t>
            </a:r>
          </a:p>
          <a:p>
            <a:pPr marL="647702" lvl="1" indent="-323851" algn="just">
              <a:lnSpc>
                <a:spcPts val="4200"/>
              </a:lnSpc>
              <a:buFont typeface="Arial"/>
              <a:buChar char="•"/>
            </a:pPr>
            <a:r>
              <a:rPr lang="en-US" sz="3000">
                <a:solidFill>
                  <a:srgbClr val="000000"/>
                </a:solidFill>
                <a:latin typeface="Public Sans"/>
                <a:ea typeface="Public Sans"/>
                <a:cs typeface="Public Sans"/>
                <a:sym typeface="Public Sans"/>
              </a:rPr>
              <a:t>Random Forest và XGBoost có hiệu năng tốt, nhưng trong bộ dữ liệu này không vượt trội hơn SVM, có thể do số lượng đặc trưng ít hoặc không phi tuyến mạnh.</a:t>
            </a:r>
          </a:p>
        </p:txBody>
      </p:sp>
      <p:sp>
        <p:nvSpPr>
          <p:cNvPr id="7" name="TextBox 7"/>
          <p:cNvSpPr txBox="1"/>
          <p:nvPr/>
        </p:nvSpPr>
        <p:spPr>
          <a:xfrm>
            <a:off x="1028700" y="914400"/>
            <a:ext cx="9789463"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4. Thực nghiệm và trao đổi</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aphicFrame>
        <p:nvGraphicFramePr>
          <p:cNvPr id="4" name="Object 4"/>
          <p:cNvGraphicFramePr/>
          <p:nvPr/>
        </p:nvGraphicFramePr>
        <p:xfrm>
          <a:off x="1181100" y="6522073"/>
          <a:ext cx="16230600" cy="3261705"/>
        </p:xfrm>
        <a:graphic>
          <a:graphicData uri="http://schemas.openxmlformats.org/presentationml/2006/ole">
            <mc:AlternateContent xmlns:mc="http://schemas.openxmlformats.org/markup-compatibility/2006">
              <mc:Choice xmlns:v="urn:schemas-microsoft-com:vml" Requires="v">
                <p:oleObj name="Worksheet" r:id="rId3" imgW="19469100" imgH="6502400" progId="Excel.Sheet.12">
                  <p:embed/>
                </p:oleObj>
              </mc:Choice>
              <mc:Fallback>
                <p:oleObj name="Worksheet" r:id="rId3" imgW="19469100" imgH="6502400" progId="Excel.Sheet.12">
                  <p:embed/>
                  <p:pic>
                    <p:nvPicPr>
                      <p:cNvPr id="0" name=""/>
                      <p:cNvPicPr/>
                      <p:nvPr/>
                    </p:nvPicPr>
                    <p:blipFill>
                      <a:blip r:embed="rId4"/>
                      <a:stretch>
                        <a:fillRect/>
                      </a:stretch>
                    </p:blipFill>
                    <p:spPr>
                      <a:xfrm>
                        <a:off x="1181100" y="6522073"/>
                        <a:ext cx="16230600" cy="3261705"/>
                      </a:xfrm>
                      <a:prstGeom prst="rect">
                        <a:avLst/>
                      </a:prstGeom>
                    </p:spPr>
                  </p:pic>
                </p:oleObj>
              </mc:Fallback>
            </mc:AlternateContent>
          </a:graphicData>
        </a:graphic>
      </p:graphicFrame>
      <p:sp>
        <p:nvSpPr>
          <p:cNvPr id="5" name="TextBox 5"/>
          <p:cNvSpPr txBox="1"/>
          <p:nvPr/>
        </p:nvSpPr>
        <p:spPr>
          <a:xfrm>
            <a:off x="1181100" y="1066800"/>
            <a:ext cx="9789463"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4. Thực nghiệm và trao đổi</a:t>
            </a:r>
          </a:p>
        </p:txBody>
      </p:sp>
      <p:sp>
        <p:nvSpPr>
          <p:cNvPr id="6" name="TextBox 6"/>
          <p:cNvSpPr txBox="1"/>
          <p:nvPr/>
        </p:nvSpPr>
        <p:spPr>
          <a:xfrm>
            <a:off x="1181100" y="2193636"/>
            <a:ext cx="3086100" cy="492379"/>
          </a:xfrm>
          <a:prstGeom prst="rect">
            <a:avLst/>
          </a:prstGeom>
        </p:spPr>
        <p:txBody>
          <a:bodyPr wrap="square" lIns="0" tIns="0" rIns="0" bIns="0" rtlCol="0" anchor="t">
            <a:spAutoFit/>
          </a:bodyPr>
          <a:lstStyle/>
          <a:p>
            <a:pPr algn="l">
              <a:lnSpc>
                <a:spcPts val="4200"/>
              </a:lnSpc>
            </a:pPr>
            <a:r>
              <a:rPr lang="en-US" sz="3000" b="1" dirty="0">
                <a:solidFill>
                  <a:srgbClr val="000000"/>
                </a:solidFill>
                <a:latin typeface="Public Sans Bold"/>
                <a:ea typeface="Public Sans Bold"/>
                <a:cs typeface="Public Sans Bold"/>
                <a:sym typeface="Public Sans Bold"/>
              </a:rPr>
              <a:t>Grid Search CV</a:t>
            </a:r>
          </a:p>
        </p:txBody>
      </p:sp>
      <p:sp>
        <p:nvSpPr>
          <p:cNvPr id="7" name="TextBox 7"/>
          <p:cNvSpPr txBox="1"/>
          <p:nvPr/>
        </p:nvSpPr>
        <p:spPr>
          <a:xfrm>
            <a:off x="10134327" y="2736507"/>
            <a:ext cx="3921486" cy="758246"/>
          </a:xfrm>
          <a:prstGeom prst="rect">
            <a:avLst/>
          </a:prstGeom>
        </p:spPr>
        <p:txBody>
          <a:bodyPr lIns="0" tIns="0" rIns="0" bIns="0" rtlCol="0" anchor="t">
            <a:spAutoFit/>
          </a:bodyPr>
          <a:lstStyle/>
          <a:p>
            <a:pPr algn="ctr">
              <a:lnSpc>
                <a:spcPts val="5939"/>
              </a:lnSpc>
              <a:spcBef>
                <a:spcPct val="0"/>
              </a:spcBef>
            </a:pPr>
            <a:r>
              <a:rPr lang="en-US" sz="3299" b="1">
                <a:solidFill>
                  <a:srgbClr val="000000"/>
                </a:solidFill>
                <a:latin typeface="Calibri (MS) Bold"/>
                <a:ea typeface="Calibri (MS) Bold"/>
                <a:cs typeface="Calibri (MS) Bold"/>
                <a:sym typeface="Calibri (MS) Bold"/>
              </a:rPr>
              <a:t>Random Forest setup: </a:t>
            </a:r>
          </a:p>
        </p:txBody>
      </p:sp>
      <p:sp>
        <p:nvSpPr>
          <p:cNvPr id="8" name="TextBox 8"/>
          <p:cNvSpPr txBox="1"/>
          <p:nvPr/>
        </p:nvSpPr>
        <p:spPr>
          <a:xfrm>
            <a:off x="10134327" y="3590003"/>
            <a:ext cx="5395883" cy="2485754"/>
          </a:xfrm>
          <a:prstGeom prst="rect">
            <a:avLst/>
          </a:prstGeom>
        </p:spPr>
        <p:txBody>
          <a:bodyPr lIns="0" tIns="0" rIns="0" bIns="0" rtlCol="0" anchor="t">
            <a:spAutoFit/>
          </a:bodyPr>
          <a:lstStyle/>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Min simple split: 2</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Min simple leaf: 2</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n_estimators: 500</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max_features: sqrt</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max depth: None</a:t>
            </a:r>
          </a:p>
        </p:txBody>
      </p:sp>
      <p:sp>
        <p:nvSpPr>
          <p:cNvPr id="9" name="TextBox 9"/>
          <p:cNvSpPr txBox="1"/>
          <p:nvPr/>
        </p:nvSpPr>
        <p:spPr>
          <a:xfrm>
            <a:off x="1841715" y="2736507"/>
            <a:ext cx="2090359" cy="758246"/>
          </a:xfrm>
          <a:prstGeom prst="rect">
            <a:avLst/>
          </a:prstGeom>
        </p:spPr>
        <p:txBody>
          <a:bodyPr lIns="0" tIns="0" rIns="0" bIns="0" rtlCol="0" anchor="t">
            <a:spAutoFit/>
          </a:bodyPr>
          <a:lstStyle/>
          <a:p>
            <a:pPr algn="ctr">
              <a:lnSpc>
                <a:spcPts val="5939"/>
              </a:lnSpc>
              <a:spcBef>
                <a:spcPct val="0"/>
              </a:spcBef>
            </a:pPr>
            <a:r>
              <a:rPr lang="en-US" sz="3299" b="1">
                <a:solidFill>
                  <a:srgbClr val="000000"/>
                </a:solidFill>
                <a:latin typeface="Calibri (MS) Bold"/>
                <a:ea typeface="Calibri (MS) Bold"/>
                <a:cs typeface="Calibri (MS) Bold"/>
                <a:sym typeface="Calibri (MS) Bold"/>
              </a:rPr>
              <a:t>SVM setup: </a:t>
            </a:r>
          </a:p>
        </p:txBody>
      </p:sp>
      <p:sp>
        <p:nvSpPr>
          <p:cNvPr id="10" name="TextBox 10"/>
          <p:cNvSpPr txBox="1"/>
          <p:nvPr/>
        </p:nvSpPr>
        <p:spPr>
          <a:xfrm>
            <a:off x="1841715" y="3590003"/>
            <a:ext cx="5395883" cy="2000033"/>
          </a:xfrm>
          <a:prstGeom prst="rect">
            <a:avLst/>
          </a:prstGeom>
        </p:spPr>
        <p:txBody>
          <a:bodyPr lIns="0" tIns="0" rIns="0" bIns="0" rtlCol="0" anchor="t">
            <a:spAutoFit/>
          </a:bodyPr>
          <a:lstStyle/>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Regularization strength: 1.0</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gamma: 0.1</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degree: 2</a:t>
            </a:r>
          </a:p>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kernel: rbf</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aphicFrame>
        <p:nvGraphicFramePr>
          <p:cNvPr id="4" name="Object 4"/>
          <p:cNvGraphicFramePr/>
          <p:nvPr/>
        </p:nvGraphicFramePr>
        <p:xfrm>
          <a:off x="2087715" y="2993682"/>
          <a:ext cx="10258425" cy="3143250"/>
        </p:xfrm>
        <a:graphic>
          <a:graphicData uri="http://schemas.openxmlformats.org/presentationml/2006/ole">
            <mc:AlternateContent xmlns:mc="http://schemas.openxmlformats.org/markup-compatibility/2006">
              <mc:Choice xmlns:v="urn:schemas-microsoft-com:vml" Requires="v">
                <p:oleObj name="Worksheet" r:id="rId3" imgW="12306300" imgH="5181600" progId="Excel.Sheet.12">
                  <p:embed/>
                </p:oleObj>
              </mc:Choice>
              <mc:Fallback>
                <p:oleObj name="Worksheet" r:id="rId3" imgW="12306300" imgH="5181600" progId="Excel.Sheet.12">
                  <p:embed/>
                  <p:pic>
                    <p:nvPicPr>
                      <p:cNvPr id="0" name=""/>
                      <p:cNvPicPr/>
                      <p:nvPr/>
                    </p:nvPicPr>
                    <p:blipFill>
                      <a:blip r:embed="rId4"/>
                      <a:stretch>
                        <a:fillRect/>
                      </a:stretch>
                    </p:blipFill>
                    <p:spPr>
                      <a:xfrm>
                        <a:off x="2087715" y="2993682"/>
                        <a:ext cx="10258425" cy="3143250"/>
                      </a:xfrm>
                      <a:prstGeom prst="rect">
                        <a:avLst/>
                      </a:prstGeom>
                    </p:spPr>
                  </p:pic>
                </p:oleObj>
              </mc:Fallback>
            </mc:AlternateContent>
          </a:graphicData>
        </a:graphic>
      </p:graphicFrame>
      <p:sp>
        <p:nvSpPr>
          <p:cNvPr id="5" name="TextBox 5"/>
          <p:cNvSpPr txBox="1"/>
          <p:nvPr/>
        </p:nvSpPr>
        <p:spPr>
          <a:xfrm>
            <a:off x="1181100" y="1066800"/>
            <a:ext cx="9789463"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4. Thực nghiệm và trao đổi</a:t>
            </a:r>
          </a:p>
        </p:txBody>
      </p:sp>
      <p:sp>
        <p:nvSpPr>
          <p:cNvPr id="6" name="TextBox 6"/>
          <p:cNvSpPr txBox="1"/>
          <p:nvPr/>
        </p:nvSpPr>
        <p:spPr>
          <a:xfrm>
            <a:off x="1181100" y="2193636"/>
            <a:ext cx="3469048" cy="533346"/>
          </a:xfrm>
          <a:prstGeom prst="rect">
            <a:avLst/>
          </a:prstGeom>
        </p:spPr>
        <p:txBody>
          <a:bodyPr lIns="0" tIns="0" rIns="0" bIns="0" rtlCol="0" anchor="t">
            <a:spAutoFit/>
          </a:bodyPr>
          <a:lstStyle/>
          <a:p>
            <a:pPr algn="l">
              <a:lnSpc>
                <a:spcPts val="4200"/>
              </a:lnSpc>
            </a:pPr>
            <a:r>
              <a:rPr lang="en-US" sz="3000" b="1">
                <a:solidFill>
                  <a:srgbClr val="000000"/>
                </a:solidFill>
                <a:latin typeface="Public Sans Bold"/>
                <a:ea typeface="Public Sans Bold"/>
                <a:cs typeface="Public Sans Bold"/>
                <a:sym typeface="Public Sans Bold"/>
              </a:rPr>
              <a:t>Ensemble learning </a:t>
            </a:r>
          </a:p>
        </p:txBody>
      </p:sp>
      <p:sp>
        <p:nvSpPr>
          <p:cNvPr id="7" name="TextBox 7"/>
          <p:cNvSpPr txBox="1"/>
          <p:nvPr/>
        </p:nvSpPr>
        <p:spPr>
          <a:xfrm>
            <a:off x="1181100" y="6327432"/>
            <a:ext cx="16078200" cy="3733421"/>
          </a:xfrm>
          <a:prstGeom prst="rect">
            <a:avLst/>
          </a:prstGeom>
        </p:spPr>
        <p:txBody>
          <a:bodyPr lIns="0" tIns="0" rIns="0" bIns="0" rtlCol="0" anchor="t">
            <a:spAutoFit/>
          </a:bodyPr>
          <a:lstStyle/>
          <a:p>
            <a:pPr marL="647702" lvl="1" indent="-323851" algn="l">
              <a:lnSpc>
                <a:spcPts val="4200"/>
              </a:lnSpc>
              <a:buFont typeface="Arial"/>
              <a:buChar char="•"/>
            </a:pPr>
            <a:r>
              <a:rPr lang="en-US" sz="3000">
                <a:solidFill>
                  <a:srgbClr val="000000"/>
                </a:solidFill>
                <a:latin typeface="Public Sans"/>
                <a:ea typeface="Public Sans"/>
                <a:cs typeface="Public Sans"/>
                <a:sym typeface="Public Sans"/>
              </a:rPr>
              <a:t>Stacking (svm + xgb + gb) đạt Accuracy, ROC AUC cao nhất (0.8787), chứng tỏ khả năng tổng hợp mô hình tốt nhất.</a:t>
            </a:r>
          </a:p>
          <a:p>
            <a:pPr marL="647702" lvl="1" indent="-323851" algn="l">
              <a:lnSpc>
                <a:spcPts val="4200"/>
              </a:lnSpc>
              <a:buFont typeface="Arial"/>
              <a:buChar char="•"/>
            </a:pPr>
            <a:r>
              <a:rPr lang="en-US" sz="3000">
                <a:solidFill>
                  <a:srgbClr val="000000"/>
                </a:solidFill>
                <a:latin typeface="Public Sans"/>
                <a:ea typeface="Public Sans"/>
                <a:cs typeface="Public Sans"/>
                <a:sym typeface="Public Sans"/>
              </a:rPr>
              <a:t>Voting (svm + rf + xgb) và Weighted cho kết quả tương đương nhau, với điểm Kaggle cao nhất (0.78947), thể hiện khả năng tổng quát hóa tốt.</a:t>
            </a:r>
          </a:p>
          <a:p>
            <a:pPr algn="l">
              <a:lnSpc>
                <a:spcPts val="4200"/>
              </a:lnSpc>
            </a:pPr>
            <a:r>
              <a:rPr lang="en-US" sz="3000">
                <a:solidFill>
                  <a:srgbClr val="000000"/>
                </a:solidFill>
                <a:latin typeface="Public Sans"/>
                <a:ea typeface="Public Sans"/>
                <a:cs typeface="Public Sans"/>
                <a:sym typeface="Public Sans"/>
              </a:rPr>
              <a:t>=&gt; Stacking (svm + xgb + gb) cho hiệu suất huấn luyện tốt nhất, trong khi Voting và Weighted thể hiện kết quả ổn định hơn khi nộp Kaggle.</a:t>
            </a:r>
          </a:p>
          <a:p>
            <a:pPr algn="l">
              <a:lnSpc>
                <a:spcPts val="4200"/>
              </a:lnSpc>
            </a:pPr>
            <a:endParaRPr lang="en-US" sz="3000">
              <a:solidFill>
                <a:srgbClr val="000000"/>
              </a:solidFill>
              <a:latin typeface="Public Sans"/>
              <a:ea typeface="Public Sans"/>
              <a:cs typeface="Public Sans"/>
              <a:sym typeface="Public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TextBox 4"/>
          <p:cNvSpPr txBox="1"/>
          <p:nvPr/>
        </p:nvSpPr>
        <p:spPr>
          <a:xfrm>
            <a:off x="1028700" y="914400"/>
            <a:ext cx="9789463" cy="933396"/>
          </a:xfrm>
          <a:prstGeom prst="rect">
            <a:avLst/>
          </a:prstGeom>
        </p:spPr>
        <p:txBody>
          <a:bodyPr lIns="0" tIns="0" rIns="0" bIns="0" rtlCol="0" anchor="t">
            <a:spAutoFit/>
          </a:bodyPr>
          <a:lstStyle/>
          <a:p>
            <a:pPr algn="l">
              <a:lnSpc>
                <a:spcPts val="6479"/>
              </a:lnSpc>
            </a:pPr>
            <a:r>
              <a:rPr lang="en-US" sz="5399" b="1">
                <a:solidFill>
                  <a:srgbClr val="000000"/>
                </a:solidFill>
                <a:latin typeface="Calibri (MS) Bold"/>
                <a:ea typeface="Calibri (MS) Bold"/>
                <a:cs typeface="Calibri (MS) Bold"/>
                <a:sym typeface="Calibri (MS) Bold"/>
              </a:rPr>
              <a:t>5. Kết luận</a:t>
            </a:r>
          </a:p>
        </p:txBody>
      </p:sp>
      <p:grpSp>
        <p:nvGrpSpPr>
          <p:cNvPr id="5" name="Group 5"/>
          <p:cNvGrpSpPr/>
          <p:nvPr/>
        </p:nvGrpSpPr>
        <p:grpSpPr>
          <a:xfrm>
            <a:off x="978945" y="5143500"/>
            <a:ext cx="15486392" cy="1699624"/>
            <a:chOff x="0" y="0"/>
            <a:chExt cx="24981109" cy="2741665"/>
          </a:xfrm>
        </p:grpSpPr>
        <p:sp>
          <p:nvSpPr>
            <p:cNvPr id="6" name="Freeform 6"/>
            <p:cNvSpPr/>
            <p:nvPr/>
          </p:nvSpPr>
          <p:spPr>
            <a:xfrm>
              <a:off x="0" y="0"/>
              <a:ext cx="24981109" cy="2741665"/>
            </a:xfrm>
            <a:custGeom>
              <a:avLst/>
              <a:gdLst/>
              <a:ahLst/>
              <a:cxnLst/>
              <a:rect l="l" t="t" r="r" b="b"/>
              <a:pathLst>
                <a:path w="24981109" h="2741665">
                  <a:moveTo>
                    <a:pt x="0" y="0"/>
                  </a:moveTo>
                  <a:lnTo>
                    <a:pt x="24981109" y="0"/>
                  </a:lnTo>
                  <a:lnTo>
                    <a:pt x="24981109" y="2741665"/>
                  </a:lnTo>
                  <a:lnTo>
                    <a:pt x="0" y="2741665"/>
                  </a:lnTo>
                  <a:close/>
                </a:path>
              </a:pathLst>
            </a:custGeom>
            <a:blipFill>
              <a:blip r:embed="rId3"/>
              <a:stretch>
                <a:fillRect t="-2961" b="-2961"/>
              </a:stretch>
            </a:blipFill>
          </p:spPr>
          <p:txBody>
            <a:bodyPr/>
            <a:lstStyle/>
            <a:p>
              <a:endParaRPr lang="en-US"/>
            </a:p>
          </p:txBody>
        </p:sp>
      </p:grpSp>
      <p:sp>
        <p:nvSpPr>
          <p:cNvPr id="7" name="TextBox 7"/>
          <p:cNvSpPr txBox="1"/>
          <p:nvPr/>
        </p:nvSpPr>
        <p:spPr>
          <a:xfrm>
            <a:off x="1028700" y="2185999"/>
            <a:ext cx="15331762" cy="1028700"/>
          </a:xfrm>
          <a:prstGeom prst="rect">
            <a:avLst/>
          </a:prstGeom>
        </p:spPr>
        <p:txBody>
          <a:bodyPr lIns="0" tIns="0" rIns="0" bIns="0" rtlCol="0" anchor="t">
            <a:spAutoFit/>
          </a:bodyPr>
          <a:lstStyle/>
          <a:p>
            <a:pPr algn="l">
              <a:lnSpc>
                <a:spcPts val="3840"/>
              </a:lnSpc>
              <a:spcBef>
                <a:spcPct val="0"/>
              </a:spcBef>
            </a:pPr>
            <a:r>
              <a:rPr lang="en-US" sz="3200">
                <a:solidFill>
                  <a:srgbClr val="000000"/>
                </a:solidFill>
                <a:latin typeface="Calibri (MS)"/>
                <a:ea typeface="Calibri (MS)"/>
                <a:cs typeface="Calibri (MS)"/>
                <a:sym typeface="Calibri (MS)"/>
              </a:rPr>
              <a:t>Mô hình SVM cho thấy hiệu suất mạnh mẽ và ổn định nhất, đạt điểm ROC AUC và F1 Score cao nhất trên tập Validation, xác nhận là lựa chọn tối ưu cho việc dự đoán.</a:t>
            </a:r>
          </a:p>
        </p:txBody>
      </p:sp>
      <p:sp>
        <p:nvSpPr>
          <p:cNvPr id="8" name="TextBox 8"/>
          <p:cNvSpPr txBox="1"/>
          <p:nvPr/>
        </p:nvSpPr>
        <p:spPr>
          <a:xfrm>
            <a:off x="1028700" y="3203654"/>
            <a:ext cx="15436637" cy="1441977"/>
          </a:xfrm>
          <a:prstGeom prst="rect">
            <a:avLst/>
          </a:prstGeom>
        </p:spPr>
        <p:txBody>
          <a:bodyPr lIns="0" tIns="0" rIns="0" bIns="0" rtlCol="0" anchor="t">
            <a:spAutoFit/>
          </a:bodyPr>
          <a:lstStyle/>
          <a:p>
            <a:pPr algn="l">
              <a:lnSpc>
                <a:spcPts val="5760"/>
              </a:lnSpc>
              <a:spcBef>
                <a:spcPct val="0"/>
              </a:spcBef>
            </a:pPr>
            <a:r>
              <a:rPr lang="en-US" sz="3200">
                <a:solidFill>
                  <a:srgbClr val="000000"/>
                </a:solidFill>
                <a:latin typeface="Calibri (MS)"/>
                <a:ea typeface="Calibri (MS)"/>
                <a:cs typeface="Calibri (MS)"/>
                <a:sym typeface="Calibri (MS)"/>
              </a:rPr>
              <a:t>Quá trình của xử lý và tạo các đặc trưng đóng vai trò quan trọng, giúp mã hóa các quy tắc sống còn của thảm họa thành các yếu tố dự đoán rõ ràng.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a:grpSpLocks noChangeAspect="1"/>
          </p:cNvGrpSpPr>
          <p:nvPr/>
        </p:nvGrpSpPr>
        <p:grpSpPr>
          <a:xfrm>
            <a:off x="5254372" y="0"/>
            <a:ext cx="13033626" cy="9198592"/>
            <a:chOff x="0" y="0"/>
            <a:chExt cx="17378168" cy="12264789"/>
          </a:xfrm>
        </p:grpSpPr>
        <p:sp>
          <p:nvSpPr>
            <p:cNvPr id="5" name="Freeform 5"/>
            <p:cNvSpPr/>
            <p:nvPr/>
          </p:nvSpPr>
          <p:spPr>
            <a:xfrm>
              <a:off x="0" y="0"/>
              <a:ext cx="17378172" cy="12264771"/>
            </a:xfrm>
            <a:custGeom>
              <a:avLst/>
              <a:gdLst/>
              <a:ahLst/>
              <a:cxnLst/>
              <a:rect l="l" t="t" r="r" b="b"/>
              <a:pathLst>
                <a:path w="17378172" h="12264771">
                  <a:moveTo>
                    <a:pt x="0" y="0"/>
                  </a:moveTo>
                  <a:lnTo>
                    <a:pt x="17378172" y="0"/>
                  </a:lnTo>
                  <a:lnTo>
                    <a:pt x="17378172" y="12264771"/>
                  </a:lnTo>
                  <a:lnTo>
                    <a:pt x="0" y="12264771"/>
                  </a:lnTo>
                  <a:lnTo>
                    <a:pt x="0" y="0"/>
                  </a:lnTo>
                  <a:close/>
                </a:path>
              </a:pathLst>
            </a:custGeom>
            <a:blipFill>
              <a:blip r:embed="rId3"/>
              <a:stretch>
                <a:fillRect l="-25467"/>
              </a:stretch>
            </a:blipFill>
          </p:spPr>
          <p:txBody>
            <a:bodyPr/>
            <a:lstStyle/>
            <a:p>
              <a:endParaRPr lang="en-US"/>
            </a:p>
          </p:txBody>
        </p:sp>
      </p:grpSp>
      <p:sp>
        <p:nvSpPr>
          <p:cNvPr id="6" name="TextBox 6"/>
          <p:cNvSpPr txBox="1"/>
          <p:nvPr/>
        </p:nvSpPr>
        <p:spPr>
          <a:xfrm>
            <a:off x="1271568" y="4071620"/>
            <a:ext cx="6986360" cy="1754516"/>
          </a:xfrm>
          <a:prstGeom prst="rect">
            <a:avLst/>
          </a:prstGeom>
        </p:spPr>
        <p:txBody>
          <a:bodyPr lIns="0" tIns="0" rIns="0" bIns="0" rtlCol="0" anchor="t">
            <a:spAutoFit/>
          </a:bodyPr>
          <a:lstStyle/>
          <a:p>
            <a:pPr algn="l">
              <a:lnSpc>
                <a:spcPts val="13259"/>
              </a:lnSpc>
            </a:pPr>
            <a:r>
              <a:rPr lang="en-US" sz="8499" b="1">
                <a:solidFill>
                  <a:srgbClr val="000000"/>
                </a:solidFill>
                <a:latin typeface="Calibri (MS) Bold"/>
                <a:ea typeface="Calibri (MS) Bold"/>
                <a:cs typeface="Calibri (MS) Bold"/>
                <a:sym typeface="Calibri (MS) Bold"/>
              </a:rPr>
              <a:t>THANK YOU</a:t>
            </a:r>
          </a:p>
        </p:txBody>
      </p:sp>
      <p:grpSp>
        <p:nvGrpSpPr>
          <p:cNvPr id="7" name="Group 7"/>
          <p:cNvGrpSpPr/>
          <p:nvPr/>
        </p:nvGrpSpPr>
        <p:grpSpPr>
          <a:xfrm>
            <a:off x="1398926" y="5926854"/>
            <a:ext cx="795726" cy="25400"/>
            <a:chOff x="0" y="0"/>
            <a:chExt cx="1060968" cy="33867"/>
          </a:xfrm>
        </p:grpSpPr>
        <p:sp>
          <p:nvSpPr>
            <p:cNvPr id="8" name="Freeform 8"/>
            <p:cNvSpPr/>
            <p:nvPr/>
          </p:nvSpPr>
          <p:spPr>
            <a:xfrm>
              <a:off x="16891" y="0"/>
              <a:ext cx="1027176" cy="33909"/>
            </a:xfrm>
            <a:custGeom>
              <a:avLst/>
              <a:gdLst/>
              <a:ahLst/>
              <a:cxnLst/>
              <a:rect l="l" t="t" r="r" b="b"/>
              <a:pathLst>
                <a:path w="1027176" h="33909">
                  <a:moveTo>
                    <a:pt x="0" y="0"/>
                  </a:moveTo>
                  <a:lnTo>
                    <a:pt x="1027176" y="0"/>
                  </a:lnTo>
                  <a:lnTo>
                    <a:pt x="1027176" y="33909"/>
                  </a:lnTo>
                  <a:lnTo>
                    <a:pt x="0" y="33909"/>
                  </a:lnTo>
                  <a:close/>
                </a:path>
              </a:pathLst>
            </a:custGeom>
            <a:solidFill>
              <a:srgbClr val="000000"/>
            </a:solidFill>
          </p:spPr>
          <p:txBody>
            <a:bodyPr/>
            <a:lstStyle/>
            <a:p>
              <a:endParaRPr lang="en-US"/>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2119</Words>
  <Application>Microsoft Office PowerPoint</Application>
  <PresentationFormat>Custom</PresentationFormat>
  <Paragraphs>211</Paragraphs>
  <Slides>34</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3" baseType="lpstr">
      <vt:lpstr>Public Sans</vt:lpstr>
      <vt:lpstr>Calibri (MS)</vt:lpstr>
      <vt:lpstr>Public Sans Italics</vt:lpstr>
      <vt:lpstr>Calibri (MS) Bold</vt:lpstr>
      <vt:lpstr>Arial</vt:lpstr>
      <vt:lpstr>Public Sans Bold</vt:lpstr>
      <vt:lpstr>Calibri</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titanic - slide</dc:title>
  <cp:lastModifiedBy>Lê Đoàn Kim Ngân</cp:lastModifiedBy>
  <cp:revision>2</cp:revision>
  <dcterms:created xsi:type="dcterms:W3CDTF">2006-08-16T00:00:00Z</dcterms:created>
  <dcterms:modified xsi:type="dcterms:W3CDTF">2025-10-30T16:31:09Z</dcterms:modified>
  <dc:identifier>DAG1Tc45EU0</dc:identifier>
</cp:coreProperties>
</file>